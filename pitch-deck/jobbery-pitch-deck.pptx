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136e83f2-f6ce-5e3b-5cb8-29ab6c8e0338}">
          <p14:sldIdLst>
            <p14:sldId id="256"/>
          </p14:sldIdLst>
        </p14:section>
        <p14:section name="Problem" id="{61a463d8-993f-d227-7ce9-69316fe32073}">
          <p14:sldIdLst>
            <p14:sldId id="257"/>
            <p14:sldId id="258"/>
          </p14:sldIdLst>
        </p14:section>
        <p14:section name="Solution" id="{d426133b-738d-1de6-7561-b1c82dd088ab}">
          <p14:sldIdLst>
            <p14:sldId id="259"/>
            <p14:sldId id="260"/>
            <p14:sldId id="261"/>
          </p14:sldIdLst>
        </p14:section>
        <p14:section name="Build and trust" id="{d852fb80-2001-8925-6ea9-02b4b1b5d3cf}">
          <p14:sldIdLst>
            <p14:sldId id="262"/>
            <p14:sldId id="263"/>
            <p14:sldId id="264"/>
            <p14:sldId id="265"/>
          </p14:sldIdLst>
        </p14:section>
        <p14:section name="Close" id="{97d63c82-7f8e-d5c4-08d1-baee79c99117}">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Clerical share of online job ads (%)</c:v>
                </c:pt>
              </c:strCache>
            </c:strRef>
          </c:tx>
          <c:spPr>
            <a:solidFill>
              <a:srgbClr val="305D40"/>
            </a:solidFill>
            <a:ln w="38100" cap="flat">
              <a:solidFill>
                <a:srgbClr val="305D4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05D40"/>
              </a:solidFill>
              <a:ln w="9525" cap="flat">
                <a:solidFill>
                  <a:srgbClr val="305D40"/>
                </a:solidFill>
                <a:prstDash val="solid"/>
                <a:round/>
              </a:ln>
              <a:effectLst/>
            </c:spPr>
          </c:marker>
          <c:cat>
            <c:multiLvlStrRef>
              <c:f>Sheet1!$A$2:$A$18</c:f>
              <c:multiLvlStrCache>
                <c:ptCount val="17"/>
                <c:lvl>
                  <c:pt idx="0">
                    <c:v>2022Q2</c:v>
                  </c:pt>
                  <c:pt idx="1">
                    <c:v>2022Q3</c:v>
                  </c:pt>
                  <c:pt idx="2">
                    <c:v>2022Q4</c:v>
                  </c:pt>
                  <c:pt idx="3">
                    <c:v>2023Q1</c:v>
                  </c:pt>
                  <c:pt idx="4">
                    <c:v>2023Q2</c:v>
                  </c:pt>
                  <c:pt idx="5">
                    <c:v>2023Q3</c:v>
                  </c:pt>
                  <c:pt idx="6">
                    <c:v>2023Q4</c:v>
                  </c:pt>
                  <c:pt idx="7">
                    <c:v>2024Q1</c:v>
                  </c:pt>
                  <c:pt idx="8">
                    <c:v>2024Q2</c:v>
                  </c:pt>
                  <c:pt idx="9">
                    <c:v>2024Q3</c:v>
                  </c:pt>
                  <c:pt idx="10">
                    <c:v>2024Q4</c:v>
                  </c:pt>
                  <c:pt idx="11">
                    <c:v>2025Q1</c:v>
                  </c:pt>
                  <c:pt idx="12">
                    <c:v>2025Q2</c:v>
                  </c:pt>
                  <c:pt idx="13">
                    <c:v>2025Q3</c:v>
                  </c:pt>
                  <c:pt idx="14">
                    <c:v>2025Q4</c:v>
                  </c:pt>
                  <c:pt idx="15">
                    <c:v>2026Q1</c:v>
                  </c:pt>
                  <c:pt idx="16">
                    <c:v>2026Q2</c:v>
                  </c:pt>
                </c:lvl>
              </c:multiLvlStrCache>
            </c:multiLvlStrRef>
          </c:cat>
          <c:val>
            <c:numRef>
              <c:f>Sheet1!$B$2:$B$18</c:f>
              <c:numCache>
                <c:formatCode>General</c:formatCode>
                <c:ptCount val="17"/>
                <c:pt idx="0">
                  <c:v>9.93</c:v>
                </c:pt>
                <c:pt idx="1">
                  <c:v>8.642</c:v>
                </c:pt>
                <c:pt idx="2">
                  <c:v>8.101</c:v>
                </c:pt>
                <c:pt idx="3">
                  <c:v>8.678</c:v>
                </c:pt>
                <c:pt idx="4">
                  <c:v>6.846</c:v>
                </c:pt>
                <c:pt idx="5">
                  <c:v>6.443</c:v>
                </c:pt>
                <c:pt idx="6">
                  <c:v>5.279</c:v>
                </c:pt>
                <c:pt idx="7">
                  <c:v>7.347</c:v>
                </c:pt>
                <c:pt idx="8">
                  <c:v>7.57</c:v>
                </c:pt>
                <c:pt idx="9">
                  <c:v>7.342</c:v>
                </c:pt>
                <c:pt idx="10">
                  <c:v>6.596</c:v>
                </c:pt>
                <c:pt idx="11">
                  <c:v>6.639</c:v>
                </c:pt>
                <c:pt idx="12">
                  <c:v>5.353</c:v>
                </c:pt>
                <c:pt idx="13">
                  <c:v>7.256</c:v>
                </c:pt>
                <c:pt idx="14">
                  <c:v>8.453</c:v>
                </c:pt>
                <c:pt idx="15">
                  <c:v>7.782</c:v>
                </c:pt>
                <c:pt idx="16">
                  <c:v>7.274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5"/>
          <c:min val="4.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slaynergy, and this is Jobbery: a deadline-based job plan for office workers whose jobs AI is replacing.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a 27-year-old bank clerk, laid off in November, with three to six months of allowance. In Malaysia, clerical roles were almost ten percent of online job ads in 2022. They are 7.3 percent now. And Anthropic’s Economic Index finds 43 percent of a general office clerk’s tasks already show up in real AI use. Career tools tell her what to do, but with no dates, no sources, and no track record. That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users. The worker, who needs to know which skills expire and what to learn each week. And the advisor, who meets each worker once and sees their profile and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You: scan a résumé or answer eight questions. Skills: every skill gets an expiry date under slow, medium and fast AI. Jobs: eighty-nine roles, ranked by what you can reach before your deadline. Plan: week by week, with free courses and an advisor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it different is the prediction market. Nobody knows how fast AI will move, so we run three futures and let forecasts set the odds. Each question settles against a real public release, like DOSM’s on 17 November. About two hundred simulated forecasters, clearly labelled, built track records by replaying sixty-six real past releases. A hash log, not a blockchain, keeps the record tamper-evident. And this is not a chatbot: no AI model runs inside Jobbery.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must-haves, each on a named screen: intake on You, the trend layer on Trends and Sources, matching on Jobs, the pathway on Plan, SDG goals four, eight and ten on Goals, and the scenarios on Futures.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source is dated and replaceable. Drop in the next DOSM workbook, run one command, and expiry dates, rankings and plans recompute.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on Replit, a TypeScript engine with a view, a tape and the market, and a pipeline from raw releases to dated snapshots. Eighty-one tests pass, all open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stay in control. Jobbery ranks and explains, but you choose. An advisor can be booked any time, and nothing waits for approval. Résumés are never stored. And a test checks that age and gender never change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risk: official data is rare. So we replay sixty-six real past releases, and we label our simulated forecasters everywhere. And we are honest: in replay the market only just beats a coin flip, so it re-weights the futures and never replaces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Clerks reskill inside their allowance window, and advisors spend meetings on advice. We will measure plans finished before the deadline and time to first interview. It maps to SDGs four, eight and ten, in four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final round, real forecasters replace the simulated ones, and we add the other nine sectors. We are team slaynergy. Help us put Jobbery in front of real laid-off workers. Now,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905" y="502920"/>
            <a:ext cx="10972800" cy="914400"/>
          </a:xfrm>
          <a:prstGeom prst="rect">
            <a:avLst/>
          </a:prstGeom>
          <a:noFill/>
          <a:ln/>
        </p:spPr>
        <p:txBody>
          <a:bodyPr wrap="square" rtlCol="0"/>
          <a:lstStyle>
            <a:lvl1pPr algn="l" indent="0" marL="0">
              <a:buNone/>
              <a:defRPr lang="en-US" sz="3600"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905" y="502920"/>
            <a:ext cx="10972800" cy="914400"/>
          </a:xfrm>
          <a:prstGeom prst="rect">
            <a:avLst/>
          </a:prstGeom>
          <a:noFill/>
          <a:ln/>
        </p:spPr>
        <p:txBody>
          <a:bodyPr wrap="square" rtlCol="0"/>
          <a:lstStyle>
            <a:lvl1pPr algn="l" indent="0" marL="0">
              <a:buNone/>
              <a:defRPr lang="en-US" sz="3600"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INT_DEEP">
    <p:bg>
      <p:bgPr>
        <a:solidFill>
          <a:schemeClr val="accent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905" y="502920"/>
            <a:ext cx="10972800" cy="914400"/>
          </a:xfrm>
          <a:prstGeom prst="rect">
            <a:avLst/>
          </a:prstGeom>
          <a:noFill/>
          <a:ln/>
        </p:spPr>
        <p:txBody>
          <a:bodyPr wrap="square" rtlCol="0"/>
          <a:lstStyle>
            <a:lvl1pPr algn="l" indent="0" marL="0">
              <a:buNone/>
              <a:defRPr lang="en-US" sz="3600"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905" y="502920"/>
            <a:ext cx="10972800" cy="914400"/>
          </a:xfrm>
          <a:prstGeom prst="rect">
            <a:avLst/>
          </a:prstGeom>
          <a:noFill/>
          <a:ln/>
        </p:spPr>
        <p:txBody>
          <a:bodyPr wrap="square" rtlCol="0"/>
          <a:lstStyle>
            <a:lvl1pPr algn="l" indent="0" marL="0">
              <a:buNone/>
              <a:defRPr lang="en-US" sz="3600"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905" y="1417320"/>
            <a:ext cx="6583680" cy="2103120"/>
          </a:xfrm>
          <a:prstGeom prst="rect">
            <a:avLst/>
          </a:prstGeom>
          <a:noFill/>
          <a:ln/>
        </p:spPr>
        <p:txBody>
          <a:bodyPr wrap="square" rtlCol="0"/>
          <a:lstStyle>
            <a:lvl1pPr algn="l" indent="0" marL="0">
              <a:buNone/>
              <a:defRPr lang="en-US" sz="11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1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yabgzichien/SDCHack-slaynergy"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yabgzichien/SDCHack-slaynergy" TargetMode="External"/><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609905" y="1417320"/>
            <a:ext cx="6583680" cy="2103120"/>
          </a:xfrm>
          <a:prstGeom prst="rect">
            <a:avLst/>
          </a:prstGeom>
          <a:noFill/>
          <a:ln/>
        </p:spPr>
        <p:txBody>
          <a:bodyPr wrap="square" lIns="0" tIns="0" rIns="0" bIns="0" rtlCol="0" anchor="ctr"/>
          <a:lstStyle/>
          <a:p>
            <a:pPr algn="l" indent="0" marL="0">
              <a:buNone/>
            </a:pPr>
            <a:r>
              <a:rPr lang="en-US" sz="11000" b="1" dirty="0">
                <a:solidFill>
                  <a:schemeClr val="bg1"/>
                </a:solidFill>
                <a:latin typeface="Cambria" pitchFamily="34" charset="0"/>
                <a:ea typeface="Cambria" pitchFamily="34" charset="-122"/>
                <a:cs typeface="Cambria" pitchFamily="34" charset="-120"/>
              </a:rPr>
              <a:t>Jobbery</a:t>
            </a:r>
            <a:endParaRPr lang="en-US" sz="11000" dirty="0"/>
          </a:p>
        </p:txBody>
      </p:sp>
      <p:sp>
        <p:nvSpPr>
          <p:cNvPr id="4" name="Tagline"/>
          <p:cNvSpPr txBox="1"/>
          <p:nvPr/>
        </p:nvSpPr>
        <p:spPr>
          <a:xfrm>
            <a:off x="609905" y="3657600"/>
            <a:ext cx="6309360" cy="914400"/>
          </a:xfrm>
          <a:prstGeom prst="rect">
            <a:avLst/>
          </a:prstGeom>
          <a:noFill/>
          <a:ln/>
        </p:spPr>
        <p:txBody>
          <a:bodyPr wrap="square" lIns="0" tIns="0" rIns="0" bIns="0" rtlCol="0" anchor="t"/>
          <a:lstStyle/>
          <a:p>
            <a:pPr indent="0" marL="0">
              <a:buNone/>
            </a:pPr>
            <a:r>
              <a:rPr lang="en-US" sz="2600" dirty="0">
                <a:solidFill>
                  <a:schemeClr val="bg1"/>
                </a:solidFill>
                <a:latin typeface="Calibri" pitchFamily="34" charset="0"/>
                <a:ea typeface="Calibri" pitchFamily="34" charset="-122"/>
                <a:cs typeface="Calibri" pitchFamily="34" charset="-120"/>
              </a:rPr>
              <a:t>A deadline-based job plan for office workers whose jobs AI is replacing</a:t>
            </a:r>
            <a:endParaRPr lang="en-US" sz="2600" dirty="0"/>
          </a:p>
        </p:txBody>
      </p:sp>
      <p:sp>
        <p:nvSpPr>
          <p:cNvPr id="5" name="Domain pill shape"/>
          <p:cNvSpPr/>
          <p:nvPr/>
        </p:nvSpPr>
        <p:spPr>
          <a:xfrm>
            <a:off x="609905" y="4846320"/>
            <a:ext cx="4846320" cy="457200"/>
          </a:xfrm>
          <a:prstGeom prst="roundRect">
            <a:avLst>
              <a:gd name="adj" fmla="val 50000"/>
            </a:avLst>
          </a:prstGeom>
          <a:solidFill>
            <a:schemeClr val="accent2"/>
          </a:solidFill>
          <a:ln/>
        </p:spPr>
      </p:sp>
      <p:sp>
        <p:nvSpPr>
          <p:cNvPr id="6" name="Domain pill"/>
          <p:cNvSpPr txBox="1"/>
          <p:nvPr/>
        </p:nvSpPr>
        <p:spPr>
          <a:xfrm>
            <a:off x="609905" y="4846320"/>
            <a:ext cx="4846320" cy="45720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Domain 1: Aiversecity Future-Ready Workforce</a:t>
            </a:r>
            <a:endParaRPr lang="en-US" sz="1500" dirty="0"/>
          </a:p>
        </p:txBody>
      </p:sp>
      <p:sp>
        <p:nvSpPr>
          <p:cNvPr id="7" name="Team line"/>
          <p:cNvSpPr txBox="1"/>
          <p:nvPr/>
        </p:nvSpPr>
        <p:spPr>
          <a:xfrm>
            <a:off x="609905" y="5532120"/>
            <a:ext cx="6309360" cy="365760"/>
          </a:xfrm>
          <a:prstGeom prst="rect">
            <a:avLst/>
          </a:prstGeom>
          <a:noFill/>
          <a:ln/>
        </p:spPr>
        <p:txBody>
          <a:bodyPr wrap="square" lIns="0" tIns="0" rIns="0" bIns="0" rtlCol="0" anchor="ctr"/>
          <a:lstStyle/>
          <a:p>
            <a:pPr indent="0" marL="0">
              <a:buNone/>
            </a:pPr>
            <a:r>
              <a:rPr lang="en-US" sz="1600" dirty="0">
                <a:solidFill>
                  <a:schemeClr val="accent4"/>
                </a:solidFill>
                <a:latin typeface="Calibri" pitchFamily="34" charset="0"/>
                <a:ea typeface="Calibri" pitchFamily="34" charset="-122"/>
                <a:cs typeface="Calibri" pitchFamily="34" charset="-120"/>
              </a:rPr>
              <a:t>Team #slaynergy  ·  SDC Hackathon 2026</a:t>
            </a:r>
            <a:endParaRPr lang="en-US" sz="1600" dirty="0"/>
          </a:p>
        </p:txBody>
      </p:sp>
      <p:sp>
        <p:nvSpPr>
          <p:cNvPr id="8" name="Art panel"/>
          <p:cNvSpPr/>
          <p:nvPr/>
        </p:nvSpPr>
        <p:spPr>
          <a:xfrm>
            <a:off x="7315200" y="0"/>
            <a:ext cx="4876495" cy="6858000"/>
          </a:xfrm>
          <a:prstGeom prst="rect">
            <a:avLst/>
          </a:prstGeom>
          <a:solidFill>
            <a:schemeClr val="accent4"/>
          </a:solidFill>
          <a:ln/>
        </p:spPr>
      </p:sp>
      <p:sp>
        <p:nvSpPr>
          <p:cNvPr id="9" name="Art hill"/>
          <p:cNvSpPr/>
          <p:nvPr/>
        </p:nvSpPr>
        <p:spPr>
          <a:xfrm>
            <a:off x="7726680" y="2651760"/>
            <a:ext cx="4206240" cy="4206240"/>
          </a:xfrm>
          <a:prstGeom prst="ellipse">
            <a:avLst/>
          </a:prstGeom>
          <a:solidFill>
            <a:srgbClr val="9BCB95"/>
          </a:solidFill>
          <a:ln/>
        </p:spPr>
      </p:sp>
      <p:sp>
        <p:nvSpPr>
          <p:cNvPr id="10" name="Art arch"/>
          <p:cNvSpPr/>
          <p:nvPr/>
        </p:nvSpPr>
        <p:spPr>
          <a:xfrm>
            <a:off x="8183880" y="731520"/>
            <a:ext cx="3291840" cy="3291840"/>
          </a:xfrm>
          <a:prstGeom prst="ellipse">
            <a:avLst/>
          </a:prstGeom>
          <a:solidFill>
            <a:schemeClr val="bg2"/>
          </a:solidFill>
          <a:ln/>
        </p:spPr>
      </p:sp>
      <p:sp>
        <p:nvSpPr>
          <p:cNvPr id="11" name="Art sun"/>
          <p:cNvSpPr/>
          <p:nvPr/>
        </p:nvSpPr>
        <p:spPr>
          <a:xfrm>
            <a:off x="10835640" y="502920"/>
            <a:ext cx="822960" cy="822960"/>
          </a:xfrm>
          <a:prstGeom prst="ellipse">
            <a:avLst/>
          </a:prstGeom>
          <a:solidFill>
            <a:schemeClr val="accent2"/>
          </a:solidFill>
          <a:ln/>
        </p:spPr>
      </p:sp>
      <p:sp>
        <p:nvSpPr>
          <p:cNvPr id="12" name="Art block 1"/>
          <p:cNvSpPr/>
          <p:nvPr/>
        </p:nvSpPr>
        <p:spPr>
          <a:xfrm>
            <a:off x="10058400" y="5852160"/>
            <a:ext cx="457200" cy="1005840"/>
          </a:xfrm>
          <a:prstGeom prst="rect">
            <a:avLst/>
          </a:prstGeom>
          <a:solidFill>
            <a:schemeClr val="accent3"/>
          </a:solidFill>
          <a:ln/>
        </p:spPr>
      </p:sp>
      <p:sp>
        <p:nvSpPr>
          <p:cNvPr id="13" name="Art block 2"/>
          <p:cNvSpPr/>
          <p:nvPr/>
        </p:nvSpPr>
        <p:spPr>
          <a:xfrm>
            <a:off x="10625328" y="5303520"/>
            <a:ext cx="457200" cy="1554480"/>
          </a:xfrm>
          <a:prstGeom prst="rect">
            <a:avLst/>
          </a:prstGeom>
          <a:solidFill>
            <a:schemeClr val="accent3"/>
          </a:solidFill>
          <a:ln/>
        </p:spPr>
      </p:sp>
      <p:sp>
        <p:nvSpPr>
          <p:cNvPr id="14" name="Art block 3"/>
          <p:cNvSpPr/>
          <p:nvPr/>
        </p:nvSpPr>
        <p:spPr>
          <a:xfrm>
            <a:off x="11192256" y="4663440"/>
            <a:ext cx="457200" cy="2194560"/>
          </a:xfrm>
          <a:prstGeom prst="rect">
            <a:avLst/>
          </a:prstGeom>
          <a:solidFill>
            <a:schemeClr val="accent3"/>
          </a:solidFill>
          <a:ln/>
        </p:spPr>
      </p:sp>
      <p:sp>
        <p:nvSpPr>
          <p:cNvPr id="15" name="Art block 4"/>
          <p:cNvSpPr/>
          <p:nvPr/>
        </p:nvSpPr>
        <p:spPr>
          <a:xfrm>
            <a:off x="11759184" y="5577840"/>
            <a:ext cx="457200" cy="1280160"/>
          </a:xfrm>
          <a:prstGeom prst="rect">
            <a:avLst/>
          </a:prstGeom>
          <a:solidFill>
            <a:schemeClr val="accent3"/>
          </a:solidFill>
          <a:ln/>
        </p:spPr>
      </p:sp>
      <p:pic>
        <p:nvPicPr>
          <p:cNvPr id="16" name="Mascot, welcoming" descr="Jobbery's cockatiel mascot with open wings">    </p:cNvPr>
          <p:cNvPicPr>
            <a:picLocks noChangeAspect="1"/>
          </p:cNvPicPr>
          <p:nvPr/>
        </p:nvPicPr>
        <p:blipFill>
          <a:blip r:embed="rId1"/>
          <a:stretch>
            <a:fillRect/>
          </a:stretch>
        </p:blipFill>
        <p:spPr>
          <a:xfrm>
            <a:off x="7726680" y="1691640"/>
            <a:ext cx="3931920" cy="3931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tx1"/>
                </a:solidFill>
                <a:latin typeface="Cambria" pitchFamily="34" charset="0"/>
                <a:ea typeface="Cambria" pitchFamily="34" charset="-122"/>
                <a:cs typeface="Cambria" pitchFamily="34" charset="-120"/>
              </a:rPr>
              <a:t>Clerical jobs are slipping, and no one tells</a:t>
            </a:r>
            <a:endParaRPr lang="en-US" sz="3600" dirty="0"/>
          </a:p>
          <a:p>
            <a:pPr algn="l" indent="0" marL="0">
              <a:buNone/>
            </a:pPr>
            <a:r>
              <a:rPr lang="en-US" sz="3600" dirty="0">
                <a:solidFill>
                  <a:schemeClr val="tx1"/>
                </a:solidFill>
                <a:latin typeface="Cambria" pitchFamily="34" charset="0"/>
                <a:ea typeface="Cambria" pitchFamily="34" charset="-122"/>
                <a:cs typeface="Cambria" pitchFamily="34" charset="-120"/>
              </a:rPr>
              <a:t>a laid-off clerk by when</a:t>
            </a:r>
            <a:endParaRPr lang="en-US" sz="3600" dirty="0"/>
          </a:p>
        </p:txBody>
      </p:sp>
      <p:sp>
        <p:nvSpPr>
          <p:cNvPr id="4" name="DOSM card"/>
          <p:cNvSpPr/>
          <p:nvPr/>
        </p:nvSpPr>
        <p:spPr>
          <a:xfrm>
            <a:off x="609905" y="1920240"/>
            <a:ext cx="3535680" cy="3200400"/>
          </a:xfrm>
          <a:prstGeom prst="roundRect">
            <a:avLst>
              <a:gd name="adj" fmla="val 8000"/>
            </a:avLst>
          </a:prstGeom>
          <a:solidFill>
            <a:schemeClr val="bg2"/>
          </a:solidFill>
          <a:ln/>
        </p:spPr>
      </p:sp>
      <p:sp>
        <p:nvSpPr>
          <p:cNvPr id="5" name="DOSM label"/>
          <p:cNvSpPr txBox="1"/>
          <p:nvPr/>
        </p:nvSpPr>
        <p:spPr>
          <a:xfrm>
            <a:off x="884225" y="2148840"/>
            <a:ext cx="298704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Clerical roles, as a share of Malaysia’s online job ads</a:t>
            </a:r>
            <a:endParaRPr lang="en-US" sz="1400" dirty="0"/>
          </a:p>
        </p:txBody>
      </p:sp>
      <p:sp>
        <p:nvSpPr>
          <p:cNvPr id="6" name="DOSM figure"/>
          <p:cNvSpPr txBox="1"/>
          <p:nvPr/>
        </p:nvSpPr>
        <p:spPr>
          <a:xfrm>
            <a:off x="884225" y="2697480"/>
            <a:ext cx="2987040" cy="685800"/>
          </a:xfrm>
          <a:prstGeom prst="rect">
            <a:avLst/>
          </a:prstGeom>
          <a:noFill/>
          <a:ln/>
        </p:spPr>
        <p:txBody>
          <a:bodyPr wrap="square" lIns="0" tIns="0" rIns="0" bIns="0" rtlCol="0" anchor="ctr"/>
          <a:lstStyle/>
          <a:p>
            <a:pPr indent="0" marL="0">
              <a:buNone/>
            </a:pPr>
            <a:r>
              <a:rPr lang="en-US" sz="4000" dirty="0">
                <a:solidFill>
                  <a:schemeClr val="tx1"/>
                </a:solidFill>
                <a:latin typeface="Cambria" pitchFamily="34" charset="0"/>
                <a:ea typeface="Cambria" pitchFamily="34" charset="-122"/>
                <a:cs typeface="Cambria" pitchFamily="34" charset="-120"/>
              </a:rPr>
              <a:t>9.9</a:t>
            </a:r>
            <a:pPr indent="0" marL="0">
              <a:buNone/>
            </a:pPr>
            <a:r>
              <a:rPr lang="en-US" sz="2200" dirty="0">
                <a:solidFill>
                  <a:schemeClr val="tx1"/>
                </a:solidFill>
                <a:latin typeface="Cambria" pitchFamily="34" charset="0"/>
                <a:ea typeface="Cambria" pitchFamily="34" charset="-122"/>
                <a:cs typeface="Cambria" pitchFamily="34" charset="-120"/>
              </a:rPr>
              <a:t>%</a:t>
            </a:r>
            <a:pPr indent="0" marL="0">
              <a:buNone/>
            </a:pPr>
            <a:r>
              <a:rPr lang="en-US" sz="2200" dirty="0">
                <a:solidFill>
                  <a:schemeClr val="tx1"/>
                </a:solidFill>
                <a:latin typeface="Cambria" pitchFamily="34" charset="0"/>
                <a:ea typeface="Cambria" pitchFamily="34" charset="-122"/>
                <a:cs typeface="Cambria" pitchFamily="34" charset="-120"/>
              </a:rPr>
              <a:t>  →  </a:t>
            </a:r>
            <a:pPr indent="0" marL="0">
              <a:buNone/>
            </a:pPr>
            <a:r>
              <a:rPr lang="en-US" sz="4000" dirty="0">
                <a:solidFill>
                  <a:schemeClr val="tx1"/>
                </a:solidFill>
                <a:latin typeface="Cambria" pitchFamily="34" charset="0"/>
                <a:ea typeface="Cambria" pitchFamily="34" charset="-122"/>
                <a:cs typeface="Cambria" pitchFamily="34" charset="-120"/>
              </a:rPr>
              <a:t>7.3</a:t>
            </a:r>
            <a:pPr indent="0" marL="0">
              <a:buNone/>
            </a:pPr>
            <a:r>
              <a:rPr lang="en-US" sz="2200" dirty="0">
                <a:solidFill>
                  <a:schemeClr val="tx1"/>
                </a:solidFill>
                <a:latin typeface="Cambria" pitchFamily="34" charset="0"/>
                <a:ea typeface="Cambria" pitchFamily="34" charset="-122"/>
                <a:cs typeface="Cambria" pitchFamily="34" charset="-120"/>
              </a:rPr>
              <a:t>%</a:t>
            </a:r>
            <a:endParaRPr lang="en-US" sz="4000" dirty="0"/>
          </a:p>
        </p:txBody>
      </p:sp>
      <p:graphicFrame>
        <p:nvGraphicFramePr>
          <p:cNvPr id="7" name="Clerical share chart" descr="Line chart: clerical share of Malaysian online job ads by quarter, 2022 Q2 to 2026 Q2"/>
          <p:cNvGraphicFramePr/>
          <p:nvPr/>
        </p:nvGraphicFramePr>
        <p:xfrm>
          <a:off x="792785" y="3429000"/>
          <a:ext cx="3169920" cy="914400"/>
        </p:xfrm>
        <a:graphic xmlns:a="http://schemas.openxmlformats.org/drawingml/2006/main">
          <a:graphicData uri="http://schemas.openxmlformats.org/drawingml/2006/chart">
            <c:chart xmlns:c="http://schemas.openxmlformats.org/drawingml/2006/chart" r:id="rId1"/>
          </a:graphicData>
        </a:graphic>
      </p:graphicFrame>
      <p:sp>
        <p:nvSpPr>
          <p:cNvPr id="8" name="DOSM source"/>
          <p:cNvSpPr txBox="1"/>
          <p:nvPr/>
        </p:nvSpPr>
        <p:spPr>
          <a:xfrm>
            <a:off x="884225" y="4434840"/>
            <a:ext cx="2987040" cy="594360"/>
          </a:xfrm>
          <a:prstGeom prst="rect">
            <a:avLst/>
          </a:prstGeom>
          <a:noFill/>
          <a:ln/>
        </p:spPr>
        <p:txBody>
          <a:bodyPr wrap="square" lIns="0" tIns="0" rIns="0" bIns="0" rtlCol="0" anchor="t"/>
          <a:lstStyle/>
          <a:p>
            <a:pPr indent="0" marL="0">
              <a:buNone/>
            </a:pPr>
            <a:r>
              <a:rPr lang="en-US" sz="1100" dirty="0">
                <a:solidFill>
                  <a:srgbClr val="547451"/>
                </a:solidFill>
                <a:latin typeface="Calibri" pitchFamily="34" charset="0"/>
                <a:ea typeface="Calibri" pitchFamily="34" charset="-122"/>
                <a:cs typeface="Calibri" pitchFamily="34" charset="-120"/>
              </a:rPr>
              <a:t>DOSM Job Market Insights, 2022 Q2 to 2026 Q2 (published 18 Aug 2026). Down 27% from the peak; the quarterly series is noisy.</a:t>
            </a:r>
            <a:endParaRPr lang="en-US" sz="1100" dirty="0"/>
          </a:p>
        </p:txBody>
      </p:sp>
      <p:sp>
        <p:nvSpPr>
          <p:cNvPr id="9" name="AEI card"/>
          <p:cNvSpPr/>
          <p:nvPr/>
        </p:nvSpPr>
        <p:spPr>
          <a:xfrm>
            <a:off x="4328465" y="1920240"/>
            <a:ext cx="3535680" cy="3200400"/>
          </a:xfrm>
          <a:prstGeom prst="roundRect">
            <a:avLst>
              <a:gd name="adj" fmla="val 8000"/>
            </a:avLst>
          </a:prstGeom>
          <a:solidFill>
            <a:schemeClr val="accent4"/>
          </a:solidFill>
          <a:ln/>
        </p:spPr>
      </p:sp>
      <p:sp>
        <p:nvSpPr>
          <p:cNvPr id="10" name="AEI label"/>
          <p:cNvSpPr txBox="1"/>
          <p:nvPr/>
        </p:nvSpPr>
        <p:spPr>
          <a:xfrm>
            <a:off x="4602785" y="2148840"/>
            <a:ext cx="298704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of a general office clerk’s tasks already show up in real AI use</a:t>
            </a:r>
            <a:endParaRPr lang="en-US" sz="1400" dirty="0"/>
          </a:p>
        </p:txBody>
      </p:sp>
      <p:sp>
        <p:nvSpPr>
          <p:cNvPr id="11" name="AEI figure"/>
          <p:cNvSpPr txBox="1"/>
          <p:nvPr/>
        </p:nvSpPr>
        <p:spPr>
          <a:xfrm>
            <a:off x="4602785" y="2697480"/>
            <a:ext cx="2987040" cy="868680"/>
          </a:xfrm>
          <a:prstGeom prst="rect">
            <a:avLst/>
          </a:prstGeom>
          <a:noFill/>
          <a:ln/>
        </p:spPr>
        <p:txBody>
          <a:bodyPr wrap="square" lIns="0" tIns="0" rIns="0" bIns="0" rtlCol="0" anchor="ctr"/>
          <a:lstStyle/>
          <a:p>
            <a:pPr indent="0" marL="0">
              <a:buNone/>
            </a:pPr>
            <a:r>
              <a:rPr lang="en-US" sz="5400" dirty="0">
                <a:solidFill>
                  <a:schemeClr val="tx1"/>
                </a:solidFill>
                <a:latin typeface="Cambria" pitchFamily="34" charset="0"/>
                <a:ea typeface="Cambria" pitchFamily="34" charset="-122"/>
                <a:cs typeface="Cambria" pitchFamily="34" charset="-120"/>
              </a:rPr>
              <a:t>43</a:t>
            </a:r>
            <a:pPr indent="0" marL="0">
              <a:buNone/>
            </a:pPr>
            <a:r>
              <a:rPr lang="en-US" sz="2800" dirty="0">
                <a:solidFill>
                  <a:schemeClr val="tx1"/>
                </a:solidFill>
                <a:latin typeface="Cambria" pitchFamily="34" charset="0"/>
                <a:ea typeface="Cambria" pitchFamily="34" charset="-122"/>
                <a:cs typeface="Cambria" pitchFamily="34" charset="-120"/>
              </a:rPr>
              <a:t>%</a:t>
            </a:r>
            <a:endParaRPr lang="en-US" sz="5400" dirty="0"/>
          </a:p>
        </p:txBody>
      </p:sp>
      <p:sp>
        <p:nvSpPr>
          <p:cNvPr id="12" name="ILO line"/>
          <p:cNvSpPr txBox="1"/>
          <p:nvPr/>
        </p:nvSpPr>
        <p:spPr>
          <a:xfrm>
            <a:off x="4602785" y="3703320"/>
            <a:ext cx="2987040" cy="6858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ILO puts data entry clerks in its top exposure band (0.70 on a 0 to 1 scale).</a:t>
            </a:r>
            <a:endParaRPr lang="en-US" sz="1500" dirty="0"/>
          </a:p>
        </p:txBody>
      </p:sp>
      <p:sp>
        <p:nvSpPr>
          <p:cNvPr id="13" name="AEI source"/>
          <p:cNvSpPr txBox="1"/>
          <p:nvPr/>
        </p:nvSpPr>
        <p:spPr>
          <a:xfrm>
            <a:off x="4602785" y="4434840"/>
            <a:ext cx="2987040" cy="594360"/>
          </a:xfrm>
          <a:prstGeom prst="rect">
            <a:avLst/>
          </a:prstGeom>
          <a:noFill/>
          <a:ln/>
        </p:spPr>
        <p:txBody>
          <a:bodyPr wrap="square" lIns="0" tIns="0" rIns="0" bIns="0" rtlCol="0" anchor="t"/>
          <a:lstStyle/>
          <a:p>
            <a:pPr indent="0" marL="0">
              <a:buNone/>
            </a:pPr>
            <a:r>
              <a:rPr lang="en-US" sz="1100" dirty="0">
                <a:solidFill>
                  <a:srgbClr val="547451"/>
                </a:solidFill>
                <a:latin typeface="Calibri" pitchFamily="34" charset="0"/>
                <a:ea typeface="Calibri" pitchFamily="34" charset="-122"/>
                <a:cs typeface="Calibri" pitchFamily="34" charset="-120"/>
              </a:rPr>
              <a:t>Anthropic Economic Index, release of 10 Feb 2025 (9 of 21 O*NET tasks). ILO Working Paper 140, 2025 scores.</a:t>
            </a:r>
            <a:endParaRPr lang="en-US" sz="1100" dirty="0"/>
          </a:p>
        </p:txBody>
      </p:sp>
      <p:sp>
        <p:nvSpPr>
          <p:cNvPr id="14" name="People card"/>
          <p:cNvSpPr/>
          <p:nvPr/>
        </p:nvSpPr>
        <p:spPr>
          <a:xfrm>
            <a:off x="8047025" y="1920240"/>
            <a:ext cx="3535680" cy="3200400"/>
          </a:xfrm>
          <a:prstGeom prst="roundRect">
            <a:avLst>
              <a:gd name="adj" fmla="val 8000"/>
            </a:avLst>
          </a:prstGeom>
          <a:solidFill>
            <a:schemeClr val="accent6"/>
          </a:solidFill>
          <a:ln/>
        </p:spPr>
      </p:sp>
      <p:sp>
        <p:nvSpPr>
          <p:cNvPr id="15" name="People label"/>
          <p:cNvSpPr txBox="1"/>
          <p:nvPr/>
        </p:nvSpPr>
        <p:spPr>
          <a:xfrm>
            <a:off x="8321345" y="2148840"/>
            <a:ext cx="2987040" cy="502920"/>
          </a:xfrm>
          <a:prstGeom prst="rect">
            <a:avLst/>
          </a:prstGeom>
          <a:noFill/>
          <a:ln/>
        </p:spPr>
        <p:txBody>
          <a:bodyPr wrap="square" lIns="0" tIns="0" rIns="0" bIns="0" rtlCol="0" anchor="t"/>
          <a:lstStyle/>
          <a:p>
            <a:pPr indent="0" marL="0">
              <a:buNone/>
            </a:pPr>
            <a:r>
              <a:rPr lang="en-US" sz="1400" dirty="0">
                <a:solidFill>
                  <a:srgbClr val="6B3D08"/>
                </a:solidFill>
                <a:latin typeface="Calibri" pitchFamily="34" charset="0"/>
                <a:ea typeface="Calibri" pitchFamily="34" charset="-122"/>
                <a:cs typeface="Calibri" pitchFamily="34" charset="-120"/>
              </a:rPr>
              <a:t>workers had applied for unemployment benefits by mid-July 2026</a:t>
            </a:r>
            <a:endParaRPr lang="en-US" sz="1400" dirty="0"/>
          </a:p>
        </p:txBody>
      </p:sp>
      <p:sp>
        <p:nvSpPr>
          <p:cNvPr id="16" name="People figure"/>
          <p:cNvSpPr txBox="1"/>
          <p:nvPr/>
        </p:nvSpPr>
        <p:spPr>
          <a:xfrm>
            <a:off x="8321345" y="2697480"/>
            <a:ext cx="2987040" cy="868680"/>
          </a:xfrm>
          <a:prstGeom prst="rect">
            <a:avLst/>
          </a:prstGeom>
          <a:noFill/>
          <a:ln/>
        </p:spPr>
        <p:txBody>
          <a:bodyPr wrap="square" lIns="0" tIns="0" rIns="0" bIns="0" rtlCol="0" anchor="ctr"/>
          <a:lstStyle/>
          <a:p>
            <a:pPr indent="0" marL="0">
              <a:buNone/>
            </a:pPr>
            <a:r>
              <a:rPr lang="en-US" sz="5400" dirty="0">
                <a:solidFill>
                  <a:srgbClr val="6B3D08"/>
                </a:solidFill>
                <a:latin typeface="Cambria" pitchFamily="34" charset="0"/>
                <a:ea typeface="Cambria" pitchFamily="34" charset="-122"/>
                <a:cs typeface="Cambria" pitchFamily="34" charset="-120"/>
              </a:rPr>
              <a:t>52,607</a:t>
            </a:r>
            <a:endParaRPr lang="en-US" sz="5400" dirty="0"/>
          </a:p>
        </p:txBody>
      </p:sp>
      <p:sp>
        <p:nvSpPr>
          <p:cNvPr id="17" name="People line"/>
          <p:cNvSpPr txBox="1"/>
          <p:nvPr/>
        </p:nvSpPr>
        <p:spPr>
          <a:xfrm>
            <a:off x="8321345" y="3703320"/>
            <a:ext cx="2987040" cy="685800"/>
          </a:xfrm>
          <a:prstGeom prst="rect">
            <a:avLst/>
          </a:prstGeom>
          <a:noFill/>
          <a:ln/>
        </p:spPr>
        <p:txBody>
          <a:bodyPr wrap="square" lIns="0" tIns="0" rIns="0" bIns="0" rtlCol="0" anchor="t"/>
          <a:lstStyle/>
          <a:p>
            <a:pPr indent="0" marL="0">
              <a:buNone/>
            </a:pPr>
            <a:r>
              <a:rPr lang="en-US" sz="1500" dirty="0">
                <a:solidFill>
                  <a:srgbClr val="6B3D08"/>
                </a:solidFill>
                <a:latin typeface="Calibri" pitchFamily="34" charset="0"/>
                <a:ea typeface="Calibri" pitchFamily="34" charset="-122"/>
                <a:cs typeface="Calibri" pitchFamily="34" charset="-120"/>
              </a:rPr>
              <a:t>All of 2025 saw 74,841. The Job Search Allowance lasts 3 to 6 months.</a:t>
            </a:r>
            <a:endParaRPr lang="en-US" sz="1500" dirty="0"/>
          </a:p>
        </p:txBody>
      </p:sp>
      <p:sp>
        <p:nvSpPr>
          <p:cNvPr id="18" name="People source"/>
          <p:cNvSpPr txBox="1"/>
          <p:nvPr/>
        </p:nvSpPr>
        <p:spPr>
          <a:xfrm>
            <a:off x="8321345" y="4434840"/>
            <a:ext cx="2987040" cy="594360"/>
          </a:xfrm>
          <a:prstGeom prst="rect">
            <a:avLst/>
          </a:prstGeom>
          <a:noFill/>
          <a:ln/>
        </p:spPr>
        <p:txBody>
          <a:bodyPr wrap="square" lIns="0" tIns="0" rIns="0" bIns="0" rtlCol="0" anchor="t"/>
          <a:lstStyle/>
          <a:p>
            <a:pPr indent="0" marL="0">
              <a:buNone/>
            </a:pPr>
            <a:r>
              <a:rPr lang="en-US" sz="1100" dirty="0">
                <a:solidFill>
                  <a:srgbClr val="6B3D08"/>
                </a:solidFill>
                <a:latin typeface="Calibri" pitchFamily="34" charset="0"/>
                <a:ea typeface="Calibri" pitchFamily="34" charset="-122"/>
                <a:cs typeface="Calibri" pitchFamily="34" charset="-120"/>
              </a:rPr>
              <a:t>SAYS Malaysia reporting, 2026; PERKESO Job Search Allowance terms.</a:t>
            </a:r>
            <a:endParaRPr lang="en-US" sz="1100" dirty="0"/>
          </a:p>
        </p:txBody>
      </p:sp>
      <p:sp>
        <p:nvSpPr>
          <p:cNvPr id="19" name="Gap band"/>
          <p:cNvSpPr/>
          <p:nvPr/>
        </p:nvSpPr>
        <p:spPr>
          <a:xfrm>
            <a:off x="609905" y="5349240"/>
            <a:ext cx="10972800" cy="960120"/>
          </a:xfrm>
          <a:prstGeom prst="roundRect">
            <a:avLst>
              <a:gd name="adj" fmla="val 26667"/>
            </a:avLst>
          </a:prstGeom>
          <a:solidFill>
            <a:schemeClr val="tx1"/>
          </a:solidFill>
          <a:ln/>
        </p:spPr>
      </p:sp>
      <p:sp>
        <p:nvSpPr>
          <p:cNvPr id="20" name="Gap dot"/>
          <p:cNvSpPr/>
          <p:nvPr/>
        </p:nvSpPr>
        <p:spPr>
          <a:xfrm>
            <a:off x="975665" y="5737860"/>
            <a:ext cx="182880" cy="182880"/>
          </a:xfrm>
          <a:prstGeom prst="ellipse">
            <a:avLst/>
          </a:prstGeom>
          <a:solidFill>
            <a:schemeClr val="accent2"/>
          </a:solidFill>
          <a:ln/>
        </p:spPr>
      </p:sp>
      <p:sp>
        <p:nvSpPr>
          <p:cNvPr id="21" name="Gap statement"/>
          <p:cNvSpPr txBox="1"/>
          <p:nvPr/>
        </p:nvSpPr>
        <p:spPr>
          <a:xfrm>
            <a:off x="1387145" y="5349240"/>
            <a:ext cx="9784080" cy="960120"/>
          </a:xfrm>
          <a:prstGeom prst="rect">
            <a:avLst/>
          </a:prstGeom>
          <a:noFill/>
          <a:ln/>
        </p:spPr>
        <p:txBody>
          <a:bodyPr wrap="square" lIns="0" tIns="0" rIns="0" bIns="0" rtlCol="0" anchor="ctr"/>
          <a:lstStyle/>
          <a:p>
            <a:pPr indent="0" marL="0">
              <a:buNone/>
            </a:pPr>
            <a:r>
              <a:rPr lang="en-US" sz="2200" dirty="0">
                <a:solidFill>
                  <a:schemeClr val="bg1"/>
                </a:solidFill>
                <a:latin typeface="Cambria" pitchFamily="34" charset="0"/>
                <a:ea typeface="Cambria" pitchFamily="34" charset="-122"/>
                <a:cs typeface="Cambria" pitchFamily="34" charset="-120"/>
              </a:rPr>
              <a:t>The gap: today’s career tools give advice with no dates, no sources and no track record.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tx1"/>
                </a:solidFill>
                <a:latin typeface="Cambria" pitchFamily="34" charset="0"/>
                <a:ea typeface="Cambria" pitchFamily="34" charset="-122"/>
                <a:cs typeface="Cambria" pitchFamily="34" charset="-120"/>
              </a:rPr>
              <a:t>Two users: the worker and the advisor</a:t>
            </a:r>
            <a:endParaRPr lang="en-US" sz="3600" dirty="0"/>
          </a:p>
        </p:txBody>
      </p:sp>
      <p:sp>
        <p:nvSpPr>
          <p:cNvPr id="4" name="Worker card"/>
          <p:cNvSpPr/>
          <p:nvPr/>
        </p:nvSpPr>
        <p:spPr>
          <a:xfrm>
            <a:off x="609905" y="1600200"/>
            <a:ext cx="5394960" cy="4709160"/>
          </a:xfrm>
          <a:prstGeom prst="roundRect">
            <a:avLst>
              <a:gd name="adj" fmla="val 5825"/>
            </a:avLst>
          </a:prstGeom>
          <a:solidFill>
            <a:srgbClr val="FFFDF8"/>
          </a:solidFill>
          <a:ln/>
        </p:spPr>
      </p:sp>
      <p:sp>
        <p:nvSpPr>
          <p:cNvPr id="5" name="Worker heading"/>
          <p:cNvSpPr txBox="1"/>
          <p:nvPr/>
        </p:nvSpPr>
        <p:spPr>
          <a:xfrm>
            <a:off x="975665" y="1920240"/>
            <a:ext cx="4663440" cy="640080"/>
          </a:xfrm>
          <a:prstGeom prst="rect">
            <a:avLst/>
          </a:prstGeom>
          <a:noFill/>
          <a:ln/>
        </p:spPr>
        <p:txBody>
          <a:bodyPr wrap="square" lIns="0" tIns="0" rIns="0" bIns="0" rtlCol="0" anchor="t"/>
          <a:lstStyle/>
          <a:p>
            <a:pPr indent="0" marL="0">
              <a:buNone/>
            </a:pPr>
            <a:r>
              <a:rPr lang="en-US" sz="3200" dirty="0">
                <a:solidFill>
                  <a:schemeClr val="tx1"/>
                </a:solidFill>
                <a:latin typeface="Cambria" pitchFamily="34" charset="0"/>
                <a:ea typeface="Cambria" pitchFamily="34" charset="-122"/>
                <a:cs typeface="Cambria" pitchFamily="34" charset="-120"/>
              </a:rPr>
              <a:t>The worker</a:t>
            </a:r>
            <a:endParaRPr lang="en-US" sz="3200" dirty="0"/>
          </a:p>
        </p:txBody>
      </p:sp>
      <p:sp>
        <p:nvSpPr>
          <p:cNvPr id="6" name="Worker summary"/>
          <p:cNvSpPr txBox="1"/>
          <p:nvPr/>
        </p:nvSpPr>
        <p:spPr>
          <a:xfrm>
            <a:off x="975665" y="2697480"/>
            <a:ext cx="4206240" cy="8686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A finance or admin clerk, 22 to 35, in the first week after being laid off.</a:t>
            </a:r>
            <a:endParaRPr lang="en-US" sz="2000" dirty="0"/>
          </a:p>
        </p:txBody>
      </p:sp>
      <p:sp>
        <p:nvSpPr>
          <p:cNvPr id="7" name="Worker points"/>
          <p:cNvSpPr txBox="1"/>
          <p:nvPr/>
        </p:nvSpPr>
        <p:spPr>
          <a:xfrm>
            <a:off x="975665" y="3749040"/>
            <a:ext cx="3108960" cy="21945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3 to 6 months of allowance: a real deadline</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Needs to know which skills expire, which jobs are within reach, and what to learn this week</a:t>
            </a:r>
            <a:endParaRPr lang="en-US" sz="1600" dirty="0"/>
          </a:p>
        </p:txBody>
      </p:sp>
      <p:pic>
        <p:nvPicPr>
          <p:cNvPr id="8" name="Worker mascot" descr="Jobbery cockatiel mascot">    </p:cNvPr>
          <p:cNvPicPr>
            <a:picLocks noChangeAspect="1"/>
          </p:cNvPicPr>
          <p:nvPr/>
        </p:nvPicPr>
        <p:blipFill>
          <a:blip r:embed="rId1"/>
          <a:stretch>
            <a:fillRect/>
          </a:stretch>
        </p:blipFill>
        <p:spPr>
          <a:xfrm>
            <a:off x="3856025" y="4206240"/>
            <a:ext cx="2103120" cy="2103120"/>
          </a:xfrm>
          <a:prstGeom prst="rect">
            <a:avLst/>
          </a:prstGeom>
        </p:spPr>
      </p:pic>
      <p:sp>
        <p:nvSpPr>
          <p:cNvPr id="9" name="Advisor card"/>
          <p:cNvSpPr/>
          <p:nvPr/>
        </p:nvSpPr>
        <p:spPr>
          <a:xfrm>
            <a:off x="6187745" y="1600200"/>
            <a:ext cx="5394960" cy="4709160"/>
          </a:xfrm>
          <a:prstGeom prst="roundRect">
            <a:avLst>
              <a:gd name="adj" fmla="val 5825"/>
            </a:avLst>
          </a:prstGeom>
          <a:solidFill>
            <a:schemeClr val="accent1"/>
          </a:solidFill>
          <a:ln/>
        </p:spPr>
      </p:sp>
      <p:sp>
        <p:nvSpPr>
          <p:cNvPr id="10" name="Advisor heading"/>
          <p:cNvSpPr txBox="1"/>
          <p:nvPr/>
        </p:nvSpPr>
        <p:spPr>
          <a:xfrm>
            <a:off x="6553505" y="1920240"/>
            <a:ext cx="4663440" cy="640080"/>
          </a:xfrm>
          <a:prstGeom prst="rect">
            <a:avLst/>
          </a:prstGeom>
          <a:noFill/>
          <a:ln/>
        </p:spPr>
        <p:txBody>
          <a:bodyPr wrap="square" lIns="0" tIns="0" rIns="0" bIns="0" rtlCol="0" anchor="t"/>
          <a:lstStyle/>
          <a:p>
            <a:pPr indent="0" marL="0">
              <a:buNone/>
            </a:pPr>
            <a:r>
              <a:rPr lang="en-US" sz="3200" dirty="0">
                <a:solidFill>
                  <a:schemeClr val="bg1"/>
                </a:solidFill>
                <a:latin typeface="Cambria" pitchFamily="34" charset="0"/>
                <a:ea typeface="Cambria" pitchFamily="34" charset="-122"/>
                <a:cs typeface="Cambria" pitchFamily="34" charset="-120"/>
              </a:rPr>
              <a:t>The advisor</a:t>
            </a:r>
            <a:endParaRPr lang="en-US" sz="3200" dirty="0"/>
          </a:p>
        </p:txBody>
      </p:sp>
      <p:sp>
        <p:nvSpPr>
          <p:cNvPr id="11" name="Advisor summary"/>
          <p:cNvSpPr txBox="1"/>
          <p:nvPr/>
        </p:nvSpPr>
        <p:spPr>
          <a:xfrm>
            <a:off x="6553505" y="2697480"/>
            <a:ext cx="4206240" cy="868680"/>
          </a:xfrm>
          <a:prstGeom prst="rect">
            <a:avLst/>
          </a:prstGeom>
          <a:noFill/>
          <a:ln/>
        </p:spPr>
        <p:txBody>
          <a:bodyPr wrap="square" lIns="0" tIns="0" rIns="0" bIns="0" rtlCol="0" anchor="t"/>
          <a:lstStyle/>
          <a:p>
            <a:pPr indent="0" marL="0">
              <a:buNone/>
            </a:pPr>
            <a:r>
              <a:rPr lang="en-US" sz="2000" b="1" dirty="0">
                <a:solidFill>
                  <a:schemeClr val="bg1"/>
                </a:solidFill>
                <a:latin typeface="Calibri" pitchFamily="34" charset="0"/>
                <a:ea typeface="Calibri" pitchFamily="34" charset="-122"/>
                <a:cs typeface="Calibri" pitchFamily="34" charset="-120"/>
              </a:rPr>
              <a:t>An employment counsellor who meets each worker once.</a:t>
            </a:r>
            <a:endParaRPr lang="en-US" sz="2000" dirty="0"/>
          </a:p>
        </p:txBody>
      </p:sp>
      <p:sp>
        <p:nvSpPr>
          <p:cNvPr id="12" name="Advisor points"/>
          <p:cNvSpPr txBox="1"/>
          <p:nvPr/>
        </p:nvSpPr>
        <p:spPr>
          <a:xfrm>
            <a:off x="6553505" y="3749040"/>
            <a:ext cx="3108960" cy="21945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Sees the worker’s profile, plan and the futures behind the advice</a:t>
            </a:r>
            <a:endParaRPr lang="en-US" sz="1600" dirty="0"/>
          </a:p>
          <a:p>
            <a:pPr marL="203200" indent="-2032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Writes advice that lands on the worker’s plan</a:t>
            </a:r>
            <a:endParaRPr lang="en-US" sz="1600" dirty="0"/>
          </a:p>
        </p:txBody>
      </p:sp>
      <p:pic>
        <p:nvPicPr>
          <p:cNvPr id="13" name="Advisor mascot" descr="Jobbery cockatiel mascot">    </p:cNvPr>
          <p:cNvPicPr>
            <a:picLocks noChangeAspect="1"/>
          </p:cNvPicPr>
          <p:nvPr/>
        </p:nvPicPr>
        <p:blipFill>
          <a:blip r:embed="rId2"/>
          <a:stretch>
            <a:fillRect/>
          </a:stretch>
        </p:blipFill>
        <p:spPr>
          <a:xfrm>
            <a:off x="9433865" y="4206240"/>
            <a:ext cx="2103120" cy="2103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tx1"/>
                </a:solidFill>
                <a:latin typeface="Cambria" pitchFamily="34" charset="0"/>
                <a:ea typeface="Cambria" pitchFamily="34" charset="-122"/>
                <a:cs typeface="Cambria" pitchFamily="34" charset="-120"/>
              </a:rPr>
              <a:t>Four steps from laid off to a dated plan</a:t>
            </a:r>
            <a:endParaRPr lang="en-US" sz="3600" dirty="0"/>
          </a:p>
        </p:txBody>
      </p:sp>
      <p:sp>
        <p:nvSpPr>
          <p:cNvPr id="4" name="You frame"/>
          <p:cNvSpPr/>
          <p:nvPr/>
        </p:nvSpPr>
        <p:spPr>
          <a:xfrm>
            <a:off x="609905" y="1463040"/>
            <a:ext cx="2606040" cy="2959786"/>
          </a:xfrm>
          <a:prstGeom prst="roundRect">
            <a:avLst>
              <a:gd name="adj" fmla="val 7719"/>
            </a:avLst>
          </a:prstGeom>
          <a:solidFill>
            <a:srgbClr val="FFFDF8"/>
          </a:solidFill>
          <a:ln/>
        </p:spPr>
      </p:sp>
      <p:pic>
        <p:nvPicPr>
          <p:cNvPr id="5" name="You screenshot" descr="Jobbery Résumé scan screen">    </p:cNvPr>
          <p:cNvPicPr>
            <a:picLocks noChangeAspect="1"/>
          </p:cNvPicPr>
          <p:nvPr/>
        </p:nvPicPr>
        <p:blipFill>
          <a:blip r:embed="rId1"/>
          <a:stretch>
            <a:fillRect/>
          </a:stretch>
        </p:blipFill>
        <p:spPr>
          <a:xfrm>
            <a:off x="701345" y="1554480"/>
            <a:ext cx="2423160" cy="2776906"/>
          </a:xfrm>
          <a:prstGeom prst="rect">
            <a:avLst/>
          </a:prstGeom>
        </p:spPr>
      </p:pic>
      <p:sp>
        <p:nvSpPr>
          <p:cNvPr id="6" name="You label"/>
          <p:cNvSpPr txBox="1"/>
          <p:nvPr/>
        </p:nvSpPr>
        <p:spPr>
          <a:xfrm>
            <a:off x="609905" y="4559986"/>
            <a:ext cx="2606040" cy="457200"/>
          </a:xfrm>
          <a:prstGeom prst="rect">
            <a:avLst/>
          </a:prstGeom>
          <a:noFill/>
          <a:ln/>
        </p:spPr>
        <p:txBody>
          <a:bodyPr wrap="square" lIns="0" tIns="0" rIns="0" bIns="0" rtlCol="0" anchor="t"/>
          <a:lstStyle/>
          <a:p>
            <a:pPr indent="0" marL="0">
              <a:buNone/>
            </a:pPr>
            <a:r>
              <a:rPr lang="en-US" sz="2800" dirty="0">
                <a:solidFill>
                  <a:schemeClr val="tx1"/>
                </a:solidFill>
                <a:latin typeface="Cambria" pitchFamily="34" charset="0"/>
                <a:ea typeface="Cambria" pitchFamily="34" charset="-122"/>
                <a:cs typeface="Cambria" pitchFamily="34" charset="-120"/>
              </a:rPr>
              <a:t>You</a:t>
            </a:r>
            <a:endParaRPr lang="en-US" sz="2800" dirty="0"/>
          </a:p>
        </p:txBody>
      </p:sp>
      <p:sp>
        <p:nvSpPr>
          <p:cNvPr id="7" name="You caption"/>
          <p:cNvSpPr txBox="1"/>
          <p:nvPr/>
        </p:nvSpPr>
        <p:spPr>
          <a:xfrm>
            <a:off x="609905" y="5062906"/>
            <a:ext cx="251460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Scan a résumé or answer eight questions. Nothing is stored.</a:t>
            </a:r>
            <a:endParaRPr lang="en-US" sz="1500" dirty="0"/>
          </a:p>
        </p:txBody>
      </p:sp>
      <p:sp>
        <p:nvSpPr>
          <p:cNvPr id="8" name="Arrow 1"/>
          <p:cNvSpPr/>
          <p:nvPr/>
        </p:nvSpPr>
        <p:spPr>
          <a:xfrm>
            <a:off x="3133649" y="2697480"/>
            <a:ext cx="347472" cy="347472"/>
          </a:xfrm>
          <a:prstGeom prst="ellipse">
            <a:avLst/>
          </a:prstGeom>
          <a:solidFill>
            <a:schemeClr val="accent2"/>
          </a:solidFill>
          <a:ln/>
        </p:spPr>
      </p:sp>
      <p:sp>
        <p:nvSpPr>
          <p:cNvPr id="9" name="Arrow glyph 1"/>
          <p:cNvSpPr txBox="1"/>
          <p:nvPr/>
        </p:nvSpPr>
        <p:spPr>
          <a:xfrm>
            <a:off x="3133649" y="2697480"/>
            <a:ext cx="347472" cy="347472"/>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a:t>
            </a:r>
            <a:endParaRPr lang="en-US" sz="1800" dirty="0"/>
          </a:p>
        </p:txBody>
      </p:sp>
      <p:sp>
        <p:nvSpPr>
          <p:cNvPr id="10" name="Skills frame"/>
          <p:cNvSpPr/>
          <p:nvPr/>
        </p:nvSpPr>
        <p:spPr>
          <a:xfrm>
            <a:off x="3398825" y="1645920"/>
            <a:ext cx="2606040" cy="2959786"/>
          </a:xfrm>
          <a:prstGeom prst="roundRect">
            <a:avLst>
              <a:gd name="adj" fmla="val 7719"/>
            </a:avLst>
          </a:prstGeom>
          <a:solidFill>
            <a:srgbClr val="FFFDF8"/>
          </a:solidFill>
          <a:ln/>
        </p:spPr>
      </p:sp>
      <p:pic>
        <p:nvPicPr>
          <p:cNvPr id="11" name="Skills screenshot" descr="Jobbery Skills screen with expiry dates">    </p:cNvPr>
          <p:cNvPicPr>
            <a:picLocks noChangeAspect="1"/>
          </p:cNvPicPr>
          <p:nvPr/>
        </p:nvPicPr>
        <p:blipFill>
          <a:blip r:embed="rId2"/>
          <a:stretch>
            <a:fillRect/>
          </a:stretch>
        </p:blipFill>
        <p:spPr>
          <a:xfrm>
            <a:off x="3490265" y="1737360"/>
            <a:ext cx="2423160" cy="2776906"/>
          </a:xfrm>
          <a:prstGeom prst="rect">
            <a:avLst/>
          </a:prstGeom>
        </p:spPr>
      </p:pic>
      <p:sp>
        <p:nvSpPr>
          <p:cNvPr id="12" name="Skills label"/>
          <p:cNvSpPr txBox="1"/>
          <p:nvPr/>
        </p:nvSpPr>
        <p:spPr>
          <a:xfrm>
            <a:off x="3398825" y="4742866"/>
            <a:ext cx="2606040" cy="457200"/>
          </a:xfrm>
          <a:prstGeom prst="rect">
            <a:avLst/>
          </a:prstGeom>
          <a:noFill/>
          <a:ln/>
        </p:spPr>
        <p:txBody>
          <a:bodyPr wrap="square" lIns="0" tIns="0" rIns="0" bIns="0" rtlCol="0" anchor="t"/>
          <a:lstStyle/>
          <a:p>
            <a:pPr indent="0" marL="0">
              <a:buNone/>
            </a:pPr>
            <a:r>
              <a:rPr lang="en-US" sz="2800" dirty="0">
                <a:solidFill>
                  <a:schemeClr val="tx1"/>
                </a:solidFill>
                <a:latin typeface="Cambria" pitchFamily="34" charset="0"/>
                <a:ea typeface="Cambria" pitchFamily="34" charset="-122"/>
                <a:cs typeface="Cambria" pitchFamily="34" charset="-120"/>
              </a:rPr>
              <a:t>Skills</a:t>
            </a:r>
            <a:endParaRPr lang="en-US" sz="2800" dirty="0"/>
          </a:p>
        </p:txBody>
      </p:sp>
      <p:sp>
        <p:nvSpPr>
          <p:cNvPr id="13" name="Skills caption"/>
          <p:cNvSpPr txBox="1"/>
          <p:nvPr/>
        </p:nvSpPr>
        <p:spPr>
          <a:xfrm>
            <a:off x="3398825" y="5245786"/>
            <a:ext cx="251460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Every skill gets an expiry date, under slow, medium and fast AI.</a:t>
            </a:r>
            <a:endParaRPr lang="en-US" sz="1500" dirty="0"/>
          </a:p>
        </p:txBody>
      </p:sp>
      <p:sp>
        <p:nvSpPr>
          <p:cNvPr id="14" name="Arrow 2"/>
          <p:cNvSpPr/>
          <p:nvPr/>
        </p:nvSpPr>
        <p:spPr>
          <a:xfrm>
            <a:off x="5922569" y="2880360"/>
            <a:ext cx="347472" cy="347472"/>
          </a:xfrm>
          <a:prstGeom prst="ellipse">
            <a:avLst/>
          </a:prstGeom>
          <a:solidFill>
            <a:schemeClr val="accent2"/>
          </a:solidFill>
          <a:ln/>
        </p:spPr>
      </p:sp>
      <p:sp>
        <p:nvSpPr>
          <p:cNvPr id="15" name="Arrow glyph 2"/>
          <p:cNvSpPr txBox="1"/>
          <p:nvPr/>
        </p:nvSpPr>
        <p:spPr>
          <a:xfrm>
            <a:off x="5922569" y="2880360"/>
            <a:ext cx="347472" cy="347472"/>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a:t>
            </a:r>
            <a:endParaRPr lang="en-US" sz="1800" dirty="0"/>
          </a:p>
        </p:txBody>
      </p:sp>
      <p:sp>
        <p:nvSpPr>
          <p:cNvPr id="16" name="Jobs frame"/>
          <p:cNvSpPr/>
          <p:nvPr/>
        </p:nvSpPr>
        <p:spPr>
          <a:xfrm>
            <a:off x="6187745" y="1828800"/>
            <a:ext cx="2606040" cy="2959786"/>
          </a:xfrm>
          <a:prstGeom prst="roundRect">
            <a:avLst>
              <a:gd name="adj" fmla="val 7719"/>
            </a:avLst>
          </a:prstGeom>
          <a:solidFill>
            <a:srgbClr val="FFFDF8"/>
          </a:solidFill>
          <a:ln/>
        </p:spPr>
      </p:sp>
      <p:pic>
        <p:nvPicPr>
          <p:cNvPr id="17" name="Jobs screenshot" descr="Jobbery Suggested jobs screen">    </p:cNvPr>
          <p:cNvPicPr>
            <a:picLocks noChangeAspect="1"/>
          </p:cNvPicPr>
          <p:nvPr/>
        </p:nvPicPr>
        <p:blipFill>
          <a:blip r:embed="rId3"/>
          <a:stretch>
            <a:fillRect/>
          </a:stretch>
        </p:blipFill>
        <p:spPr>
          <a:xfrm>
            <a:off x="6279185" y="1920240"/>
            <a:ext cx="2423160" cy="2776906"/>
          </a:xfrm>
          <a:prstGeom prst="rect">
            <a:avLst/>
          </a:prstGeom>
        </p:spPr>
      </p:pic>
      <p:sp>
        <p:nvSpPr>
          <p:cNvPr id="18" name="Jobs label"/>
          <p:cNvSpPr txBox="1"/>
          <p:nvPr/>
        </p:nvSpPr>
        <p:spPr>
          <a:xfrm>
            <a:off x="6187745" y="4925746"/>
            <a:ext cx="2606040" cy="457200"/>
          </a:xfrm>
          <a:prstGeom prst="rect">
            <a:avLst/>
          </a:prstGeom>
          <a:noFill/>
          <a:ln/>
        </p:spPr>
        <p:txBody>
          <a:bodyPr wrap="square" lIns="0" tIns="0" rIns="0" bIns="0" rtlCol="0" anchor="t"/>
          <a:lstStyle/>
          <a:p>
            <a:pPr indent="0" marL="0">
              <a:buNone/>
            </a:pPr>
            <a:r>
              <a:rPr lang="en-US" sz="2800" dirty="0">
                <a:solidFill>
                  <a:schemeClr val="tx1"/>
                </a:solidFill>
                <a:latin typeface="Cambria" pitchFamily="34" charset="0"/>
                <a:ea typeface="Cambria" pitchFamily="34" charset="-122"/>
                <a:cs typeface="Cambria" pitchFamily="34" charset="-120"/>
              </a:rPr>
              <a:t>Jobs</a:t>
            </a:r>
            <a:endParaRPr lang="en-US" sz="2800" dirty="0"/>
          </a:p>
        </p:txBody>
      </p:sp>
      <p:sp>
        <p:nvSpPr>
          <p:cNvPr id="19" name="Jobs caption"/>
          <p:cNvSpPr txBox="1"/>
          <p:nvPr/>
        </p:nvSpPr>
        <p:spPr>
          <a:xfrm>
            <a:off x="6187745" y="5428666"/>
            <a:ext cx="251460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Roles you can reach before your deadline, with a score you can open.</a:t>
            </a:r>
            <a:endParaRPr lang="en-US" sz="1500" dirty="0"/>
          </a:p>
        </p:txBody>
      </p:sp>
      <p:sp>
        <p:nvSpPr>
          <p:cNvPr id="20" name="Arrow 3"/>
          <p:cNvSpPr/>
          <p:nvPr/>
        </p:nvSpPr>
        <p:spPr>
          <a:xfrm>
            <a:off x="8711489" y="3063240"/>
            <a:ext cx="347472" cy="347472"/>
          </a:xfrm>
          <a:prstGeom prst="ellipse">
            <a:avLst/>
          </a:prstGeom>
          <a:solidFill>
            <a:schemeClr val="accent2"/>
          </a:solidFill>
          <a:ln/>
        </p:spPr>
      </p:sp>
      <p:sp>
        <p:nvSpPr>
          <p:cNvPr id="21" name="Arrow glyph 3"/>
          <p:cNvSpPr txBox="1"/>
          <p:nvPr/>
        </p:nvSpPr>
        <p:spPr>
          <a:xfrm>
            <a:off x="8711489" y="3063240"/>
            <a:ext cx="347472" cy="347472"/>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a:t>
            </a:r>
            <a:endParaRPr lang="en-US" sz="1800" dirty="0"/>
          </a:p>
        </p:txBody>
      </p:sp>
      <p:sp>
        <p:nvSpPr>
          <p:cNvPr id="22" name="Plan frame"/>
          <p:cNvSpPr/>
          <p:nvPr/>
        </p:nvSpPr>
        <p:spPr>
          <a:xfrm>
            <a:off x="8976665" y="2011680"/>
            <a:ext cx="2606040" cy="2959786"/>
          </a:xfrm>
          <a:prstGeom prst="roundRect">
            <a:avLst>
              <a:gd name="adj" fmla="val 7719"/>
            </a:avLst>
          </a:prstGeom>
          <a:solidFill>
            <a:srgbClr val="FFFDF8"/>
          </a:solidFill>
          <a:ln/>
        </p:spPr>
      </p:sp>
      <p:pic>
        <p:nvPicPr>
          <p:cNvPr id="23" name="Plan screenshot" descr="Jobbery Plan screen">    </p:cNvPr>
          <p:cNvPicPr>
            <a:picLocks noChangeAspect="1"/>
          </p:cNvPicPr>
          <p:nvPr/>
        </p:nvPicPr>
        <p:blipFill>
          <a:blip r:embed="rId4"/>
          <a:stretch>
            <a:fillRect/>
          </a:stretch>
        </p:blipFill>
        <p:spPr>
          <a:xfrm>
            <a:off x="9068105" y="2103120"/>
            <a:ext cx="2423160" cy="2776906"/>
          </a:xfrm>
          <a:prstGeom prst="rect">
            <a:avLst/>
          </a:prstGeom>
        </p:spPr>
      </p:pic>
      <p:sp>
        <p:nvSpPr>
          <p:cNvPr id="24" name="Plan label"/>
          <p:cNvSpPr txBox="1"/>
          <p:nvPr/>
        </p:nvSpPr>
        <p:spPr>
          <a:xfrm>
            <a:off x="8976665" y="5108626"/>
            <a:ext cx="2606040" cy="457200"/>
          </a:xfrm>
          <a:prstGeom prst="rect">
            <a:avLst/>
          </a:prstGeom>
          <a:noFill/>
          <a:ln/>
        </p:spPr>
        <p:txBody>
          <a:bodyPr wrap="square" lIns="0" tIns="0" rIns="0" bIns="0" rtlCol="0" anchor="t"/>
          <a:lstStyle/>
          <a:p>
            <a:pPr indent="0" marL="0">
              <a:buNone/>
            </a:pPr>
            <a:r>
              <a:rPr lang="en-US" sz="2800" dirty="0">
                <a:solidFill>
                  <a:schemeClr val="tx1"/>
                </a:solidFill>
                <a:latin typeface="Cambria" pitchFamily="34" charset="0"/>
                <a:ea typeface="Cambria" pitchFamily="34" charset="-122"/>
                <a:cs typeface="Cambria" pitchFamily="34" charset="-120"/>
              </a:rPr>
              <a:t>Plan</a:t>
            </a:r>
            <a:endParaRPr lang="en-US" sz="2800" dirty="0"/>
          </a:p>
        </p:txBody>
      </p:sp>
      <p:sp>
        <p:nvSpPr>
          <p:cNvPr id="25" name="Plan caption"/>
          <p:cNvSpPr txBox="1"/>
          <p:nvPr/>
        </p:nvSpPr>
        <p:spPr>
          <a:xfrm>
            <a:off x="8976665" y="5611546"/>
            <a:ext cx="251460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Week by week, with free courses, ending in a booked advisor meeting.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bg1"/>
                </a:solidFill>
                <a:latin typeface="Cambria" pitchFamily="34" charset="0"/>
                <a:ea typeface="Cambria" pitchFamily="34" charset="-122"/>
                <a:cs typeface="Cambria" pitchFamily="34" charset="-120"/>
              </a:rPr>
              <a:t>Forecasts graded against real data</a:t>
            </a:r>
            <a:endParaRPr lang="en-US" sz="3600" dirty="0"/>
          </a:p>
        </p:txBody>
      </p:sp>
      <p:sp>
        <p:nvSpPr>
          <p:cNvPr id="4" name="Prediction market points"/>
          <p:cNvSpPr txBox="1"/>
          <p:nvPr/>
        </p:nvSpPr>
        <p:spPr>
          <a:xfrm>
            <a:off x="609905" y="1554480"/>
            <a:ext cx="5669280" cy="246888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Settled by official releases. </a:t>
            </a:r>
            <a:pPr indent="0" marL="0">
              <a:spcAft>
                <a:spcPts val="1400"/>
              </a:spcAft>
              <a:buNone/>
            </a:pPr>
            <a:r>
              <a:rPr lang="en-US" sz="1700" dirty="0">
                <a:solidFill>
                  <a:schemeClr val="bg1"/>
                </a:solidFill>
                <a:latin typeface="Calibri" pitchFamily="34" charset="0"/>
                <a:ea typeface="Calibri" pitchFamily="34" charset="-122"/>
                <a:cs typeface="Calibri" pitchFamily="34" charset="-120"/>
              </a:rPr>
              <a:t>Each question closes on a public release: DOSM on 17 Nov 2026, Epoch AI in Jan 2027.</a:t>
            </a:r>
            <a:endParaRPr lang="en-US" sz="1700" dirty="0"/>
          </a:p>
          <a:p>
            <a:pPr indent="0" marL="0">
              <a:buNone/>
            </a:pPr>
            <a:r>
              <a:rPr lang="en-US" sz="1700" b="1" dirty="0">
                <a:solidFill>
                  <a:schemeClr val="bg1"/>
                </a:solidFill>
                <a:latin typeface="Calibri" pitchFamily="34" charset="0"/>
                <a:ea typeface="Calibri" pitchFamily="34" charset="-122"/>
                <a:cs typeface="Calibri" pitchFamily="34" charset="-120"/>
              </a:rPr>
              <a:t>Forecasters with a record. </a:t>
            </a:r>
            <a:pPr indent="0" marL="0">
              <a:spcAft>
                <a:spcPts val="1400"/>
              </a:spcAft>
              <a:buNone/>
            </a:pPr>
            <a:r>
              <a:rPr lang="en-US" sz="1700" dirty="0">
                <a:solidFill>
                  <a:schemeClr val="bg1"/>
                </a:solidFill>
                <a:latin typeface="Calibri" pitchFamily="34" charset="0"/>
                <a:ea typeface="Calibri" pitchFamily="34" charset="-122"/>
                <a:cs typeface="Calibri" pitchFamily="34" charset="-120"/>
              </a:rPr>
              <a:t>About 200 simulated forecasters built track records by replaying 66 real past releases. Always labelled simulated.</a:t>
            </a:r>
            <a:endParaRPr lang="en-US" sz="1700" dirty="0"/>
          </a:p>
          <a:p>
            <a:pPr indent="0" marL="0">
              <a:buNone/>
            </a:pPr>
            <a:r>
              <a:rPr lang="en-US" sz="1700" b="1" dirty="0">
                <a:solidFill>
                  <a:schemeClr val="bg1"/>
                </a:solidFill>
                <a:latin typeface="Calibri" pitchFamily="34" charset="0"/>
                <a:ea typeface="Calibri" pitchFamily="34" charset="-122"/>
                <a:cs typeface="Calibri" pitchFamily="34" charset="-120"/>
              </a:rPr>
              <a:t>A hash log, not a blockchain. </a:t>
            </a:r>
            <a:pPr indent="0" marL="0">
              <a:spcAft>
                <a:spcPts val="1400"/>
              </a:spcAft>
              <a:buNone/>
            </a:pPr>
            <a:r>
              <a:rPr lang="en-US" sz="1700" dirty="0">
                <a:solidFill>
                  <a:schemeClr val="bg1"/>
                </a:solidFill>
                <a:latin typeface="Calibri" pitchFamily="34" charset="0"/>
                <a:ea typeface="Calibri" pitchFamily="34" charset="-122"/>
                <a:cs typeface="Calibri" pitchFamily="34" charset="-120"/>
              </a:rPr>
              <a:t>Every guess and settlement is chained, and the fingerprint is committed to GitHub.</a:t>
            </a:r>
            <a:endParaRPr lang="en-US" sz="1700" dirty="0"/>
          </a:p>
        </p:txBody>
      </p:sp>
      <p:sp>
        <p:nvSpPr>
          <p:cNvPr id="5" name="Not a chatbot card"/>
          <p:cNvSpPr/>
          <p:nvPr/>
        </p:nvSpPr>
        <p:spPr>
          <a:xfrm>
            <a:off x="609905" y="4160520"/>
            <a:ext cx="5669280" cy="1828800"/>
          </a:xfrm>
          <a:prstGeom prst="roundRect">
            <a:avLst>
              <a:gd name="adj" fmla="val 14000"/>
            </a:avLst>
          </a:prstGeom>
          <a:solidFill>
            <a:schemeClr val="accent2"/>
          </a:solidFill>
          <a:ln/>
        </p:spPr>
      </p:sp>
      <p:sp>
        <p:nvSpPr>
          <p:cNvPr id="6" name="Not a chatbot"/>
          <p:cNvSpPr txBox="1"/>
          <p:nvPr/>
        </p:nvSpPr>
        <p:spPr>
          <a:xfrm>
            <a:off x="929945" y="4343400"/>
            <a:ext cx="5029200" cy="54864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This is not a chatbot.</a:t>
            </a:r>
            <a:endParaRPr lang="en-US" sz="2800" dirty="0"/>
          </a:p>
        </p:txBody>
      </p:sp>
      <p:sp>
        <p:nvSpPr>
          <p:cNvPr id="7" name="Not a chatbot detail"/>
          <p:cNvSpPr txBox="1"/>
          <p:nvPr/>
        </p:nvSpPr>
        <p:spPr>
          <a:xfrm>
            <a:off x="929945" y="4983480"/>
            <a:ext cx="50292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No AI model runs inside Jobbery. Scores and plans come from tested code: same inputs, same answer.</a:t>
            </a:r>
            <a:endParaRPr lang="en-US" sz="1700" dirty="0"/>
          </a:p>
        </p:txBody>
      </p:sp>
      <p:pic>
        <p:nvPicPr>
          <p:cNvPr id="8" name="Forecast screenshot" descr="Jobbery forecast screen with live open questions">    </p:cNvPr>
          <p:cNvPicPr>
            <a:picLocks noChangeAspect="1"/>
          </p:cNvPicPr>
          <p:nvPr/>
        </p:nvPicPr>
        <p:blipFill>
          <a:blip r:embed="rId1"/>
          <a:stretch>
            <a:fillRect/>
          </a:stretch>
        </p:blipFill>
        <p:spPr>
          <a:xfrm>
            <a:off x="6583680" y="1554480"/>
            <a:ext cx="4999025" cy="2311688"/>
          </a:xfrm>
          <a:prstGeom prst="rect">
            <a:avLst/>
          </a:prstGeom>
        </p:spPr>
      </p:pic>
      <p:sp>
        <p:nvSpPr>
          <p:cNvPr id="9" name="Odds card"/>
          <p:cNvSpPr/>
          <p:nvPr/>
        </p:nvSpPr>
        <p:spPr>
          <a:xfrm>
            <a:off x="6583680" y="4160520"/>
            <a:ext cx="4999025" cy="1828800"/>
          </a:xfrm>
          <a:prstGeom prst="roundRect">
            <a:avLst>
              <a:gd name="adj" fmla="val 14000"/>
            </a:avLst>
          </a:prstGeom>
          <a:solidFill>
            <a:schemeClr val="bg1"/>
          </a:solidFill>
          <a:ln/>
        </p:spPr>
      </p:sp>
      <p:sp>
        <p:nvSpPr>
          <p:cNvPr id="10" name="Odds title"/>
          <p:cNvSpPr txBox="1"/>
          <p:nvPr/>
        </p:nvSpPr>
        <p:spPr>
          <a:xfrm>
            <a:off x="6858000" y="4315968"/>
            <a:ext cx="4450385"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Today’s odds for the three futures, set by the market</a:t>
            </a:r>
            <a:endParaRPr lang="en-US" sz="1500" dirty="0"/>
          </a:p>
        </p:txBody>
      </p:sp>
      <p:sp>
        <p:nvSpPr>
          <p:cNvPr id="11" name="Slow odds bar"/>
          <p:cNvSpPr/>
          <p:nvPr/>
        </p:nvSpPr>
        <p:spPr>
          <a:xfrm>
            <a:off x="6858000" y="4754880"/>
            <a:ext cx="1909889" cy="457200"/>
          </a:xfrm>
          <a:prstGeom prst="roundRect">
            <a:avLst>
              <a:gd name="adj" fmla="val 50000"/>
            </a:avLst>
          </a:prstGeom>
          <a:solidFill>
            <a:schemeClr val="accent4"/>
          </a:solidFill>
          <a:ln/>
        </p:spPr>
      </p:sp>
      <p:sp>
        <p:nvSpPr>
          <p:cNvPr id="12" name="Slow odds label"/>
          <p:cNvSpPr txBox="1"/>
          <p:nvPr/>
        </p:nvSpPr>
        <p:spPr>
          <a:xfrm>
            <a:off x="6995160" y="4754880"/>
            <a:ext cx="1727009"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Slow 44%</a:t>
            </a:r>
            <a:endParaRPr lang="en-US" sz="1500" dirty="0"/>
          </a:p>
        </p:txBody>
      </p:sp>
      <p:sp>
        <p:nvSpPr>
          <p:cNvPr id="13" name="Medium odds bar"/>
          <p:cNvSpPr/>
          <p:nvPr/>
        </p:nvSpPr>
        <p:spPr>
          <a:xfrm>
            <a:off x="8822753" y="4754880"/>
            <a:ext cx="2170328" cy="457200"/>
          </a:xfrm>
          <a:prstGeom prst="roundRect">
            <a:avLst>
              <a:gd name="adj" fmla="val 50000"/>
            </a:avLst>
          </a:prstGeom>
          <a:solidFill>
            <a:schemeClr val="accent1"/>
          </a:solidFill>
          <a:ln/>
        </p:spPr>
      </p:sp>
      <p:sp>
        <p:nvSpPr>
          <p:cNvPr id="14" name="Medium odds label"/>
          <p:cNvSpPr txBox="1"/>
          <p:nvPr/>
        </p:nvSpPr>
        <p:spPr>
          <a:xfrm>
            <a:off x="8959913" y="4754880"/>
            <a:ext cx="1987448" cy="45720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Medium 50%</a:t>
            </a:r>
            <a:endParaRPr lang="en-US" sz="1500" dirty="0"/>
          </a:p>
        </p:txBody>
      </p:sp>
      <p:sp>
        <p:nvSpPr>
          <p:cNvPr id="15" name="Fast odds bar"/>
          <p:cNvSpPr/>
          <p:nvPr/>
        </p:nvSpPr>
        <p:spPr>
          <a:xfrm>
            <a:off x="11047945" y="4754880"/>
            <a:ext cx="260439" cy="457200"/>
          </a:xfrm>
          <a:prstGeom prst="roundRect">
            <a:avLst>
              <a:gd name="adj" fmla="val 87775"/>
            </a:avLst>
          </a:prstGeom>
          <a:solidFill>
            <a:schemeClr val="accent3"/>
          </a:solidFill>
          <a:ln/>
        </p:spPr>
      </p:sp>
      <p:sp>
        <p:nvSpPr>
          <p:cNvPr id="16" name="Odds note"/>
          <p:cNvSpPr txBox="1"/>
          <p:nvPr/>
        </p:nvSpPr>
        <p:spPr>
          <a:xfrm>
            <a:off x="6858000" y="5349240"/>
            <a:ext cx="4450385" cy="502920"/>
          </a:xfrm>
          <a:prstGeom prst="rect">
            <a:avLst/>
          </a:prstGeom>
          <a:noFill/>
          <a:ln/>
        </p:spPr>
        <p:txBody>
          <a:bodyPr wrap="square" lIns="0" tIns="0" rIns="0" bIns="0" rtlCol="0" anchor="t"/>
          <a:lstStyle/>
          <a:p>
            <a:pPr indent="0" marL="0">
              <a:buNone/>
            </a:pPr>
            <a:r>
              <a:rPr lang="en-US" sz="1300" dirty="0">
                <a:solidFill>
                  <a:srgbClr val="547451"/>
                </a:solidFill>
                <a:latin typeface="Calibri" pitchFamily="34" charset="0"/>
                <a:ea typeface="Calibri" pitchFamily="34" charset="-122"/>
                <a:cs typeface="Calibri" pitchFamily="34" charset="-120"/>
              </a:rPr>
              <a:t>The small slice is Fast: 5%. No future ever drops below 5%. Points only, never money.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tx1"/>
                </a:solidFill>
                <a:latin typeface="Cambria" pitchFamily="34" charset="0"/>
                <a:ea typeface="Cambria" pitchFamily="34" charset="-122"/>
                <a:cs typeface="Cambria" pitchFamily="34" charset="-120"/>
              </a:rPr>
              <a:t>All six must-haves, each on a named screen</a:t>
            </a:r>
            <a:endParaRPr lang="en-US" sz="3600" dirty="0"/>
          </a:p>
        </p:txBody>
      </p:sp>
      <p:sp>
        <p:nvSpPr>
          <p:cNvPr id="4" name="Skills intake card"/>
          <p:cNvSpPr/>
          <p:nvPr/>
        </p:nvSpPr>
        <p:spPr>
          <a:xfrm>
            <a:off x="609905" y="1600200"/>
            <a:ext cx="5394960" cy="1371600"/>
          </a:xfrm>
          <a:prstGeom prst="roundRect">
            <a:avLst>
              <a:gd name="adj" fmla="val 17333"/>
            </a:avLst>
          </a:prstGeom>
          <a:solidFill>
            <a:schemeClr val="bg2"/>
          </a:solidFill>
          <a:ln/>
        </p:spPr>
      </p:sp>
      <p:sp>
        <p:nvSpPr>
          <p:cNvPr id="5" name="Skills intake tick circle"/>
          <p:cNvSpPr/>
          <p:nvPr/>
        </p:nvSpPr>
        <p:spPr>
          <a:xfrm>
            <a:off x="884225" y="2039112"/>
            <a:ext cx="493776" cy="493776"/>
          </a:xfrm>
          <a:prstGeom prst="ellipse">
            <a:avLst/>
          </a:prstGeom>
          <a:solidFill>
            <a:schemeClr val="accent1"/>
          </a:solidFill>
          <a:ln/>
        </p:spPr>
      </p:sp>
      <p:pic>
        <p:nvPicPr>
          <p:cNvPr id="6" name="Skills intake tick" descr="Done">    </p:cNvPr>
          <p:cNvPicPr>
            <a:picLocks noChangeAspect="1"/>
          </p:cNvPicPr>
          <p:nvPr/>
        </p:nvPicPr>
        <p:blipFill>
          <a:blip r:embed="rId1"/>
          <a:stretch>
            <a:fillRect/>
          </a:stretch>
        </p:blipFill>
        <p:spPr>
          <a:xfrm>
            <a:off x="1030529" y="2185416"/>
            <a:ext cx="201168" cy="201168"/>
          </a:xfrm>
          <a:prstGeom prst="rect">
            <a:avLst/>
          </a:prstGeom>
        </p:spPr>
      </p:pic>
      <p:sp>
        <p:nvSpPr>
          <p:cNvPr id="7" name="Skills intake title"/>
          <p:cNvSpPr txBox="1"/>
          <p:nvPr/>
        </p:nvSpPr>
        <p:spPr>
          <a:xfrm>
            <a:off x="1570025" y="1783080"/>
            <a:ext cx="3154680" cy="1005840"/>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latin typeface="Calibri" pitchFamily="34" charset="0"/>
                <a:ea typeface="Calibri" pitchFamily="34" charset="-122"/>
                <a:cs typeface="Calibri" pitchFamily="34" charset="-120"/>
              </a:rPr>
              <a:t>Skills intake</a:t>
            </a:r>
            <a:endParaRPr lang="en-US" sz="1700" dirty="0"/>
          </a:p>
          <a:p>
            <a:pPr indent="0" marL="0">
              <a:spcAft>
                <a:spcPts val="300"/>
              </a:spcAft>
              <a:buNone/>
            </a:pPr>
            <a:r>
              <a:rPr lang="en-US" sz="1500" dirty="0">
                <a:solidFill>
                  <a:schemeClr val="tx1"/>
                </a:solidFill>
                <a:latin typeface="Calibri" pitchFamily="34" charset="0"/>
                <a:ea typeface="Calibri" pitchFamily="34" charset="-122"/>
                <a:cs typeface="Calibri" pitchFamily="34" charset="-120"/>
              </a:rPr>
              <a:t>Onboarding and résumé scan</a:t>
            </a:r>
            <a:endParaRPr lang="en-US" sz="1700" dirty="0"/>
          </a:p>
        </p:txBody>
      </p:sp>
      <p:sp>
        <p:nvSpPr>
          <p:cNvPr id="8" name="Skills intake screen shape"/>
          <p:cNvSpPr/>
          <p:nvPr/>
        </p:nvSpPr>
        <p:spPr>
          <a:xfrm>
            <a:off x="4907585" y="2084832"/>
            <a:ext cx="822960" cy="402336"/>
          </a:xfrm>
          <a:prstGeom prst="roundRect">
            <a:avLst>
              <a:gd name="adj" fmla="val 50000"/>
            </a:avLst>
          </a:prstGeom>
          <a:solidFill>
            <a:schemeClr val="accent2"/>
          </a:solidFill>
          <a:ln/>
        </p:spPr>
      </p:sp>
      <p:sp>
        <p:nvSpPr>
          <p:cNvPr id="9" name="Skills intake screen"/>
          <p:cNvSpPr txBox="1"/>
          <p:nvPr/>
        </p:nvSpPr>
        <p:spPr>
          <a:xfrm>
            <a:off x="4907585" y="2084832"/>
            <a:ext cx="822960" cy="402336"/>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You</a:t>
            </a:r>
            <a:endParaRPr lang="en-US" sz="1400" dirty="0"/>
          </a:p>
        </p:txBody>
      </p:sp>
      <p:sp>
        <p:nvSpPr>
          <p:cNvPr id="10" name="AI-trend signal layer card"/>
          <p:cNvSpPr/>
          <p:nvPr/>
        </p:nvSpPr>
        <p:spPr>
          <a:xfrm>
            <a:off x="6187745" y="1600200"/>
            <a:ext cx="5394960" cy="1371600"/>
          </a:xfrm>
          <a:prstGeom prst="roundRect">
            <a:avLst>
              <a:gd name="adj" fmla="val 17333"/>
            </a:avLst>
          </a:prstGeom>
          <a:solidFill>
            <a:schemeClr val="bg2"/>
          </a:solidFill>
          <a:ln/>
        </p:spPr>
      </p:sp>
      <p:sp>
        <p:nvSpPr>
          <p:cNvPr id="11" name="AI-trend signal layer tick circle"/>
          <p:cNvSpPr/>
          <p:nvPr/>
        </p:nvSpPr>
        <p:spPr>
          <a:xfrm>
            <a:off x="6462065" y="2039112"/>
            <a:ext cx="493776" cy="493776"/>
          </a:xfrm>
          <a:prstGeom prst="ellipse">
            <a:avLst/>
          </a:prstGeom>
          <a:solidFill>
            <a:schemeClr val="accent1"/>
          </a:solidFill>
          <a:ln/>
        </p:spPr>
      </p:sp>
      <p:pic>
        <p:nvPicPr>
          <p:cNvPr id="12" name="AI-trend signal layer tick" descr="Done">    </p:cNvPr>
          <p:cNvPicPr>
            <a:picLocks noChangeAspect="1"/>
          </p:cNvPicPr>
          <p:nvPr/>
        </p:nvPicPr>
        <p:blipFill>
          <a:blip r:embed="rId2"/>
          <a:stretch>
            <a:fillRect/>
          </a:stretch>
        </p:blipFill>
        <p:spPr>
          <a:xfrm>
            <a:off x="6608369" y="2185416"/>
            <a:ext cx="201168" cy="201168"/>
          </a:xfrm>
          <a:prstGeom prst="rect">
            <a:avLst/>
          </a:prstGeom>
        </p:spPr>
      </p:pic>
      <p:sp>
        <p:nvSpPr>
          <p:cNvPr id="13" name="AI-trend signal layer title"/>
          <p:cNvSpPr txBox="1"/>
          <p:nvPr/>
        </p:nvSpPr>
        <p:spPr>
          <a:xfrm>
            <a:off x="7147865" y="1783080"/>
            <a:ext cx="2240280" cy="1005840"/>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latin typeface="Calibri" pitchFamily="34" charset="0"/>
                <a:ea typeface="Calibri" pitchFamily="34" charset="-122"/>
                <a:cs typeface="Calibri" pitchFamily="34" charset="-120"/>
              </a:rPr>
              <a:t>AI-trend signal layer</a:t>
            </a:r>
            <a:endParaRPr lang="en-US" sz="1700" dirty="0"/>
          </a:p>
          <a:p>
            <a:pPr indent="0" marL="0">
              <a:spcAft>
                <a:spcPts val="300"/>
              </a:spcAft>
              <a:buNone/>
            </a:pPr>
            <a:r>
              <a:rPr lang="en-US" sz="1500" dirty="0">
                <a:solidFill>
                  <a:schemeClr val="tx1"/>
                </a:solidFill>
                <a:latin typeface="Calibri" pitchFamily="34" charset="0"/>
                <a:ea typeface="Calibri" pitchFamily="34" charset="-122"/>
                <a:cs typeface="Calibri" pitchFamily="34" charset="-120"/>
              </a:rPr>
              <a:t>Dated public sources</a:t>
            </a:r>
            <a:endParaRPr lang="en-US" sz="1700" dirty="0"/>
          </a:p>
        </p:txBody>
      </p:sp>
      <p:sp>
        <p:nvSpPr>
          <p:cNvPr id="14" name="AI-trend signal layer screen shape"/>
          <p:cNvSpPr/>
          <p:nvPr/>
        </p:nvSpPr>
        <p:spPr>
          <a:xfrm>
            <a:off x="9571025" y="2084832"/>
            <a:ext cx="1737360" cy="402336"/>
          </a:xfrm>
          <a:prstGeom prst="roundRect">
            <a:avLst>
              <a:gd name="adj" fmla="val 50000"/>
            </a:avLst>
          </a:prstGeom>
          <a:solidFill>
            <a:schemeClr val="accent2"/>
          </a:solidFill>
          <a:ln/>
        </p:spPr>
      </p:sp>
      <p:sp>
        <p:nvSpPr>
          <p:cNvPr id="15" name="AI-trend signal layer screen"/>
          <p:cNvSpPr txBox="1"/>
          <p:nvPr/>
        </p:nvSpPr>
        <p:spPr>
          <a:xfrm>
            <a:off x="9571025" y="2084832"/>
            <a:ext cx="1737360" cy="402336"/>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Trends · Sources</a:t>
            </a:r>
            <a:endParaRPr lang="en-US" sz="1400" dirty="0"/>
          </a:p>
        </p:txBody>
      </p:sp>
      <p:sp>
        <p:nvSpPr>
          <p:cNvPr id="16" name="Role matching and skills gap card"/>
          <p:cNvSpPr/>
          <p:nvPr/>
        </p:nvSpPr>
        <p:spPr>
          <a:xfrm>
            <a:off x="609905" y="3154680"/>
            <a:ext cx="5394960" cy="1371600"/>
          </a:xfrm>
          <a:prstGeom prst="roundRect">
            <a:avLst>
              <a:gd name="adj" fmla="val 17333"/>
            </a:avLst>
          </a:prstGeom>
          <a:solidFill>
            <a:schemeClr val="bg2"/>
          </a:solidFill>
          <a:ln/>
        </p:spPr>
      </p:sp>
      <p:sp>
        <p:nvSpPr>
          <p:cNvPr id="17" name="Role matching and skills gap tick circle"/>
          <p:cNvSpPr/>
          <p:nvPr/>
        </p:nvSpPr>
        <p:spPr>
          <a:xfrm>
            <a:off x="884225" y="3593592"/>
            <a:ext cx="493776" cy="493776"/>
          </a:xfrm>
          <a:prstGeom prst="ellipse">
            <a:avLst/>
          </a:prstGeom>
          <a:solidFill>
            <a:schemeClr val="accent1"/>
          </a:solidFill>
          <a:ln/>
        </p:spPr>
      </p:sp>
      <p:pic>
        <p:nvPicPr>
          <p:cNvPr id="18" name="Role matching and skills gap tick" descr="Done">    </p:cNvPr>
          <p:cNvPicPr>
            <a:picLocks noChangeAspect="1"/>
          </p:cNvPicPr>
          <p:nvPr/>
        </p:nvPicPr>
        <p:blipFill>
          <a:blip r:embed="rId3"/>
          <a:stretch>
            <a:fillRect/>
          </a:stretch>
        </p:blipFill>
        <p:spPr>
          <a:xfrm>
            <a:off x="1030529" y="3739896"/>
            <a:ext cx="201168" cy="201168"/>
          </a:xfrm>
          <a:prstGeom prst="rect">
            <a:avLst/>
          </a:prstGeom>
        </p:spPr>
      </p:pic>
      <p:sp>
        <p:nvSpPr>
          <p:cNvPr id="19" name="Role matching and skills gap title"/>
          <p:cNvSpPr txBox="1"/>
          <p:nvPr/>
        </p:nvSpPr>
        <p:spPr>
          <a:xfrm>
            <a:off x="1570025" y="3337560"/>
            <a:ext cx="3154680" cy="1005840"/>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latin typeface="Calibri" pitchFamily="34" charset="0"/>
                <a:ea typeface="Calibri" pitchFamily="34" charset="-122"/>
                <a:cs typeface="Calibri" pitchFamily="34" charset="-120"/>
              </a:rPr>
              <a:t>Role matching and skills gap</a:t>
            </a:r>
            <a:endParaRPr lang="en-US" sz="1700" dirty="0"/>
          </a:p>
          <a:p>
            <a:pPr indent="0" marL="0">
              <a:spcAft>
                <a:spcPts val="300"/>
              </a:spcAft>
              <a:buNone/>
            </a:pPr>
            <a:r>
              <a:rPr lang="en-US" sz="1500" dirty="0">
                <a:solidFill>
                  <a:schemeClr val="tx1"/>
                </a:solidFill>
                <a:latin typeface="Calibri" pitchFamily="34" charset="0"/>
                <a:ea typeface="Calibri" pitchFamily="34" charset="-122"/>
                <a:cs typeface="Calibri" pitchFamily="34" charset="-120"/>
              </a:rPr>
              <a:t>89 roles across 10 sectors</a:t>
            </a:r>
            <a:endParaRPr lang="en-US" sz="1700" dirty="0"/>
          </a:p>
        </p:txBody>
      </p:sp>
      <p:sp>
        <p:nvSpPr>
          <p:cNvPr id="20" name="Role matching and skills gap screen shape"/>
          <p:cNvSpPr/>
          <p:nvPr/>
        </p:nvSpPr>
        <p:spPr>
          <a:xfrm>
            <a:off x="4907585" y="3639312"/>
            <a:ext cx="822960" cy="402336"/>
          </a:xfrm>
          <a:prstGeom prst="roundRect">
            <a:avLst>
              <a:gd name="adj" fmla="val 50000"/>
            </a:avLst>
          </a:prstGeom>
          <a:solidFill>
            <a:schemeClr val="accent2"/>
          </a:solidFill>
          <a:ln/>
        </p:spPr>
      </p:sp>
      <p:sp>
        <p:nvSpPr>
          <p:cNvPr id="21" name="Role matching and skills gap screen"/>
          <p:cNvSpPr txBox="1"/>
          <p:nvPr/>
        </p:nvSpPr>
        <p:spPr>
          <a:xfrm>
            <a:off x="4907585" y="3639312"/>
            <a:ext cx="822960" cy="402336"/>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Jobs</a:t>
            </a:r>
            <a:endParaRPr lang="en-US" sz="1400" dirty="0"/>
          </a:p>
        </p:txBody>
      </p:sp>
      <p:sp>
        <p:nvSpPr>
          <p:cNvPr id="22" name="Reskilling pathway card"/>
          <p:cNvSpPr/>
          <p:nvPr/>
        </p:nvSpPr>
        <p:spPr>
          <a:xfrm>
            <a:off x="6187745" y="3154680"/>
            <a:ext cx="5394960" cy="1371600"/>
          </a:xfrm>
          <a:prstGeom prst="roundRect">
            <a:avLst>
              <a:gd name="adj" fmla="val 17333"/>
            </a:avLst>
          </a:prstGeom>
          <a:solidFill>
            <a:schemeClr val="bg2"/>
          </a:solidFill>
          <a:ln/>
        </p:spPr>
      </p:sp>
      <p:sp>
        <p:nvSpPr>
          <p:cNvPr id="23" name="Reskilling pathway tick circle"/>
          <p:cNvSpPr/>
          <p:nvPr/>
        </p:nvSpPr>
        <p:spPr>
          <a:xfrm>
            <a:off x="6462065" y="3593592"/>
            <a:ext cx="493776" cy="493776"/>
          </a:xfrm>
          <a:prstGeom prst="ellipse">
            <a:avLst/>
          </a:prstGeom>
          <a:solidFill>
            <a:schemeClr val="accent1"/>
          </a:solidFill>
          <a:ln/>
        </p:spPr>
      </p:sp>
      <p:pic>
        <p:nvPicPr>
          <p:cNvPr id="24" name="Reskilling pathway tick" descr="Done">    </p:cNvPr>
          <p:cNvPicPr>
            <a:picLocks noChangeAspect="1"/>
          </p:cNvPicPr>
          <p:nvPr/>
        </p:nvPicPr>
        <p:blipFill>
          <a:blip r:embed="rId4"/>
          <a:stretch>
            <a:fillRect/>
          </a:stretch>
        </p:blipFill>
        <p:spPr>
          <a:xfrm>
            <a:off x="6608369" y="3739896"/>
            <a:ext cx="201168" cy="201168"/>
          </a:xfrm>
          <a:prstGeom prst="rect">
            <a:avLst/>
          </a:prstGeom>
        </p:spPr>
      </p:pic>
      <p:sp>
        <p:nvSpPr>
          <p:cNvPr id="25" name="Reskilling pathway title"/>
          <p:cNvSpPr txBox="1"/>
          <p:nvPr/>
        </p:nvSpPr>
        <p:spPr>
          <a:xfrm>
            <a:off x="7147865" y="3337560"/>
            <a:ext cx="3154680" cy="1005840"/>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latin typeface="Calibri" pitchFamily="34" charset="0"/>
                <a:ea typeface="Calibri" pitchFamily="34" charset="-122"/>
                <a:cs typeface="Calibri" pitchFamily="34" charset="-120"/>
              </a:rPr>
              <a:t>Reskilling pathway</a:t>
            </a:r>
            <a:endParaRPr lang="en-US" sz="1700" dirty="0"/>
          </a:p>
          <a:p>
            <a:pPr indent="0" marL="0">
              <a:spcAft>
                <a:spcPts val="300"/>
              </a:spcAft>
              <a:buNone/>
            </a:pPr>
            <a:r>
              <a:rPr lang="en-US" sz="1500" dirty="0">
                <a:solidFill>
                  <a:schemeClr val="tx1"/>
                </a:solidFill>
                <a:latin typeface="Calibri" pitchFamily="34" charset="0"/>
                <a:ea typeface="Calibri" pitchFamily="34" charset="-122"/>
                <a:cs typeface="Calibri" pitchFamily="34" charset="-120"/>
              </a:rPr>
              <a:t>Week by week, free courses</a:t>
            </a:r>
            <a:endParaRPr lang="en-US" sz="1700" dirty="0"/>
          </a:p>
        </p:txBody>
      </p:sp>
      <p:sp>
        <p:nvSpPr>
          <p:cNvPr id="26" name="Reskilling pathway screen shape"/>
          <p:cNvSpPr/>
          <p:nvPr/>
        </p:nvSpPr>
        <p:spPr>
          <a:xfrm>
            <a:off x="10485425" y="3639312"/>
            <a:ext cx="822960" cy="402336"/>
          </a:xfrm>
          <a:prstGeom prst="roundRect">
            <a:avLst>
              <a:gd name="adj" fmla="val 50000"/>
            </a:avLst>
          </a:prstGeom>
          <a:solidFill>
            <a:schemeClr val="accent2"/>
          </a:solidFill>
          <a:ln/>
        </p:spPr>
      </p:sp>
      <p:sp>
        <p:nvSpPr>
          <p:cNvPr id="27" name="Reskilling pathway screen"/>
          <p:cNvSpPr txBox="1"/>
          <p:nvPr/>
        </p:nvSpPr>
        <p:spPr>
          <a:xfrm>
            <a:off x="10485425" y="3639312"/>
            <a:ext cx="822960" cy="402336"/>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Plan</a:t>
            </a:r>
            <a:endParaRPr lang="en-US" sz="1400" dirty="0"/>
          </a:p>
        </p:txBody>
      </p:sp>
      <p:sp>
        <p:nvSpPr>
          <p:cNvPr id="28" name="SDG mapping card"/>
          <p:cNvSpPr/>
          <p:nvPr/>
        </p:nvSpPr>
        <p:spPr>
          <a:xfrm>
            <a:off x="609905" y="4709160"/>
            <a:ext cx="5394960" cy="1371600"/>
          </a:xfrm>
          <a:prstGeom prst="roundRect">
            <a:avLst>
              <a:gd name="adj" fmla="val 17333"/>
            </a:avLst>
          </a:prstGeom>
          <a:solidFill>
            <a:schemeClr val="bg2"/>
          </a:solidFill>
          <a:ln/>
        </p:spPr>
      </p:sp>
      <p:sp>
        <p:nvSpPr>
          <p:cNvPr id="29" name="SDG mapping tick circle"/>
          <p:cNvSpPr/>
          <p:nvPr/>
        </p:nvSpPr>
        <p:spPr>
          <a:xfrm>
            <a:off x="884225" y="5148072"/>
            <a:ext cx="493776" cy="493776"/>
          </a:xfrm>
          <a:prstGeom prst="ellipse">
            <a:avLst/>
          </a:prstGeom>
          <a:solidFill>
            <a:schemeClr val="accent1"/>
          </a:solidFill>
          <a:ln/>
        </p:spPr>
      </p:sp>
      <p:pic>
        <p:nvPicPr>
          <p:cNvPr id="30" name="SDG mapping tick" descr="Done">    </p:cNvPr>
          <p:cNvPicPr>
            <a:picLocks noChangeAspect="1"/>
          </p:cNvPicPr>
          <p:nvPr/>
        </p:nvPicPr>
        <p:blipFill>
          <a:blip r:embed="rId5"/>
          <a:stretch>
            <a:fillRect/>
          </a:stretch>
        </p:blipFill>
        <p:spPr>
          <a:xfrm>
            <a:off x="1030529" y="5294376"/>
            <a:ext cx="201168" cy="201168"/>
          </a:xfrm>
          <a:prstGeom prst="rect">
            <a:avLst/>
          </a:prstGeom>
        </p:spPr>
      </p:pic>
      <p:sp>
        <p:nvSpPr>
          <p:cNvPr id="31" name="SDG mapping title"/>
          <p:cNvSpPr txBox="1"/>
          <p:nvPr/>
        </p:nvSpPr>
        <p:spPr>
          <a:xfrm>
            <a:off x="1570025" y="4892040"/>
            <a:ext cx="2606040" cy="1005840"/>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latin typeface="Calibri" pitchFamily="34" charset="0"/>
                <a:ea typeface="Calibri" pitchFamily="34" charset="-122"/>
                <a:cs typeface="Calibri" pitchFamily="34" charset="-120"/>
              </a:rPr>
              <a:t>SDG mapping</a:t>
            </a:r>
            <a:endParaRPr lang="en-US" sz="1700" dirty="0"/>
          </a:p>
          <a:p>
            <a:pPr indent="0" marL="0">
              <a:spcAft>
                <a:spcPts val="300"/>
              </a:spcAft>
              <a:buNone/>
            </a:pPr>
            <a:r>
              <a:rPr lang="en-US" sz="1500" dirty="0">
                <a:solidFill>
                  <a:schemeClr val="tx1"/>
                </a:solidFill>
                <a:latin typeface="Calibri" pitchFamily="34" charset="0"/>
                <a:ea typeface="Calibri" pitchFamily="34" charset="-122"/>
                <a:cs typeface="Calibri" pitchFamily="34" charset="-120"/>
              </a:rPr>
              <a:t>Goals 4, 8 and 10</a:t>
            </a:r>
            <a:endParaRPr lang="en-US" sz="1700" dirty="0"/>
          </a:p>
        </p:txBody>
      </p:sp>
      <p:sp>
        <p:nvSpPr>
          <p:cNvPr id="32" name="SDG mapping screen shape"/>
          <p:cNvSpPr/>
          <p:nvPr/>
        </p:nvSpPr>
        <p:spPr>
          <a:xfrm>
            <a:off x="4358945" y="5193792"/>
            <a:ext cx="1371600" cy="402336"/>
          </a:xfrm>
          <a:prstGeom prst="roundRect">
            <a:avLst>
              <a:gd name="adj" fmla="val 50000"/>
            </a:avLst>
          </a:prstGeom>
          <a:solidFill>
            <a:schemeClr val="accent2"/>
          </a:solidFill>
          <a:ln/>
        </p:spPr>
      </p:sp>
      <p:sp>
        <p:nvSpPr>
          <p:cNvPr id="33" name="SDG mapping screen"/>
          <p:cNvSpPr txBox="1"/>
          <p:nvPr/>
        </p:nvSpPr>
        <p:spPr>
          <a:xfrm>
            <a:off x="4358945" y="5193792"/>
            <a:ext cx="1371600" cy="402336"/>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Goals · Plan</a:t>
            </a:r>
            <a:endParaRPr lang="en-US" sz="1400" dirty="0"/>
          </a:p>
        </p:txBody>
      </p:sp>
      <p:sp>
        <p:nvSpPr>
          <p:cNvPr id="34" name="Multiple scenarios card"/>
          <p:cNvSpPr/>
          <p:nvPr/>
        </p:nvSpPr>
        <p:spPr>
          <a:xfrm>
            <a:off x="6187745" y="4709160"/>
            <a:ext cx="5394960" cy="1371600"/>
          </a:xfrm>
          <a:prstGeom prst="roundRect">
            <a:avLst>
              <a:gd name="adj" fmla="val 17333"/>
            </a:avLst>
          </a:prstGeom>
          <a:solidFill>
            <a:schemeClr val="bg2"/>
          </a:solidFill>
          <a:ln/>
        </p:spPr>
      </p:sp>
      <p:sp>
        <p:nvSpPr>
          <p:cNvPr id="35" name="Multiple scenarios tick circle"/>
          <p:cNvSpPr/>
          <p:nvPr/>
        </p:nvSpPr>
        <p:spPr>
          <a:xfrm>
            <a:off x="6462065" y="5148072"/>
            <a:ext cx="493776" cy="493776"/>
          </a:xfrm>
          <a:prstGeom prst="ellipse">
            <a:avLst/>
          </a:prstGeom>
          <a:solidFill>
            <a:schemeClr val="accent1"/>
          </a:solidFill>
          <a:ln/>
        </p:spPr>
      </p:sp>
      <p:pic>
        <p:nvPicPr>
          <p:cNvPr id="36" name="Multiple scenarios tick" descr="Done">    </p:cNvPr>
          <p:cNvPicPr>
            <a:picLocks noChangeAspect="1"/>
          </p:cNvPicPr>
          <p:nvPr/>
        </p:nvPicPr>
        <p:blipFill>
          <a:blip r:embed="rId6"/>
          <a:stretch>
            <a:fillRect/>
          </a:stretch>
        </p:blipFill>
        <p:spPr>
          <a:xfrm>
            <a:off x="6608369" y="5294376"/>
            <a:ext cx="201168" cy="201168"/>
          </a:xfrm>
          <a:prstGeom prst="rect">
            <a:avLst/>
          </a:prstGeom>
        </p:spPr>
      </p:pic>
      <p:sp>
        <p:nvSpPr>
          <p:cNvPr id="37" name="Multiple scenarios title"/>
          <p:cNvSpPr txBox="1"/>
          <p:nvPr/>
        </p:nvSpPr>
        <p:spPr>
          <a:xfrm>
            <a:off x="7147865" y="4892040"/>
            <a:ext cx="2971800" cy="1005840"/>
          </a:xfrm>
          <a:prstGeom prst="rect">
            <a:avLst/>
          </a:prstGeom>
          <a:noFill/>
          <a:ln/>
        </p:spPr>
        <p:txBody>
          <a:bodyPr wrap="square" lIns="0" tIns="0" rIns="0" bIns="0" rtlCol="0" anchor="ctr"/>
          <a:lstStyle/>
          <a:p>
            <a:pPr indent="0" marL="0">
              <a:spcAft>
                <a:spcPts val="300"/>
              </a:spcAft>
              <a:buNone/>
            </a:pPr>
            <a:r>
              <a:rPr lang="en-US" sz="1700" b="1" dirty="0">
                <a:solidFill>
                  <a:schemeClr val="tx1"/>
                </a:solidFill>
                <a:latin typeface="Calibri" pitchFamily="34" charset="0"/>
                <a:ea typeface="Calibri" pitchFamily="34" charset="-122"/>
                <a:cs typeface="Calibri" pitchFamily="34" charset="-120"/>
              </a:rPr>
              <a:t>Multiple scenarios</a:t>
            </a:r>
            <a:endParaRPr lang="en-US" sz="1700" dirty="0"/>
          </a:p>
          <a:p>
            <a:pPr indent="0" marL="0">
              <a:spcAft>
                <a:spcPts val="300"/>
              </a:spcAft>
              <a:buNone/>
            </a:pPr>
            <a:r>
              <a:rPr lang="en-US" sz="1500" dirty="0">
                <a:solidFill>
                  <a:schemeClr val="tx1"/>
                </a:solidFill>
                <a:latin typeface="Calibri" pitchFamily="34" charset="0"/>
                <a:ea typeface="Calibri" pitchFamily="34" charset="-122"/>
                <a:cs typeface="Calibri" pitchFamily="34" charset="-120"/>
              </a:rPr>
              <a:t>Slow, medium and fast AI</a:t>
            </a:r>
            <a:endParaRPr lang="en-US" sz="1700" dirty="0"/>
          </a:p>
        </p:txBody>
      </p:sp>
      <p:sp>
        <p:nvSpPr>
          <p:cNvPr id="38" name="Multiple scenarios screen shape"/>
          <p:cNvSpPr/>
          <p:nvPr/>
        </p:nvSpPr>
        <p:spPr>
          <a:xfrm>
            <a:off x="10302545" y="5193792"/>
            <a:ext cx="1005840" cy="402336"/>
          </a:xfrm>
          <a:prstGeom prst="roundRect">
            <a:avLst>
              <a:gd name="adj" fmla="val 50000"/>
            </a:avLst>
          </a:prstGeom>
          <a:solidFill>
            <a:schemeClr val="accent2"/>
          </a:solidFill>
          <a:ln/>
        </p:spPr>
      </p:sp>
      <p:sp>
        <p:nvSpPr>
          <p:cNvPr id="39" name="Multiple scenarios screen"/>
          <p:cNvSpPr txBox="1"/>
          <p:nvPr/>
        </p:nvSpPr>
        <p:spPr>
          <a:xfrm>
            <a:off x="10302545" y="5193792"/>
            <a:ext cx="1005840" cy="402336"/>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Futures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tx1"/>
                </a:solidFill>
                <a:latin typeface="Cambria" pitchFamily="34" charset="0"/>
                <a:ea typeface="Cambria" pitchFamily="34" charset="-122"/>
                <a:cs typeface="Cambria" pitchFamily="34" charset="-120"/>
              </a:rPr>
              <a:t>Every source is dated and replaceable</a:t>
            </a:r>
            <a:endParaRPr lang="en-US" sz="3600" dirty="0"/>
          </a:p>
        </p:txBody>
      </p:sp>
      <p:graphicFrame>
        <p:nvGraphicFramePr>
          <p:cNvPr id="8" name="Sources table"/>
          <p:cNvGraphicFramePr>
            <a:graphicFrameLocks noGrp="1"/>
          </p:cNvGraphicFramePr>
          <p:nvPr>
            <p:extLst>
              <p:ext uri="{D42A27DB-BD31-4B8C-83A1-F6EECF244321}">
                <p14:modId xmlns:p14="http://schemas.microsoft.com/office/powerpoint/2010/main" val="1579011935"/>
              </p:ext>
            </p:extLst>
          </p:nvPr>
        </p:nvGraphicFramePr>
        <p:xfrm>
          <a:off x="609905" y="1508760"/>
          <a:ext cx="10972800" cy="914400"/>
        </p:xfrm>
        <a:graphic>
          <a:graphicData uri="http://schemas.openxmlformats.org/drawingml/2006/table">
            <a:tbl>
              <a:tblPr/>
              <a:tblGrid>
                <a:gridCol w="2377440"/>
                <a:gridCol w="3474720"/>
                <a:gridCol w="2743200"/>
                <a:gridCol w="2377440"/>
              </a:tblGrid>
              <a:tr h="320040">
                <a:tc>
                  <a:txBody>
                    <a:bodyPr/>
                    <a:lstStyle/>
                    <a:p>
                      <a:pPr indent="0" marL="0">
                        <a:buNone/>
                      </a:pPr>
                      <a:r>
                        <a:rPr lang="en-US" sz="1200" dirty="0">
                          <a:solidFill>
                            <a:srgbClr val="547451"/>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182880" marR="137160" marT="0" marB="0">
                    <a:lnL w="0" cap="flat" cmpd="sng" algn="ctr">
                      <a:noFill/>
                    </a:lnL>
                    <a:lnR w="0" cap="flat" cmpd="sng" algn="ctr">
                      <a:noFill/>
                    </a:lnR>
                    <a:lnT w="0" cap="flat" cmpd="sng" algn="ctr">
                      <a:noFill/>
                    </a:lnT>
                    <a:lnB w="0" cap="flat" cmpd="sng" algn="ctr">
                      <a:noFill/>
                    </a:lnB>
                    <a:solidFill>
                      <a:srgbClr val="CBE4C6"/>
                    </a:solidFill>
                  </a:tcPr>
                </a:tc>
                <a:tc>
                  <a:txBody>
                    <a:bodyPr/>
                    <a:lstStyle/>
                    <a:p>
                      <a:pPr indent="0" marL="0">
                        <a:buNone/>
                      </a:pPr>
                      <a:r>
                        <a:rPr lang="en-US" sz="1200" dirty="0">
                          <a:solidFill>
                            <a:srgbClr val="547451"/>
                          </a:solidFill>
                          <a:latin typeface="Calibri" pitchFamily="34" charset="0"/>
                          <a:ea typeface="Calibri" pitchFamily="34" charset="-122"/>
                          <a:cs typeface="Calibri" pitchFamily="34" charset="-120"/>
                        </a:rPr>
                        <a:t>What it feeds</a:t>
                      </a:r>
                      <a:endParaRPr lang="en-US" sz="1200" dirty="0">
                        <a:latin typeface="Calibri" charset="0"/>
                        <a:ea typeface="Calibri" charset="0"/>
                        <a:cs typeface="Calibri" charset="0"/>
                      </a:endParaRPr>
                    </a:p>
                  </a:txBody>
                  <a:tcPr marL="182880" marR="137160" marT="0" marB="0">
                    <a:lnL w="0" cap="flat" cmpd="sng" algn="ctr">
                      <a:noFill/>
                    </a:lnL>
                    <a:lnR w="0" cap="flat" cmpd="sng" algn="ctr">
                      <a:noFill/>
                    </a:lnR>
                    <a:lnT w="0" cap="flat" cmpd="sng" algn="ctr">
                      <a:noFill/>
                    </a:lnT>
                    <a:lnB w="0" cap="flat" cmpd="sng" algn="ctr">
                      <a:noFill/>
                    </a:lnB>
                    <a:solidFill>
                      <a:srgbClr val="CBE4C6"/>
                    </a:solidFill>
                  </a:tcPr>
                </a:tc>
                <a:tc>
                  <a:txBody>
                    <a:bodyPr/>
                    <a:lstStyle/>
                    <a:p>
                      <a:pPr indent="0" marL="0">
                        <a:buNone/>
                      </a:pPr>
                      <a:r>
                        <a:rPr lang="en-US" sz="1200" dirty="0">
                          <a:solidFill>
                            <a:srgbClr val="547451"/>
                          </a:solidFill>
                          <a:latin typeface="Calibri" pitchFamily="34" charset="0"/>
                          <a:ea typeface="Calibri" pitchFamily="34" charset="-122"/>
                          <a:cs typeface="Calibri" pitchFamily="34" charset="-120"/>
                        </a:rPr>
                        <a:t>Latest release in the app</a:t>
                      </a:r>
                      <a:endParaRPr lang="en-US" sz="1200" dirty="0">
                        <a:latin typeface="Calibri" charset="0"/>
                        <a:ea typeface="Calibri" charset="0"/>
                        <a:cs typeface="Calibri" charset="0"/>
                      </a:endParaRPr>
                    </a:p>
                  </a:txBody>
                  <a:tcPr marL="182880" marR="137160" marT="0" marB="0">
                    <a:lnL w="0" cap="flat" cmpd="sng" algn="ctr">
                      <a:noFill/>
                    </a:lnL>
                    <a:lnR w="0" cap="flat" cmpd="sng" algn="ctr">
                      <a:noFill/>
                    </a:lnR>
                    <a:lnT w="0" cap="flat" cmpd="sng" algn="ctr">
                      <a:noFill/>
                    </a:lnT>
                    <a:lnB w="0" cap="flat" cmpd="sng" algn="ctr">
                      <a:noFill/>
                    </a:lnB>
                    <a:solidFill>
                      <a:srgbClr val="CBE4C6"/>
                    </a:solidFill>
                  </a:tcPr>
                </a:tc>
                <a:tc>
                  <a:txBody>
                    <a:bodyPr/>
                    <a:lstStyle/>
                    <a:p>
                      <a:pPr indent="0" marL="0">
                        <a:buNone/>
                      </a:pPr>
                      <a:r>
                        <a:rPr lang="en-US" sz="1200" dirty="0">
                          <a:solidFill>
                            <a:srgbClr val="547451"/>
                          </a:solidFill>
                          <a:latin typeface="Calibri" pitchFamily="34" charset="0"/>
                          <a:ea typeface="Calibri" pitchFamily="34" charset="-122"/>
                          <a:cs typeface="Calibri" pitchFamily="34" charset="-120"/>
                        </a:rPr>
                        <a:t>Next</a:t>
                      </a:r>
                      <a:endParaRPr lang="en-US" sz="1200" dirty="0">
                        <a:latin typeface="Calibri" charset="0"/>
                        <a:ea typeface="Calibri" charset="0"/>
                        <a:cs typeface="Calibri" charset="0"/>
                      </a:endParaRPr>
                    </a:p>
                  </a:txBody>
                  <a:tcPr marL="182880" marR="137160" marT="0" marB="0">
                    <a:lnL w="0" cap="flat" cmpd="sng" algn="ctr">
                      <a:noFill/>
                    </a:lnL>
                    <a:lnR w="0" cap="flat" cmpd="sng" algn="ctr">
                      <a:noFill/>
                    </a:lnR>
                    <a:lnT w="0" cap="flat" cmpd="sng" algn="ctr">
                      <a:noFill/>
                    </a:lnT>
                    <a:lnB w="0" cap="flat" cmpd="sng" algn="ctr">
                      <a:noFill/>
                    </a:lnB>
                    <a:solidFill>
                      <a:srgbClr val="CBE4C6"/>
                    </a:solidFill>
                  </a:tcPr>
                </a:tc>
              </a:tr>
              <a:tr h="566928">
                <a:tc>
                  <a:txBody>
                    <a:bodyPr/>
                    <a:lstStyle/>
                    <a:p>
                      <a:pPr indent="0" marL="0">
                        <a:buNone/>
                      </a:pPr>
                      <a:r>
                        <a:rPr lang="en-US" sz="1600" b="1" dirty="0">
                          <a:solidFill>
                            <a:srgbClr val="203B2B"/>
                          </a:solidFill>
                          <a:latin typeface="Calibri" pitchFamily="34" charset="0"/>
                          <a:ea typeface="Calibri" pitchFamily="34" charset="-122"/>
                          <a:cs typeface="Calibri" pitchFamily="34" charset="-120"/>
                        </a:rPr>
                        <a:t>ILO</a:t>
                      </a:r>
                      <a:endParaRPr lang="en-US" sz="16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How much of each job generative AI could do</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b="1" dirty="0">
                          <a:solidFill>
                            <a:srgbClr val="203B2B"/>
                          </a:solidFill>
                          <a:latin typeface="Calibri" pitchFamily="34" charset="0"/>
                          <a:ea typeface="Calibri" pitchFamily="34" charset="-122"/>
                          <a:cs typeface="Calibri" pitchFamily="34" charset="-120"/>
                        </a:rPr>
                        <a:t>2025 exposure scores (WP 140)</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Next edition</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r>
              <a:tr h="566928">
                <a:tc>
                  <a:txBody>
                    <a:bodyPr/>
                    <a:lstStyle/>
                    <a:p>
                      <a:pPr indent="0" marL="0">
                        <a:buNone/>
                      </a:pPr>
                      <a:r>
                        <a:rPr lang="en-US" sz="1600" b="1" dirty="0">
                          <a:solidFill>
                            <a:srgbClr val="203B2B"/>
                          </a:solidFill>
                          <a:latin typeface="Calibri" pitchFamily="34" charset="0"/>
                          <a:ea typeface="Calibri" pitchFamily="34" charset="-122"/>
                          <a:cs typeface="Calibri" pitchFamily="34" charset="-120"/>
                        </a:rPr>
                        <a:t>Anthropic Economic Index</a:t>
                      </a:r>
                      <a:endParaRPr lang="en-US" sz="16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Which tasks people really use AI for</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b="1" dirty="0">
                          <a:solidFill>
                            <a:srgbClr val="203B2B"/>
                          </a:solidFill>
                          <a:latin typeface="Calibri" pitchFamily="34" charset="0"/>
                          <a:ea typeface="Calibri" pitchFamily="34" charset="-122"/>
                          <a:cs typeface="Calibri" pitchFamily="34" charset="-120"/>
                        </a:rPr>
                        <a:t>Release of 10 Feb 2025</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Newer release queued</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r>
              <a:tr h="566928">
                <a:tc>
                  <a:txBody>
                    <a:bodyPr/>
                    <a:lstStyle/>
                    <a:p>
                      <a:pPr indent="0" marL="0">
                        <a:buNone/>
                      </a:pPr>
                      <a:r>
                        <a:rPr lang="en-US" sz="1600" b="1" dirty="0">
                          <a:solidFill>
                            <a:srgbClr val="203B2B"/>
                          </a:solidFill>
                          <a:latin typeface="Calibri" pitchFamily="34" charset="0"/>
                          <a:ea typeface="Calibri" pitchFamily="34" charset="-122"/>
                          <a:cs typeface="Calibri" pitchFamily="34" charset="-120"/>
                        </a:rPr>
                        <a:t>METR / Epoch AI</a:t>
                      </a:r>
                      <a:endParaRPr lang="en-US" sz="16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How fast AI is improving</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b="1" dirty="0">
                          <a:solidFill>
                            <a:srgbClr val="203B2B"/>
                          </a:solidFill>
                          <a:latin typeface="Calibri" pitchFamily="34" charset="0"/>
                          <a:ea typeface="Calibri" pitchFamily="34" charset="-122"/>
                          <a:cs typeface="Calibri" pitchFamily="34" charset="-120"/>
                        </a:rPr>
                        <a:t>Models to 15 Oct 2026</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Jan 2027</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r>
              <a:tr h="566928">
                <a:tc>
                  <a:txBody>
                    <a:bodyPr/>
                    <a:lstStyle/>
                    <a:p>
                      <a:pPr indent="0" marL="0">
                        <a:buNone/>
                      </a:pPr>
                      <a:r>
                        <a:rPr lang="en-US" sz="1600" b="1" dirty="0">
                          <a:solidFill>
                            <a:srgbClr val="203B2B"/>
                          </a:solidFill>
                          <a:latin typeface="Calibri" pitchFamily="34" charset="0"/>
                          <a:ea typeface="Calibri" pitchFamily="34" charset="-122"/>
                          <a:cs typeface="Calibri" pitchFamily="34" charset="-120"/>
                        </a:rPr>
                        <a:t>DOSM</a:t>
                      </a:r>
                      <a:endParaRPr lang="en-US" sz="16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Job ads by occupation, every quarter</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b="1" dirty="0">
                          <a:solidFill>
                            <a:srgbClr val="203B2B"/>
                          </a:solidFill>
                          <a:latin typeface="Calibri" pitchFamily="34" charset="0"/>
                          <a:ea typeface="Calibri" pitchFamily="34" charset="-122"/>
                          <a:cs typeface="Calibri" pitchFamily="34" charset="-120"/>
                        </a:rPr>
                        <a:t>2026 Q2, published 18 Aug 2026</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17 Nov 2026</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r>
              <a:tr h="566928">
                <a:tc>
                  <a:txBody>
                    <a:bodyPr/>
                    <a:lstStyle/>
                    <a:p>
                      <a:pPr indent="0" marL="0">
                        <a:buNone/>
                      </a:pPr>
                      <a:r>
                        <a:rPr lang="en-US" sz="1600" b="1" dirty="0">
                          <a:solidFill>
                            <a:srgbClr val="203B2B"/>
                          </a:solidFill>
                          <a:latin typeface="Calibri" pitchFamily="34" charset="0"/>
                          <a:ea typeface="Calibri" pitchFamily="34" charset="-122"/>
                          <a:cs typeface="Calibri" pitchFamily="34" charset="-120"/>
                        </a:rPr>
                        <a:t>MyCOL</a:t>
                      </a:r>
                      <a:endParaRPr lang="en-US" sz="16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Hard-to-fill occupations in Malaysia</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b="1" dirty="0">
                          <a:solidFill>
                            <a:srgbClr val="203B2B"/>
                          </a:solidFill>
                          <a:latin typeface="Calibri" pitchFamily="34" charset="0"/>
                          <a:ea typeface="Calibri" pitchFamily="34" charset="-122"/>
                          <a:cs typeface="Calibri" pitchFamily="34" charset="-120"/>
                        </a:rPr>
                        <a:t>2024/2025 list</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Queued, not loaded yet</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r>
              <a:tr h="566928">
                <a:tc>
                  <a:txBody>
                    <a:bodyPr/>
                    <a:lstStyle/>
                    <a:p>
                      <a:pPr indent="0" marL="0">
                        <a:buNone/>
                      </a:pPr>
                      <a:r>
                        <a:rPr lang="en-US" sz="1600" b="1" dirty="0">
                          <a:solidFill>
                            <a:srgbClr val="203B2B"/>
                          </a:solidFill>
                          <a:latin typeface="Calibri" pitchFamily="34" charset="0"/>
                          <a:ea typeface="Calibri" pitchFamily="34" charset="-122"/>
                          <a:cs typeface="Calibri" pitchFamily="34" charset="-120"/>
                        </a:rPr>
                        <a:t>O*NET</a:t>
                      </a:r>
                      <a:endParaRPr lang="en-US" sz="16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Role codes and task lists for 89 roles</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b="1" dirty="0">
                          <a:solidFill>
                            <a:srgbClr val="203B2B"/>
                          </a:solidFill>
                          <a:latin typeface="Calibri" pitchFamily="34" charset="0"/>
                          <a:ea typeface="Calibri" pitchFamily="34" charset="-122"/>
                          <a:cs typeface="Calibri" pitchFamily="34" charset="-120"/>
                        </a:rPr>
                        <a:t>As bundled in the Feb 2025 Index</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c>
                  <a:txBody>
                    <a:bodyPr/>
                    <a:lstStyle/>
                    <a:p>
                      <a:pPr indent="0" marL="0">
                        <a:buNone/>
                      </a:pPr>
                      <a:r>
                        <a:rPr lang="en-US" sz="1400" dirty="0">
                          <a:solidFill>
                            <a:srgbClr val="203B2B"/>
                          </a:solidFill>
                          <a:latin typeface="Calibri" pitchFamily="34" charset="0"/>
                          <a:ea typeface="Calibri" pitchFamily="34" charset="-122"/>
                          <a:cs typeface="Calibri" pitchFamily="34" charset="-120"/>
                        </a:rPr>
                        <a:t>With the next Index</a:t>
                      </a:r>
                      <a:endParaRPr lang="en-US" sz="1400" dirty="0">
                        <a:latin typeface="Calibri" charset="0"/>
                        <a:ea typeface="Calibri" charset="0"/>
                        <a:cs typeface="Calibri" charset="0"/>
                      </a:endParaRPr>
                    </a:p>
                  </a:txBody>
                  <a:tcPr marL="182880" marR="137160" marT="0" marB="0" anchor="ctr">
                    <a:lnL w="0" cap="flat" cmpd="sng" algn="ctr">
                      <a:noFill/>
                    </a:lnL>
                    <a:lnR w="0" cap="flat" cmpd="sng" algn="ctr">
                      <a:noFill/>
                    </a:lnR>
                    <a:lnT w="0" cap="flat" cmpd="sng" algn="ctr">
                      <a:noFill/>
                    </a:lnT>
                    <a:lnB w="63500" cap="flat" cmpd="sng" algn="ctr">
                      <a:solidFill>
                        <a:srgbClr val="CBE4C6"/>
                      </a:solidFill>
                      <a:prstDash val="solid"/>
                      <a:round/>
                      <a:headEnd type="none" w="med" len="med"/>
                      <a:tailEnd type="none" w="med" len="med"/>
                    </a:lnB>
                    <a:solidFill>
                      <a:srgbClr val="FFFDF8"/>
                    </a:solidFill>
                  </a:tcPr>
                </a:tc>
              </a:tr>
            </a:tbl>
          </a:graphicData>
        </a:graphic>
      </p:graphicFrame>
      <p:sp>
        <p:nvSpPr>
          <p:cNvPr id="5" name="One command pill shape"/>
          <p:cNvSpPr/>
          <p:nvPr/>
        </p:nvSpPr>
        <p:spPr>
          <a:xfrm>
            <a:off x="609905" y="5760720"/>
            <a:ext cx="1737360" cy="457200"/>
          </a:xfrm>
          <a:prstGeom prst="roundRect">
            <a:avLst>
              <a:gd name="adj" fmla="val 50000"/>
            </a:avLst>
          </a:prstGeom>
          <a:solidFill>
            <a:schemeClr val="accent1"/>
          </a:solidFill>
          <a:ln/>
        </p:spPr>
      </p:sp>
      <p:sp>
        <p:nvSpPr>
          <p:cNvPr id="6" name="One command pill"/>
          <p:cNvSpPr txBox="1"/>
          <p:nvPr/>
        </p:nvSpPr>
        <p:spPr>
          <a:xfrm>
            <a:off x="609905" y="5760720"/>
            <a:ext cx="173736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One command</a:t>
            </a:r>
            <a:endParaRPr lang="en-US" sz="1500" dirty="0"/>
          </a:p>
        </p:txBody>
      </p:sp>
      <p:sp>
        <p:nvSpPr>
          <p:cNvPr id="7" name="Update note"/>
          <p:cNvSpPr txBox="1"/>
          <p:nvPr/>
        </p:nvSpPr>
        <p:spPr>
          <a:xfrm>
            <a:off x="2575865" y="5669280"/>
            <a:ext cx="9006840" cy="6400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Drop in the next workbook and run the build. Open questions settle, the futures re-weight, and every plan recomputes.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tx1"/>
                </a:solidFill>
                <a:latin typeface="Cambria" pitchFamily="34" charset="0"/>
                <a:ea typeface="Cambria" pitchFamily="34" charset="-122"/>
                <a:cs typeface="Cambria" pitchFamily="34" charset="-120"/>
              </a:rPr>
              <a:t>A small, tested stack anyone can rerun</a:t>
            </a:r>
            <a:endParaRPr lang="en-US" sz="3600" dirty="0"/>
          </a:p>
        </p:txBody>
      </p:sp>
      <p:sp>
        <p:nvSpPr>
          <p:cNvPr id="4" name="Public releases box"/>
          <p:cNvSpPr/>
          <p:nvPr/>
        </p:nvSpPr>
        <p:spPr>
          <a:xfrm>
            <a:off x="609905" y="1554480"/>
            <a:ext cx="1600200" cy="2788920"/>
          </a:xfrm>
          <a:prstGeom prst="roundRect">
            <a:avLst>
              <a:gd name="adj" fmla="val 14857"/>
            </a:avLst>
          </a:prstGeom>
          <a:solidFill>
            <a:schemeClr val="bg2"/>
          </a:solidFill>
          <a:ln/>
        </p:spPr>
      </p:sp>
      <p:sp>
        <p:nvSpPr>
          <p:cNvPr id="5" name="Public releases heading"/>
          <p:cNvSpPr txBox="1"/>
          <p:nvPr/>
        </p:nvSpPr>
        <p:spPr>
          <a:xfrm>
            <a:off x="792785" y="1737360"/>
            <a:ext cx="1234440" cy="5943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Public releases</a:t>
            </a:r>
            <a:endParaRPr lang="en-US" sz="1600" dirty="0"/>
          </a:p>
        </p:txBody>
      </p:sp>
      <p:sp>
        <p:nvSpPr>
          <p:cNvPr id="6" name="Public releases body"/>
          <p:cNvSpPr txBox="1"/>
          <p:nvPr/>
        </p:nvSpPr>
        <p:spPr>
          <a:xfrm>
            <a:off x="792785" y="2423160"/>
            <a:ext cx="1234440" cy="1783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DOSM workbooks, Epoch AI data, ILO and Anthropic indexes</a:t>
            </a:r>
            <a:endParaRPr lang="en-US" sz="1400" dirty="0"/>
          </a:p>
        </p:txBody>
      </p:sp>
      <p:sp>
        <p:nvSpPr>
          <p:cNvPr id="7" name="Flow arrow 1"/>
          <p:cNvSpPr/>
          <p:nvPr/>
        </p:nvSpPr>
        <p:spPr>
          <a:xfrm>
            <a:off x="2226107" y="2793492"/>
            <a:ext cx="310896" cy="310896"/>
          </a:xfrm>
          <a:prstGeom prst="ellipse">
            <a:avLst/>
          </a:prstGeom>
          <a:solidFill>
            <a:schemeClr val="accent2"/>
          </a:solidFill>
          <a:ln/>
        </p:spPr>
      </p:sp>
      <p:sp>
        <p:nvSpPr>
          <p:cNvPr id="8" name="Flow arrow glyph 1"/>
          <p:cNvSpPr txBox="1"/>
          <p:nvPr/>
        </p:nvSpPr>
        <p:spPr>
          <a:xfrm>
            <a:off x="2226107" y="2793492"/>
            <a:ext cx="310896" cy="310896"/>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a:t>
            </a:r>
            <a:endParaRPr lang="en-US" sz="1600" dirty="0"/>
          </a:p>
        </p:txBody>
      </p:sp>
      <p:sp>
        <p:nvSpPr>
          <p:cNvPr id="9" name="Data pipeline box"/>
          <p:cNvSpPr/>
          <p:nvPr/>
        </p:nvSpPr>
        <p:spPr>
          <a:xfrm>
            <a:off x="2553005" y="1554480"/>
            <a:ext cx="1600200" cy="2788920"/>
          </a:xfrm>
          <a:prstGeom prst="roundRect">
            <a:avLst>
              <a:gd name="adj" fmla="val 14857"/>
            </a:avLst>
          </a:prstGeom>
          <a:solidFill>
            <a:schemeClr val="bg2"/>
          </a:solidFill>
          <a:ln/>
        </p:spPr>
      </p:sp>
      <p:sp>
        <p:nvSpPr>
          <p:cNvPr id="10" name="Data pipeline heading"/>
          <p:cNvSpPr txBox="1"/>
          <p:nvPr/>
        </p:nvSpPr>
        <p:spPr>
          <a:xfrm>
            <a:off x="2735885" y="1737360"/>
            <a:ext cx="1234440" cy="5943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Data pipeline</a:t>
            </a:r>
            <a:endParaRPr lang="en-US" sz="1600" dirty="0"/>
          </a:p>
        </p:txBody>
      </p:sp>
      <p:sp>
        <p:nvSpPr>
          <p:cNvPr id="11" name="Data pipeline body"/>
          <p:cNvSpPr txBox="1"/>
          <p:nvPr/>
        </p:nvSpPr>
        <p:spPr>
          <a:xfrm>
            <a:off x="2735885" y="2423160"/>
            <a:ext cx="1234440" cy="1783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Node scripts turn raw downloads into dated JSON snapshots in the repo</a:t>
            </a:r>
            <a:endParaRPr lang="en-US" sz="1400" dirty="0"/>
          </a:p>
        </p:txBody>
      </p:sp>
      <p:sp>
        <p:nvSpPr>
          <p:cNvPr id="12" name="Flow arrow 2"/>
          <p:cNvSpPr/>
          <p:nvPr/>
        </p:nvSpPr>
        <p:spPr>
          <a:xfrm>
            <a:off x="4169207" y="2793492"/>
            <a:ext cx="310896" cy="310896"/>
          </a:xfrm>
          <a:prstGeom prst="ellipse">
            <a:avLst/>
          </a:prstGeom>
          <a:solidFill>
            <a:schemeClr val="accent2"/>
          </a:solidFill>
          <a:ln/>
        </p:spPr>
      </p:sp>
      <p:sp>
        <p:nvSpPr>
          <p:cNvPr id="13" name="Flow arrow glyph 2"/>
          <p:cNvSpPr txBox="1"/>
          <p:nvPr/>
        </p:nvSpPr>
        <p:spPr>
          <a:xfrm>
            <a:off x="4169207" y="2793492"/>
            <a:ext cx="310896" cy="310896"/>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a:t>
            </a:r>
            <a:endParaRPr lang="en-US" sz="1600" dirty="0"/>
          </a:p>
        </p:txBody>
      </p:sp>
      <p:sp>
        <p:nvSpPr>
          <p:cNvPr id="14" name="Engine, pure TypeScript box"/>
          <p:cNvSpPr/>
          <p:nvPr/>
        </p:nvSpPr>
        <p:spPr>
          <a:xfrm>
            <a:off x="4496105" y="1554480"/>
            <a:ext cx="3200400" cy="2788920"/>
          </a:xfrm>
          <a:prstGeom prst="roundRect">
            <a:avLst>
              <a:gd name="adj" fmla="val 8525"/>
            </a:avLst>
          </a:prstGeom>
          <a:solidFill>
            <a:schemeClr val="accent1"/>
          </a:solidFill>
          <a:ln/>
        </p:spPr>
      </p:sp>
      <p:sp>
        <p:nvSpPr>
          <p:cNvPr id="15" name="Engine, pure TypeScript heading"/>
          <p:cNvSpPr txBox="1"/>
          <p:nvPr/>
        </p:nvSpPr>
        <p:spPr>
          <a:xfrm>
            <a:off x="4678985" y="1737360"/>
            <a:ext cx="2834640" cy="5943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Engine, pure TypeScript</a:t>
            </a:r>
            <a:endParaRPr lang="en-US" sz="1600" dirty="0"/>
          </a:p>
        </p:txBody>
      </p:sp>
      <p:sp>
        <p:nvSpPr>
          <p:cNvPr id="16" name="View chip"/>
          <p:cNvSpPr/>
          <p:nvPr/>
        </p:nvSpPr>
        <p:spPr>
          <a:xfrm>
            <a:off x="4678985" y="2377440"/>
            <a:ext cx="2834640" cy="548640"/>
          </a:xfrm>
          <a:prstGeom prst="roundRect">
            <a:avLst>
              <a:gd name="adj" fmla="val 26667"/>
            </a:avLst>
          </a:prstGeom>
          <a:solidFill>
            <a:schemeClr val="bg2"/>
          </a:solidFill>
          <a:ln/>
        </p:spPr>
      </p:sp>
      <p:sp>
        <p:nvSpPr>
          <p:cNvPr id="17" name="View chip text"/>
          <p:cNvSpPr txBox="1"/>
          <p:nvPr/>
        </p:nvSpPr>
        <p:spPr>
          <a:xfrm>
            <a:off x="4816145" y="2377440"/>
            <a:ext cx="2560320" cy="5486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View</a:t>
            </a:r>
            <a:pPr indent="0" marL="0">
              <a:buNone/>
            </a:pPr>
            <a:r>
              <a:rPr lang="en-US" sz="1400" dirty="0">
                <a:solidFill>
                  <a:schemeClr val="tx1"/>
                </a:solidFill>
                <a:latin typeface="Calibri" pitchFamily="34" charset="0"/>
                <a:ea typeface="Calibri" pitchFamily="34" charset="-122"/>
                <a:cs typeface="Calibri" pitchFamily="34" charset="-120"/>
              </a:rPr>
              <a:t>  ·  expiry dates, matching, plan</a:t>
            </a:r>
            <a:endParaRPr lang="en-US" sz="1400" dirty="0"/>
          </a:p>
        </p:txBody>
      </p:sp>
      <p:sp>
        <p:nvSpPr>
          <p:cNvPr id="18" name="Tape chip"/>
          <p:cNvSpPr/>
          <p:nvPr/>
        </p:nvSpPr>
        <p:spPr>
          <a:xfrm>
            <a:off x="4678985" y="3008376"/>
            <a:ext cx="2834640" cy="548640"/>
          </a:xfrm>
          <a:prstGeom prst="roundRect">
            <a:avLst>
              <a:gd name="adj" fmla="val 26667"/>
            </a:avLst>
          </a:prstGeom>
          <a:solidFill>
            <a:schemeClr val="bg2"/>
          </a:solidFill>
          <a:ln/>
        </p:spPr>
      </p:sp>
      <p:sp>
        <p:nvSpPr>
          <p:cNvPr id="19" name="Tape chip text"/>
          <p:cNvSpPr txBox="1"/>
          <p:nvPr/>
        </p:nvSpPr>
        <p:spPr>
          <a:xfrm>
            <a:off x="4816145" y="3008376"/>
            <a:ext cx="2560320" cy="5486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Tape</a:t>
            </a:r>
            <a:pPr indent="0" marL="0">
              <a:buNone/>
            </a:pPr>
            <a:r>
              <a:rPr lang="en-US" sz="1400" dirty="0">
                <a:solidFill>
                  <a:schemeClr val="tx1"/>
                </a:solidFill>
                <a:latin typeface="Calibri" pitchFamily="34" charset="0"/>
                <a:ea typeface="Calibri" pitchFamily="34" charset="-122"/>
                <a:cs typeface="Calibri" pitchFamily="34" charset="-120"/>
              </a:rPr>
              <a:t>  ·  live trades and history replay</a:t>
            </a:r>
            <a:endParaRPr lang="en-US" sz="1400" dirty="0"/>
          </a:p>
        </p:txBody>
      </p:sp>
      <p:sp>
        <p:nvSpPr>
          <p:cNvPr id="20" name="Market chip"/>
          <p:cNvSpPr/>
          <p:nvPr/>
        </p:nvSpPr>
        <p:spPr>
          <a:xfrm>
            <a:off x="4678985" y="3639312"/>
            <a:ext cx="2834640" cy="548640"/>
          </a:xfrm>
          <a:prstGeom prst="roundRect">
            <a:avLst>
              <a:gd name="adj" fmla="val 26667"/>
            </a:avLst>
          </a:prstGeom>
          <a:solidFill>
            <a:schemeClr val="bg2"/>
          </a:solidFill>
          <a:ln/>
        </p:spPr>
      </p:sp>
      <p:sp>
        <p:nvSpPr>
          <p:cNvPr id="21" name="Market chip text"/>
          <p:cNvSpPr txBox="1"/>
          <p:nvPr/>
        </p:nvSpPr>
        <p:spPr>
          <a:xfrm>
            <a:off x="4816145" y="3639312"/>
            <a:ext cx="2560320" cy="5486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Market</a:t>
            </a:r>
            <a:pPr indent="0" marL="0">
              <a:buNone/>
            </a:pPr>
            <a:r>
              <a:rPr lang="en-US" sz="1400" dirty="0">
                <a:solidFill>
                  <a:schemeClr val="tx1"/>
                </a:solidFill>
                <a:latin typeface="Calibri" pitchFamily="34" charset="0"/>
                <a:ea typeface="Calibri" pitchFamily="34" charset="-122"/>
                <a:cs typeface="Calibri" pitchFamily="34" charset="-120"/>
              </a:rPr>
              <a:t>  ·  LMSR prices, settlement, futures weights</a:t>
            </a:r>
            <a:endParaRPr lang="en-US" sz="1400" dirty="0"/>
          </a:p>
        </p:txBody>
      </p:sp>
      <p:sp>
        <p:nvSpPr>
          <p:cNvPr id="22" name="Flow arrow 3"/>
          <p:cNvSpPr/>
          <p:nvPr/>
        </p:nvSpPr>
        <p:spPr>
          <a:xfrm>
            <a:off x="7712507" y="2793492"/>
            <a:ext cx="310896" cy="310896"/>
          </a:xfrm>
          <a:prstGeom prst="ellipse">
            <a:avLst/>
          </a:prstGeom>
          <a:solidFill>
            <a:schemeClr val="accent2"/>
          </a:solidFill>
          <a:ln/>
        </p:spPr>
      </p:sp>
      <p:sp>
        <p:nvSpPr>
          <p:cNvPr id="23" name="Flow arrow glyph 3"/>
          <p:cNvSpPr txBox="1"/>
          <p:nvPr/>
        </p:nvSpPr>
        <p:spPr>
          <a:xfrm>
            <a:off x="7712507" y="2793492"/>
            <a:ext cx="310896" cy="310896"/>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a:t>
            </a:r>
            <a:endParaRPr lang="en-US" sz="1600" dirty="0"/>
          </a:p>
        </p:txBody>
      </p:sp>
      <p:sp>
        <p:nvSpPr>
          <p:cNvPr id="24" name="Next.js 16 app box"/>
          <p:cNvSpPr/>
          <p:nvPr/>
        </p:nvSpPr>
        <p:spPr>
          <a:xfrm>
            <a:off x="8039405" y="1554480"/>
            <a:ext cx="1600200" cy="2788920"/>
          </a:xfrm>
          <a:prstGeom prst="roundRect">
            <a:avLst>
              <a:gd name="adj" fmla="val 14857"/>
            </a:avLst>
          </a:prstGeom>
          <a:solidFill>
            <a:schemeClr val="bg2"/>
          </a:solidFill>
          <a:ln/>
        </p:spPr>
      </p:sp>
      <p:sp>
        <p:nvSpPr>
          <p:cNvPr id="25" name="Next.js 16 app heading"/>
          <p:cNvSpPr txBox="1"/>
          <p:nvPr/>
        </p:nvSpPr>
        <p:spPr>
          <a:xfrm>
            <a:off x="8222285" y="1737360"/>
            <a:ext cx="1234440" cy="5943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Next.js 16 app</a:t>
            </a:r>
            <a:endParaRPr lang="en-US" sz="1600" dirty="0"/>
          </a:p>
        </p:txBody>
      </p:sp>
      <p:sp>
        <p:nvSpPr>
          <p:cNvPr id="26" name="Next.js 16 app body"/>
          <p:cNvSpPr txBox="1"/>
          <p:nvPr/>
        </p:nvSpPr>
        <p:spPr>
          <a:xfrm>
            <a:off x="8222285" y="2423160"/>
            <a:ext cx="1234440" cy="1783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React 19, API routes, a hand-drawn SVG map of Malaysia</a:t>
            </a:r>
            <a:endParaRPr lang="en-US" sz="1400" dirty="0"/>
          </a:p>
        </p:txBody>
      </p:sp>
      <p:sp>
        <p:nvSpPr>
          <p:cNvPr id="27" name="Flow arrow 4"/>
          <p:cNvSpPr/>
          <p:nvPr/>
        </p:nvSpPr>
        <p:spPr>
          <a:xfrm>
            <a:off x="9655607" y="2793492"/>
            <a:ext cx="310896" cy="310896"/>
          </a:xfrm>
          <a:prstGeom prst="ellipse">
            <a:avLst/>
          </a:prstGeom>
          <a:solidFill>
            <a:schemeClr val="accent2"/>
          </a:solidFill>
          <a:ln/>
        </p:spPr>
      </p:sp>
      <p:sp>
        <p:nvSpPr>
          <p:cNvPr id="28" name="Flow arrow glyph 4"/>
          <p:cNvSpPr txBox="1"/>
          <p:nvPr/>
        </p:nvSpPr>
        <p:spPr>
          <a:xfrm>
            <a:off x="9655607" y="2793492"/>
            <a:ext cx="310896" cy="310896"/>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a:t>
            </a:r>
            <a:endParaRPr lang="en-US" sz="1600" dirty="0"/>
          </a:p>
        </p:txBody>
      </p:sp>
      <p:sp>
        <p:nvSpPr>
          <p:cNvPr id="29" name="Replit box"/>
          <p:cNvSpPr/>
          <p:nvPr/>
        </p:nvSpPr>
        <p:spPr>
          <a:xfrm>
            <a:off x="9982505" y="1554480"/>
            <a:ext cx="1600200" cy="2788920"/>
          </a:xfrm>
          <a:prstGeom prst="roundRect">
            <a:avLst>
              <a:gd name="adj" fmla="val 14857"/>
            </a:avLst>
          </a:prstGeom>
          <a:solidFill>
            <a:schemeClr val="bg2"/>
          </a:solidFill>
          <a:ln/>
        </p:spPr>
      </p:sp>
      <p:sp>
        <p:nvSpPr>
          <p:cNvPr id="30" name="Replit heading"/>
          <p:cNvSpPr txBox="1"/>
          <p:nvPr/>
        </p:nvSpPr>
        <p:spPr>
          <a:xfrm>
            <a:off x="10165385" y="1737360"/>
            <a:ext cx="1234440" cy="5943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Replit</a:t>
            </a:r>
            <a:endParaRPr lang="en-US" sz="1600" dirty="0"/>
          </a:p>
        </p:txBody>
      </p:sp>
      <p:sp>
        <p:nvSpPr>
          <p:cNvPr id="31" name="Replit body"/>
          <p:cNvSpPr txBox="1"/>
          <p:nvPr/>
        </p:nvSpPr>
        <p:spPr>
          <a:xfrm>
            <a:off x="10165385" y="2423160"/>
            <a:ext cx="1234440" cy="1783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Hosted with Postgres and signed sessions. No GPU needed</a:t>
            </a:r>
            <a:endParaRPr lang="en-US" sz="1400" dirty="0"/>
          </a:p>
        </p:txBody>
      </p:sp>
      <p:sp>
        <p:nvSpPr>
          <p:cNvPr id="32" name="Tests fact"/>
          <p:cNvSpPr/>
          <p:nvPr/>
        </p:nvSpPr>
        <p:spPr>
          <a:xfrm>
            <a:off x="609905" y="4572000"/>
            <a:ext cx="3108960" cy="1737360"/>
          </a:xfrm>
          <a:prstGeom prst="roundRect">
            <a:avLst>
              <a:gd name="adj" fmla="val 13684"/>
            </a:avLst>
          </a:prstGeom>
          <a:solidFill>
            <a:schemeClr val="accent1"/>
          </a:solidFill>
          <a:ln/>
        </p:spPr>
      </p:sp>
      <p:sp>
        <p:nvSpPr>
          <p:cNvPr id="33" name="Tests number"/>
          <p:cNvSpPr txBox="1"/>
          <p:nvPr/>
        </p:nvSpPr>
        <p:spPr>
          <a:xfrm>
            <a:off x="929945" y="4709160"/>
            <a:ext cx="2743200" cy="731520"/>
          </a:xfrm>
          <a:prstGeom prst="rect">
            <a:avLst/>
          </a:prstGeom>
          <a:noFill/>
          <a:ln/>
        </p:spPr>
        <p:txBody>
          <a:bodyPr wrap="square" lIns="0" tIns="0" rIns="0" bIns="0" rtlCol="0" anchor="ctr"/>
          <a:lstStyle/>
          <a:p>
            <a:pPr indent="0" marL="0">
              <a:buNone/>
            </a:pPr>
            <a:r>
              <a:rPr lang="en-US" sz="4400" dirty="0">
                <a:solidFill>
                  <a:schemeClr val="bg1"/>
                </a:solidFill>
                <a:latin typeface="Cambria" pitchFamily="34" charset="0"/>
                <a:ea typeface="Cambria" pitchFamily="34" charset="-122"/>
                <a:cs typeface="Cambria" pitchFamily="34" charset="-120"/>
              </a:rPr>
              <a:t>81</a:t>
            </a:r>
            <a:endParaRPr lang="en-US" sz="4400" dirty="0"/>
          </a:p>
        </p:txBody>
      </p:sp>
      <p:sp>
        <p:nvSpPr>
          <p:cNvPr id="34" name="Tests detail"/>
          <p:cNvSpPr txBox="1"/>
          <p:nvPr/>
        </p:nvSpPr>
        <p:spPr>
          <a:xfrm>
            <a:off x="929945" y="5468112"/>
            <a:ext cx="2468880" cy="7315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tests pass: fairness, market maths, futures, replay, matching, plan and log</a:t>
            </a:r>
            <a:endParaRPr lang="en-US" sz="1400" dirty="0"/>
          </a:p>
        </p:txBody>
      </p:sp>
      <p:sp>
        <p:nvSpPr>
          <p:cNvPr id="35" name="No-AI fact"/>
          <p:cNvSpPr/>
          <p:nvPr/>
        </p:nvSpPr>
        <p:spPr>
          <a:xfrm>
            <a:off x="3901745" y="4572000"/>
            <a:ext cx="3108960" cy="1737360"/>
          </a:xfrm>
          <a:prstGeom prst="roundRect">
            <a:avLst>
              <a:gd name="adj" fmla="val 13684"/>
            </a:avLst>
          </a:prstGeom>
          <a:solidFill>
            <a:schemeClr val="accent4"/>
          </a:solidFill>
          <a:ln/>
        </p:spPr>
      </p:sp>
      <p:sp>
        <p:nvSpPr>
          <p:cNvPr id="36" name="No-AI number"/>
          <p:cNvSpPr txBox="1"/>
          <p:nvPr/>
        </p:nvSpPr>
        <p:spPr>
          <a:xfrm>
            <a:off x="4221785" y="4709160"/>
            <a:ext cx="2743200" cy="731520"/>
          </a:xfrm>
          <a:prstGeom prst="rect">
            <a:avLst/>
          </a:prstGeom>
          <a:noFill/>
          <a:ln/>
        </p:spPr>
        <p:txBody>
          <a:bodyPr wrap="square" lIns="0" tIns="0" rIns="0" bIns="0" rtlCol="0" anchor="ctr"/>
          <a:lstStyle/>
          <a:p>
            <a:pPr indent="0" marL="0">
              <a:buNone/>
            </a:pPr>
            <a:r>
              <a:rPr lang="en-US" sz="4400" dirty="0">
                <a:solidFill>
                  <a:schemeClr val="tx1"/>
                </a:solidFill>
                <a:latin typeface="Cambria" pitchFamily="34" charset="0"/>
                <a:ea typeface="Cambria" pitchFamily="34" charset="-122"/>
                <a:cs typeface="Cambria" pitchFamily="34" charset="-120"/>
              </a:rPr>
              <a:t>0</a:t>
            </a:r>
            <a:endParaRPr lang="en-US" sz="4400" dirty="0"/>
          </a:p>
        </p:txBody>
      </p:sp>
      <p:sp>
        <p:nvSpPr>
          <p:cNvPr id="37" name="No-AI detail"/>
          <p:cNvSpPr txBox="1"/>
          <p:nvPr/>
        </p:nvSpPr>
        <p:spPr>
          <a:xfrm>
            <a:off x="4221785" y="5468112"/>
            <a:ext cx="246888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AI models at run time. Rules you can read and rerun</a:t>
            </a:r>
            <a:endParaRPr lang="en-US" sz="1400" dirty="0"/>
          </a:p>
        </p:txBody>
      </p:sp>
      <p:sp>
        <p:nvSpPr>
          <p:cNvPr id="38" name="Open source fact"/>
          <p:cNvSpPr/>
          <p:nvPr/>
        </p:nvSpPr>
        <p:spPr>
          <a:xfrm>
            <a:off x="7193585" y="4572000"/>
            <a:ext cx="4389120" cy="1737360"/>
          </a:xfrm>
          <a:prstGeom prst="roundRect">
            <a:avLst>
              <a:gd name="adj" fmla="val 13684"/>
            </a:avLst>
          </a:prstGeom>
          <a:solidFill>
            <a:schemeClr val="accent2"/>
          </a:solidFill>
          <a:ln/>
        </p:spPr>
      </p:sp>
      <p:sp>
        <p:nvSpPr>
          <p:cNvPr id="39" name="Open source heading"/>
          <p:cNvSpPr txBox="1"/>
          <p:nvPr/>
        </p:nvSpPr>
        <p:spPr>
          <a:xfrm>
            <a:off x="7513625" y="4983480"/>
            <a:ext cx="3749040" cy="4572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Open source, Apache 2.0</a:t>
            </a:r>
            <a:endParaRPr lang="en-US" sz="2000" dirty="0"/>
          </a:p>
        </p:txBody>
      </p:sp>
      <p:sp>
        <p:nvSpPr>
          <p:cNvPr id="40" name="GitHub link"/>
          <p:cNvSpPr txBox="1"/>
          <p:nvPr/>
        </p:nvSpPr>
        <p:spPr>
          <a:xfrm>
            <a:off x="7513625" y="5486400"/>
            <a:ext cx="3749040" cy="457200"/>
          </a:xfrm>
          <a:prstGeom prst="rect">
            <a:avLst/>
          </a:prstGeom>
          <a:noFill/>
          <a:ln/>
        </p:spPr>
        <p:txBody>
          <a:bodyPr wrap="square" lIns="0" tIns="0" rIns="0" bIns="0" rtlCol="0" anchor="ctr"/>
          <a:lstStyle/>
          <a:p>
            <a:pPr indent="0" marL="0">
              <a:buNone/>
            </a:pPr>
            <a:r>
              <a:rPr lang="en-US" sz="1400" u="sng" dirty="0">
                <a:solidFill>
                  <a:schemeClr val="tx1"/>
                </a:solidFill>
                <a:latin typeface="Calibri" pitchFamily="34" charset="0"/>
                <a:ea typeface="Calibri" pitchFamily="34" charset="-122"/>
                <a:cs typeface="Calibri" pitchFamily="34" charset="-120"/>
                <a:hlinkClick r:id="rId1" invalidUrl="" action="" tgtFrame="" tooltip="Open the repository" history="1" highlightClick="0" endSnd="0">
                  <a:extLst>
                    <a:ext uri="{A12FA001-AC4F-418D-AE19-62706E023703}">
                      <ahyp:hlinkClr xmlns:ahyp="http://schemas.microsoft.com/office/drawing/2018/hyperlinkcolor" val="tx"/>
                    </a:ext>
                  </a:extLst>
                </a:hlinkClick>
              </a:rPr>
              <a:t>github.com/yabgzichien/SDCHack-slaynergy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bg1"/>
                </a:solidFill>
                <a:latin typeface="Cambria" pitchFamily="34" charset="0"/>
                <a:ea typeface="Cambria" pitchFamily="34" charset="-122"/>
                <a:cs typeface="Cambria" pitchFamily="34" charset="-120"/>
              </a:rPr>
              <a:t>People stay in control at every step</a:t>
            </a:r>
            <a:endParaRPr lang="en-US" sz="3600" dirty="0"/>
          </a:p>
        </p:txBody>
      </p:sp>
      <p:sp>
        <p:nvSpPr>
          <p:cNvPr id="4" name="You choose your path card"/>
          <p:cNvSpPr/>
          <p:nvPr/>
        </p:nvSpPr>
        <p:spPr>
          <a:xfrm>
            <a:off x="609905" y="1600200"/>
            <a:ext cx="5394960" cy="2240280"/>
          </a:xfrm>
          <a:prstGeom prst="roundRect">
            <a:avLst>
              <a:gd name="adj" fmla="val 11429"/>
            </a:avLst>
          </a:prstGeom>
          <a:solidFill>
            <a:schemeClr val="bg2"/>
          </a:solidFill>
          <a:ln/>
        </p:spPr>
      </p:sp>
      <p:sp>
        <p:nvSpPr>
          <p:cNvPr id="5" name="You choose your path heading"/>
          <p:cNvSpPr txBox="1"/>
          <p:nvPr/>
        </p:nvSpPr>
        <p:spPr>
          <a:xfrm>
            <a:off x="975665" y="1828800"/>
            <a:ext cx="4663440" cy="502920"/>
          </a:xfrm>
          <a:prstGeom prst="rect">
            <a:avLst/>
          </a:prstGeom>
          <a:noFill/>
          <a:ln/>
        </p:spPr>
        <p:txBody>
          <a:bodyPr wrap="square" lIns="0" tIns="0" rIns="0" bIns="0" rtlCol="0" anchor="t"/>
          <a:lstStyle/>
          <a:p>
            <a:pPr indent="0" marL="0">
              <a:buNone/>
            </a:pPr>
            <a:r>
              <a:rPr lang="en-US" sz="2400" dirty="0">
                <a:solidFill>
                  <a:schemeClr val="tx1"/>
                </a:solidFill>
                <a:latin typeface="Cambria" pitchFamily="34" charset="0"/>
                <a:ea typeface="Cambria" pitchFamily="34" charset="-122"/>
                <a:cs typeface="Cambria" pitchFamily="34" charset="-120"/>
              </a:rPr>
              <a:t>You choose your path</a:t>
            </a:r>
            <a:endParaRPr lang="en-US" sz="2400" dirty="0"/>
          </a:p>
        </p:txBody>
      </p:sp>
      <p:sp>
        <p:nvSpPr>
          <p:cNvPr id="6" name="You choose your path detail"/>
          <p:cNvSpPr txBox="1"/>
          <p:nvPr/>
        </p:nvSpPr>
        <p:spPr>
          <a:xfrm>
            <a:off x="975665" y="2377440"/>
            <a:ext cx="466344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Jobbery ranks and explains. It never picks a job for you. Swap any course, switch futures, choose the goals you care about.</a:t>
            </a:r>
            <a:endParaRPr lang="en-US" sz="1600" dirty="0"/>
          </a:p>
        </p:txBody>
      </p:sp>
      <p:sp>
        <p:nvSpPr>
          <p:cNvPr id="7" name="You choose your path tag shape"/>
          <p:cNvSpPr/>
          <p:nvPr/>
        </p:nvSpPr>
        <p:spPr>
          <a:xfrm>
            <a:off x="975665" y="3310128"/>
            <a:ext cx="1147572" cy="347472"/>
          </a:xfrm>
          <a:prstGeom prst="roundRect">
            <a:avLst>
              <a:gd name="adj" fmla="val 50000"/>
            </a:avLst>
          </a:prstGeom>
          <a:solidFill>
            <a:schemeClr val="accent1"/>
          </a:solidFill>
          <a:ln/>
        </p:spPr>
      </p:sp>
      <p:sp>
        <p:nvSpPr>
          <p:cNvPr id="8" name="You choose your path tag"/>
          <p:cNvSpPr txBox="1"/>
          <p:nvPr/>
        </p:nvSpPr>
        <p:spPr>
          <a:xfrm>
            <a:off x="975665" y="3310128"/>
            <a:ext cx="1147572"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Your call</a:t>
            </a:r>
            <a:endParaRPr lang="en-US" sz="1200" dirty="0"/>
          </a:p>
        </p:txBody>
      </p:sp>
      <p:sp>
        <p:nvSpPr>
          <p:cNvPr id="9" name="An advisor, on your terms card"/>
          <p:cNvSpPr/>
          <p:nvPr/>
        </p:nvSpPr>
        <p:spPr>
          <a:xfrm>
            <a:off x="6187745" y="1600200"/>
            <a:ext cx="5394960" cy="2240280"/>
          </a:xfrm>
          <a:prstGeom prst="roundRect">
            <a:avLst>
              <a:gd name="adj" fmla="val 11429"/>
            </a:avLst>
          </a:prstGeom>
          <a:solidFill>
            <a:schemeClr val="bg2"/>
          </a:solidFill>
          <a:ln/>
        </p:spPr>
      </p:sp>
      <p:sp>
        <p:nvSpPr>
          <p:cNvPr id="10" name="An advisor, on your terms heading"/>
          <p:cNvSpPr txBox="1"/>
          <p:nvPr/>
        </p:nvSpPr>
        <p:spPr>
          <a:xfrm>
            <a:off x="6553505" y="1828800"/>
            <a:ext cx="4663440" cy="502920"/>
          </a:xfrm>
          <a:prstGeom prst="rect">
            <a:avLst/>
          </a:prstGeom>
          <a:noFill/>
          <a:ln/>
        </p:spPr>
        <p:txBody>
          <a:bodyPr wrap="square" lIns="0" tIns="0" rIns="0" bIns="0" rtlCol="0" anchor="t"/>
          <a:lstStyle/>
          <a:p>
            <a:pPr indent="0" marL="0">
              <a:buNone/>
            </a:pPr>
            <a:r>
              <a:rPr lang="en-US" sz="2400" dirty="0">
                <a:solidFill>
                  <a:schemeClr val="tx1"/>
                </a:solidFill>
                <a:latin typeface="Cambria" pitchFamily="34" charset="0"/>
                <a:ea typeface="Cambria" pitchFamily="34" charset="-122"/>
                <a:cs typeface="Cambria" pitchFamily="34" charset="-120"/>
              </a:rPr>
              <a:t>An advisor, on your terms</a:t>
            </a:r>
            <a:endParaRPr lang="en-US" sz="2400" dirty="0"/>
          </a:p>
        </p:txBody>
      </p:sp>
      <p:sp>
        <p:nvSpPr>
          <p:cNvPr id="11" name="An advisor, on your terms detail"/>
          <p:cNvSpPr txBox="1"/>
          <p:nvPr/>
        </p:nvSpPr>
        <p:spPr>
          <a:xfrm>
            <a:off x="6553505" y="2377440"/>
            <a:ext cx="466344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Book a 30-minute meeting any time. The advisor’s advice appears on your plan, and nothing waits for anyone’s approval.</a:t>
            </a:r>
            <a:endParaRPr lang="en-US" sz="1600" dirty="0"/>
          </a:p>
        </p:txBody>
      </p:sp>
      <p:sp>
        <p:nvSpPr>
          <p:cNvPr id="12" name="An advisor, on your terms tag shape"/>
          <p:cNvSpPr/>
          <p:nvPr/>
        </p:nvSpPr>
        <p:spPr>
          <a:xfrm>
            <a:off x="6553505" y="3310128"/>
            <a:ext cx="1668780" cy="347472"/>
          </a:xfrm>
          <a:prstGeom prst="roundRect">
            <a:avLst>
              <a:gd name="adj" fmla="val 50000"/>
            </a:avLst>
          </a:prstGeom>
          <a:solidFill>
            <a:schemeClr val="accent1"/>
          </a:solidFill>
          <a:ln/>
        </p:spPr>
      </p:sp>
      <p:sp>
        <p:nvSpPr>
          <p:cNvPr id="13" name="An advisor, on your terms tag"/>
          <p:cNvSpPr txBox="1"/>
          <p:nvPr/>
        </p:nvSpPr>
        <p:spPr>
          <a:xfrm>
            <a:off x="6553505" y="3310128"/>
            <a:ext cx="166878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30-minute slots</a:t>
            </a:r>
            <a:endParaRPr lang="en-US" sz="1200" dirty="0"/>
          </a:p>
        </p:txBody>
      </p:sp>
      <p:sp>
        <p:nvSpPr>
          <p:cNvPr id="14" name="Résumés are never stored card"/>
          <p:cNvSpPr/>
          <p:nvPr/>
        </p:nvSpPr>
        <p:spPr>
          <a:xfrm>
            <a:off x="609905" y="4023360"/>
            <a:ext cx="5394960" cy="2240280"/>
          </a:xfrm>
          <a:prstGeom prst="roundRect">
            <a:avLst>
              <a:gd name="adj" fmla="val 11429"/>
            </a:avLst>
          </a:prstGeom>
          <a:solidFill>
            <a:schemeClr val="bg2"/>
          </a:solidFill>
          <a:ln/>
        </p:spPr>
      </p:sp>
      <p:sp>
        <p:nvSpPr>
          <p:cNvPr id="15" name="Résumés are never stored heading"/>
          <p:cNvSpPr txBox="1"/>
          <p:nvPr/>
        </p:nvSpPr>
        <p:spPr>
          <a:xfrm>
            <a:off x="975665" y="4251960"/>
            <a:ext cx="4663440" cy="502920"/>
          </a:xfrm>
          <a:prstGeom prst="rect">
            <a:avLst/>
          </a:prstGeom>
          <a:noFill/>
          <a:ln/>
        </p:spPr>
        <p:txBody>
          <a:bodyPr wrap="square" lIns="0" tIns="0" rIns="0" bIns="0" rtlCol="0" anchor="t"/>
          <a:lstStyle/>
          <a:p>
            <a:pPr indent="0" marL="0">
              <a:buNone/>
            </a:pPr>
            <a:r>
              <a:rPr lang="en-US" sz="2400" dirty="0">
                <a:solidFill>
                  <a:schemeClr val="tx1"/>
                </a:solidFill>
                <a:latin typeface="Cambria" pitchFamily="34" charset="0"/>
                <a:ea typeface="Cambria" pitchFamily="34" charset="-122"/>
                <a:cs typeface="Cambria" pitchFamily="34" charset="-120"/>
              </a:rPr>
              <a:t>Résumés are never stored</a:t>
            </a:r>
            <a:endParaRPr lang="en-US" sz="2400" dirty="0"/>
          </a:p>
        </p:txBody>
      </p:sp>
      <p:sp>
        <p:nvSpPr>
          <p:cNvPr id="16" name="Résumés are never stored detail"/>
          <p:cNvSpPr txBox="1"/>
          <p:nvPr/>
        </p:nvSpPr>
        <p:spPr>
          <a:xfrm>
            <a:off x="975665" y="4800600"/>
            <a:ext cx="466344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Read in memory for the scan, then dropped. Only the score and the skills you confirm are kept.</a:t>
            </a:r>
            <a:endParaRPr lang="en-US" sz="1600" dirty="0"/>
          </a:p>
        </p:txBody>
      </p:sp>
      <p:sp>
        <p:nvSpPr>
          <p:cNvPr id="17" name="Résumés are never stored tag shape"/>
          <p:cNvSpPr/>
          <p:nvPr/>
        </p:nvSpPr>
        <p:spPr>
          <a:xfrm>
            <a:off x="975665" y="5733288"/>
            <a:ext cx="1321308" cy="347472"/>
          </a:xfrm>
          <a:prstGeom prst="roundRect">
            <a:avLst>
              <a:gd name="adj" fmla="val 50000"/>
            </a:avLst>
          </a:prstGeom>
          <a:solidFill>
            <a:schemeClr val="accent1"/>
          </a:solidFill>
          <a:ln/>
        </p:spPr>
      </p:sp>
      <p:sp>
        <p:nvSpPr>
          <p:cNvPr id="18" name="Résumés are never stored tag"/>
          <p:cNvSpPr txBox="1"/>
          <p:nvPr/>
        </p:nvSpPr>
        <p:spPr>
          <a:xfrm>
            <a:off x="975665" y="5733288"/>
            <a:ext cx="1321308"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Never saved</a:t>
            </a:r>
            <a:endParaRPr lang="en-US" sz="1200" dirty="0"/>
          </a:p>
        </p:txBody>
      </p:sp>
      <p:sp>
        <p:nvSpPr>
          <p:cNvPr id="19" name="Fair by test card"/>
          <p:cNvSpPr/>
          <p:nvPr/>
        </p:nvSpPr>
        <p:spPr>
          <a:xfrm>
            <a:off x="6187745" y="4023360"/>
            <a:ext cx="5394960" cy="2240280"/>
          </a:xfrm>
          <a:prstGeom prst="roundRect">
            <a:avLst>
              <a:gd name="adj" fmla="val 11429"/>
            </a:avLst>
          </a:prstGeom>
          <a:solidFill>
            <a:schemeClr val="accent2"/>
          </a:solidFill>
          <a:ln/>
        </p:spPr>
      </p:sp>
      <p:sp>
        <p:nvSpPr>
          <p:cNvPr id="20" name="Fair by test heading"/>
          <p:cNvSpPr txBox="1"/>
          <p:nvPr/>
        </p:nvSpPr>
        <p:spPr>
          <a:xfrm>
            <a:off x="6553505" y="4251960"/>
            <a:ext cx="4663440" cy="502920"/>
          </a:xfrm>
          <a:prstGeom prst="rect">
            <a:avLst/>
          </a:prstGeom>
          <a:noFill/>
          <a:ln/>
        </p:spPr>
        <p:txBody>
          <a:bodyPr wrap="square" lIns="0" tIns="0" rIns="0" bIns="0" rtlCol="0" anchor="t"/>
          <a:lstStyle/>
          <a:p>
            <a:pPr indent="0" marL="0">
              <a:buNone/>
            </a:pPr>
            <a:r>
              <a:rPr lang="en-US" sz="2400" dirty="0">
                <a:solidFill>
                  <a:schemeClr val="tx1"/>
                </a:solidFill>
                <a:latin typeface="Cambria" pitchFamily="34" charset="0"/>
                <a:ea typeface="Cambria" pitchFamily="34" charset="-122"/>
                <a:cs typeface="Cambria" pitchFamily="34" charset="-120"/>
              </a:rPr>
              <a:t>Fair by test</a:t>
            </a:r>
            <a:endParaRPr lang="en-US" sz="2400" dirty="0"/>
          </a:p>
        </p:txBody>
      </p:sp>
      <p:sp>
        <p:nvSpPr>
          <p:cNvPr id="21" name="Fair by test detail"/>
          <p:cNvSpPr txBox="1"/>
          <p:nvPr/>
        </p:nvSpPr>
        <p:spPr>
          <a:xfrm>
            <a:off x="6553505" y="4800600"/>
            <a:ext cx="466344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Age, gender and background are never inputs. 42 of 42 profile pairs gave identical rankings and scores.</a:t>
            </a:r>
            <a:endParaRPr lang="en-US" sz="1600" dirty="0"/>
          </a:p>
        </p:txBody>
      </p:sp>
      <p:sp>
        <p:nvSpPr>
          <p:cNvPr id="22" name="Fair by test tag shape"/>
          <p:cNvSpPr/>
          <p:nvPr/>
        </p:nvSpPr>
        <p:spPr>
          <a:xfrm>
            <a:off x="6553505" y="5733288"/>
            <a:ext cx="2016252" cy="347472"/>
          </a:xfrm>
          <a:prstGeom prst="roundRect">
            <a:avLst>
              <a:gd name="adj" fmla="val 50000"/>
            </a:avLst>
          </a:prstGeom>
          <a:solidFill>
            <a:schemeClr val="tx1"/>
          </a:solidFill>
          <a:ln/>
        </p:spPr>
      </p:sp>
      <p:sp>
        <p:nvSpPr>
          <p:cNvPr id="23" name="Fair by test tag"/>
          <p:cNvSpPr txBox="1"/>
          <p:nvPr/>
        </p:nvSpPr>
        <p:spPr>
          <a:xfrm>
            <a:off x="6553505" y="5733288"/>
            <a:ext cx="2016252"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Tested on every run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tx1"/>
                </a:solidFill>
                <a:latin typeface="Cambria" pitchFamily="34" charset="0"/>
                <a:ea typeface="Cambria" pitchFamily="34" charset="-122"/>
                <a:cs typeface="Cambria" pitchFamily="34" charset="-120"/>
              </a:rPr>
              <a:t>The hardest risks, and the fallback for each</a:t>
            </a:r>
            <a:endParaRPr lang="en-US" sz="3600" dirty="0"/>
          </a:p>
        </p:txBody>
      </p:sp>
      <p:sp>
        <p:nvSpPr>
          <p:cNvPr id="4" name="Risk card 1"/>
          <p:cNvSpPr/>
          <p:nvPr/>
        </p:nvSpPr>
        <p:spPr>
          <a:xfrm>
            <a:off x="609905" y="1600200"/>
            <a:ext cx="5029200" cy="1463040"/>
          </a:xfrm>
          <a:prstGeom prst="roundRect">
            <a:avLst>
              <a:gd name="adj" fmla="val 16250"/>
            </a:avLst>
          </a:prstGeom>
          <a:solidFill>
            <a:schemeClr val="accent6"/>
          </a:solidFill>
          <a:ln/>
        </p:spPr>
      </p:sp>
      <p:sp>
        <p:nvSpPr>
          <p:cNvPr id="5" name="Risk text 1"/>
          <p:cNvSpPr txBox="1"/>
          <p:nvPr/>
        </p:nvSpPr>
        <p:spPr>
          <a:xfrm>
            <a:off x="884225" y="1737360"/>
            <a:ext cx="4480560" cy="1188720"/>
          </a:xfrm>
          <a:prstGeom prst="rect">
            <a:avLst/>
          </a:prstGeom>
          <a:noFill/>
          <a:ln/>
        </p:spPr>
        <p:txBody>
          <a:bodyPr wrap="square" lIns="0" tIns="0" rIns="0" bIns="0" rtlCol="0" anchor="ctr"/>
          <a:lstStyle/>
          <a:p>
            <a:pPr indent="0" marL="0">
              <a:spcAft>
                <a:spcPts val="400"/>
              </a:spcAft>
              <a:buNone/>
            </a:pPr>
            <a:r>
              <a:rPr lang="en-US" sz="1800" b="1" dirty="0">
                <a:solidFill>
                  <a:srgbClr val="6B3D08"/>
                </a:solidFill>
                <a:latin typeface="Calibri" pitchFamily="34" charset="0"/>
                <a:ea typeface="Calibri" pitchFamily="34" charset="-122"/>
                <a:cs typeface="Calibri" pitchFamily="34" charset="-120"/>
              </a:rPr>
              <a:t>Official data comes out rarely</a:t>
            </a:r>
            <a:endParaRPr lang="en-US" sz="1800" dirty="0"/>
          </a:p>
          <a:p>
            <a:pPr indent="0" marL="0">
              <a:spcAft>
                <a:spcPts val="400"/>
              </a:spcAft>
              <a:buNone/>
            </a:pPr>
            <a:r>
              <a:rPr lang="en-US" sz="1400" dirty="0">
                <a:solidFill>
                  <a:srgbClr val="6B3D08"/>
                </a:solidFill>
                <a:latin typeface="Calibri" pitchFamily="34" charset="0"/>
                <a:ea typeface="Calibri" pitchFamily="34" charset="-122"/>
                <a:cs typeface="Calibri" pitchFamily="34" charset="-120"/>
              </a:rPr>
              <a:t>DOSM publishes once a quarter and Epoch AI about as often, so a live market could sit idle.</a:t>
            </a:r>
            <a:endParaRPr lang="en-US" sz="1800" dirty="0"/>
          </a:p>
        </p:txBody>
      </p:sp>
      <p:sp>
        <p:nvSpPr>
          <p:cNvPr id="6" name="Arrow circle 1"/>
          <p:cNvSpPr/>
          <p:nvPr/>
        </p:nvSpPr>
        <p:spPr>
          <a:xfrm>
            <a:off x="5776265" y="2103120"/>
            <a:ext cx="457200" cy="457200"/>
          </a:xfrm>
          <a:prstGeom prst="ellipse">
            <a:avLst/>
          </a:prstGeom>
          <a:solidFill>
            <a:schemeClr val="accent1"/>
          </a:solidFill>
          <a:ln/>
        </p:spPr>
      </p:sp>
      <p:sp>
        <p:nvSpPr>
          <p:cNvPr id="7" name="Arrow glyph 1"/>
          <p:cNvSpPr txBox="1"/>
          <p:nvPr/>
        </p:nvSpPr>
        <p:spPr>
          <a:xfrm>
            <a:off x="5776265" y="2103120"/>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a:t>
            </a:r>
            <a:endParaRPr lang="en-US" sz="2200" dirty="0"/>
          </a:p>
        </p:txBody>
      </p:sp>
      <p:sp>
        <p:nvSpPr>
          <p:cNvPr id="8" name="Fallback card 1"/>
          <p:cNvSpPr/>
          <p:nvPr/>
        </p:nvSpPr>
        <p:spPr>
          <a:xfrm>
            <a:off x="6370625" y="1600200"/>
            <a:ext cx="5212080" cy="1463040"/>
          </a:xfrm>
          <a:prstGeom prst="roundRect">
            <a:avLst>
              <a:gd name="adj" fmla="val 16250"/>
            </a:avLst>
          </a:prstGeom>
          <a:solidFill>
            <a:schemeClr val="accent4"/>
          </a:solidFill>
          <a:ln/>
        </p:spPr>
      </p:sp>
      <p:sp>
        <p:nvSpPr>
          <p:cNvPr id="9" name="Fallback text 1"/>
          <p:cNvSpPr txBox="1"/>
          <p:nvPr/>
        </p:nvSpPr>
        <p:spPr>
          <a:xfrm>
            <a:off x="6644945" y="1737360"/>
            <a:ext cx="4663440" cy="1188720"/>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latin typeface="Calibri" pitchFamily="34" charset="0"/>
                <a:ea typeface="Calibri" pitchFamily="34" charset="-122"/>
                <a:cs typeface="Calibri" pitchFamily="34" charset="-120"/>
              </a:rPr>
              <a:t>Replay real history</a:t>
            </a:r>
            <a:endParaRPr lang="en-US" sz="18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66 past releases, 2021 Q1 to 2026 Q1, give every forecaster a track record on day one.</a:t>
            </a:r>
            <a:endParaRPr lang="en-US" sz="1800" dirty="0"/>
          </a:p>
        </p:txBody>
      </p:sp>
      <p:sp>
        <p:nvSpPr>
          <p:cNvPr id="10" name="Risk card 2"/>
          <p:cNvSpPr/>
          <p:nvPr/>
        </p:nvSpPr>
        <p:spPr>
          <a:xfrm>
            <a:off x="609905" y="3218688"/>
            <a:ext cx="5029200" cy="1463040"/>
          </a:xfrm>
          <a:prstGeom prst="roundRect">
            <a:avLst>
              <a:gd name="adj" fmla="val 16250"/>
            </a:avLst>
          </a:prstGeom>
          <a:solidFill>
            <a:schemeClr val="accent6"/>
          </a:solidFill>
          <a:ln/>
        </p:spPr>
      </p:sp>
      <p:sp>
        <p:nvSpPr>
          <p:cNvPr id="11" name="Risk text 2"/>
          <p:cNvSpPr txBox="1"/>
          <p:nvPr/>
        </p:nvSpPr>
        <p:spPr>
          <a:xfrm>
            <a:off x="884225" y="3355848"/>
            <a:ext cx="4480560" cy="1188720"/>
          </a:xfrm>
          <a:prstGeom prst="rect">
            <a:avLst/>
          </a:prstGeom>
          <a:noFill/>
          <a:ln/>
        </p:spPr>
        <p:txBody>
          <a:bodyPr wrap="square" lIns="0" tIns="0" rIns="0" bIns="0" rtlCol="0" anchor="ctr"/>
          <a:lstStyle/>
          <a:p>
            <a:pPr indent="0" marL="0">
              <a:spcAft>
                <a:spcPts val="400"/>
              </a:spcAft>
              <a:buNone/>
            </a:pPr>
            <a:r>
              <a:rPr lang="en-US" sz="1800" b="1" dirty="0">
                <a:solidFill>
                  <a:srgbClr val="6B3D08"/>
                </a:solidFill>
                <a:latin typeface="Calibri" pitchFamily="34" charset="0"/>
                <a:ea typeface="Calibri" pitchFamily="34" charset="-122"/>
                <a:cs typeface="Calibri" pitchFamily="34" charset="-120"/>
              </a:rPr>
              <a:t>Only a few real forecasters exist so far</a:t>
            </a:r>
            <a:endParaRPr lang="en-US" sz="1800" dirty="0"/>
          </a:p>
          <a:p>
            <a:pPr indent="0" marL="0">
              <a:spcAft>
                <a:spcPts val="400"/>
              </a:spcAft>
              <a:buNone/>
            </a:pPr>
            <a:r>
              <a:rPr lang="en-US" sz="1400" dirty="0">
                <a:solidFill>
                  <a:srgbClr val="6B3D08"/>
                </a:solidFill>
                <a:latin typeface="Calibri" pitchFamily="34" charset="0"/>
                <a:ea typeface="Calibri" pitchFamily="34" charset="-122"/>
                <a:cs typeface="Calibri" pitchFamily="34" charset="-120"/>
              </a:rPr>
              <a:t>A market with a handful of players tells you little.</a:t>
            </a:r>
            <a:endParaRPr lang="en-US" sz="1800" dirty="0"/>
          </a:p>
        </p:txBody>
      </p:sp>
      <p:sp>
        <p:nvSpPr>
          <p:cNvPr id="12" name="Arrow circle 2"/>
          <p:cNvSpPr/>
          <p:nvPr/>
        </p:nvSpPr>
        <p:spPr>
          <a:xfrm>
            <a:off x="5776265" y="3721608"/>
            <a:ext cx="457200" cy="457200"/>
          </a:xfrm>
          <a:prstGeom prst="ellipse">
            <a:avLst/>
          </a:prstGeom>
          <a:solidFill>
            <a:schemeClr val="accent1"/>
          </a:solidFill>
          <a:ln/>
        </p:spPr>
      </p:sp>
      <p:sp>
        <p:nvSpPr>
          <p:cNvPr id="13" name="Arrow glyph 2"/>
          <p:cNvSpPr txBox="1"/>
          <p:nvPr/>
        </p:nvSpPr>
        <p:spPr>
          <a:xfrm>
            <a:off x="5776265" y="3721608"/>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a:t>
            </a:r>
            <a:endParaRPr lang="en-US" sz="2200" dirty="0"/>
          </a:p>
        </p:txBody>
      </p:sp>
      <p:sp>
        <p:nvSpPr>
          <p:cNvPr id="14" name="Fallback card 2"/>
          <p:cNvSpPr/>
          <p:nvPr/>
        </p:nvSpPr>
        <p:spPr>
          <a:xfrm>
            <a:off x="6370625" y="3218688"/>
            <a:ext cx="5212080" cy="1463040"/>
          </a:xfrm>
          <a:prstGeom prst="roundRect">
            <a:avLst>
              <a:gd name="adj" fmla="val 16250"/>
            </a:avLst>
          </a:prstGeom>
          <a:solidFill>
            <a:schemeClr val="accent4"/>
          </a:solidFill>
          <a:ln/>
        </p:spPr>
      </p:sp>
      <p:sp>
        <p:nvSpPr>
          <p:cNvPr id="15" name="Fallback text 2"/>
          <p:cNvSpPr txBox="1"/>
          <p:nvPr/>
        </p:nvSpPr>
        <p:spPr>
          <a:xfrm>
            <a:off x="6644945" y="3355848"/>
            <a:ext cx="4663440" cy="1188720"/>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latin typeface="Calibri" pitchFamily="34" charset="0"/>
                <a:ea typeface="Calibri" pitchFamily="34" charset="-122"/>
                <a:cs typeface="Calibri" pitchFamily="34" charset="-120"/>
              </a:rPr>
              <a:t>Clearly labelled simulated forecasters</a:t>
            </a:r>
            <a:endParaRPr lang="en-US" sz="18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About 200 fill the market, marked as simulated on every screen. Real ones join in the final round.</a:t>
            </a:r>
            <a:endParaRPr lang="en-US" sz="1800" dirty="0"/>
          </a:p>
        </p:txBody>
      </p:sp>
      <p:sp>
        <p:nvSpPr>
          <p:cNvPr id="16" name="Risk card 3"/>
          <p:cNvSpPr/>
          <p:nvPr/>
        </p:nvSpPr>
        <p:spPr>
          <a:xfrm>
            <a:off x="609905" y="4837176"/>
            <a:ext cx="5029200" cy="1463040"/>
          </a:xfrm>
          <a:prstGeom prst="roundRect">
            <a:avLst>
              <a:gd name="adj" fmla="val 16250"/>
            </a:avLst>
          </a:prstGeom>
          <a:solidFill>
            <a:schemeClr val="accent6"/>
          </a:solidFill>
          <a:ln/>
        </p:spPr>
      </p:sp>
      <p:sp>
        <p:nvSpPr>
          <p:cNvPr id="17" name="Risk text 3"/>
          <p:cNvSpPr txBox="1"/>
          <p:nvPr/>
        </p:nvSpPr>
        <p:spPr>
          <a:xfrm>
            <a:off x="884225" y="4974336"/>
            <a:ext cx="4480560" cy="1188720"/>
          </a:xfrm>
          <a:prstGeom prst="rect">
            <a:avLst/>
          </a:prstGeom>
          <a:noFill/>
          <a:ln/>
        </p:spPr>
        <p:txBody>
          <a:bodyPr wrap="square" lIns="0" tIns="0" rIns="0" bIns="0" rtlCol="0" anchor="ctr"/>
          <a:lstStyle/>
          <a:p>
            <a:pPr indent="0" marL="0">
              <a:spcAft>
                <a:spcPts val="400"/>
              </a:spcAft>
              <a:buNone/>
            </a:pPr>
            <a:r>
              <a:rPr lang="en-US" sz="1800" b="1" dirty="0">
                <a:solidFill>
                  <a:srgbClr val="6B3D08"/>
                </a:solidFill>
                <a:latin typeface="Calibri" pitchFamily="34" charset="0"/>
                <a:ea typeface="Calibri" pitchFamily="34" charset="-122"/>
                <a:cs typeface="Calibri" pitchFamily="34" charset="-120"/>
              </a:rPr>
              <a:t>One quarter is hard to call</a:t>
            </a:r>
            <a:endParaRPr lang="en-US" sz="1800" dirty="0"/>
          </a:p>
          <a:p>
            <a:pPr indent="0" marL="0">
              <a:spcAft>
                <a:spcPts val="400"/>
              </a:spcAft>
              <a:buNone/>
            </a:pPr>
            <a:r>
              <a:rPr lang="en-US" sz="1400" dirty="0">
                <a:solidFill>
                  <a:srgbClr val="6B3D08"/>
                </a:solidFill>
                <a:latin typeface="Calibri" pitchFamily="34" charset="0"/>
                <a:ea typeface="Calibri" pitchFamily="34" charset="-122"/>
                <a:cs typeface="Calibri" pitchFamily="34" charset="-120"/>
              </a:rPr>
              <a:t>In replay the market beats a coin flip only just: Brier 0.242 against 0.25.</a:t>
            </a:r>
            <a:endParaRPr lang="en-US" sz="1800" dirty="0"/>
          </a:p>
        </p:txBody>
      </p:sp>
      <p:sp>
        <p:nvSpPr>
          <p:cNvPr id="18" name="Arrow circle 3"/>
          <p:cNvSpPr/>
          <p:nvPr/>
        </p:nvSpPr>
        <p:spPr>
          <a:xfrm>
            <a:off x="5776265" y="5340096"/>
            <a:ext cx="457200" cy="457200"/>
          </a:xfrm>
          <a:prstGeom prst="ellipse">
            <a:avLst/>
          </a:prstGeom>
          <a:solidFill>
            <a:schemeClr val="accent1"/>
          </a:solidFill>
          <a:ln/>
        </p:spPr>
      </p:sp>
      <p:sp>
        <p:nvSpPr>
          <p:cNvPr id="19" name="Arrow glyph 3"/>
          <p:cNvSpPr txBox="1"/>
          <p:nvPr/>
        </p:nvSpPr>
        <p:spPr>
          <a:xfrm>
            <a:off x="5776265" y="5340096"/>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a:t>
            </a:r>
            <a:endParaRPr lang="en-US" sz="2200" dirty="0"/>
          </a:p>
        </p:txBody>
      </p:sp>
      <p:sp>
        <p:nvSpPr>
          <p:cNvPr id="20" name="Fallback card 3"/>
          <p:cNvSpPr/>
          <p:nvPr/>
        </p:nvSpPr>
        <p:spPr>
          <a:xfrm>
            <a:off x="6370625" y="4837176"/>
            <a:ext cx="5212080" cy="1463040"/>
          </a:xfrm>
          <a:prstGeom prst="roundRect">
            <a:avLst>
              <a:gd name="adj" fmla="val 16250"/>
            </a:avLst>
          </a:prstGeom>
          <a:solidFill>
            <a:schemeClr val="accent4"/>
          </a:solidFill>
          <a:ln/>
        </p:spPr>
      </p:sp>
      <p:sp>
        <p:nvSpPr>
          <p:cNvPr id="21" name="Fallback text 3"/>
          <p:cNvSpPr txBox="1"/>
          <p:nvPr/>
        </p:nvSpPr>
        <p:spPr>
          <a:xfrm>
            <a:off x="6644945" y="4974336"/>
            <a:ext cx="4663440" cy="1188720"/>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latin typeface="Calibri" pitchFamily="34" charset="0"/>
                <a:ea typeface="Calibri" pitchFamily="34" charset="-122"/>
                <a:cs typeface="Calibri" pitchFamily="34" charset="-120"/>
              </a:rPr>
              <a:t>The market re-weights, never replaces</a:t>
            </a:r>
            <a:endParaRPr lang="en-US" sz="18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Expiry dates start from public exposure and adoption data. The three futures stay on screen, labelled as estimates.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tx1"/>
                </a:solidFill>
                <a:latin typeface="Cambria" pitchFamily="34" charset="0"/>
                <a:ea typeface="Cambria" pitchFamily="34" charset="-122"/>
                <a:cs typeface="Cambria" pitchFamily="34" charset="-120"/>
              </a:rPr>
              <a:t>Who benefits, how we will know, how it grows</a:t>
            </a:r>
            <a:endParaRPr lang="en-US" sz="3600" dirty="0"/>
          </a:p>
        </p:txBody>
      </p:sp>
      <p:sp>
        <p:nvSpPr>
          <p:cNvPr id="4" name="SDG 4 tile"/>
          <p:cNvSpPr/>
          <p:nvPr/>
        </p:nvSpPr>
        <p:spPr>
          <a:xfrm>
            <a:off x="609905" y="1554480"/>
            <a:ext cx="1920240" cy="1828800"/>
          </a:xfrm>
          <a:prstGeom prst="roundRect">
            <a:avLst>
              <a:gd name="adj" fmla="val 11000"/>
            </a:avLst>
          </a:prstGeom>
          <a:solidFill>
            <a:srgbClr val="C5192D"/>
          </a:solidFill>
          <a:ln/>
        </p:spPr>
      </p:sp>
      <p:sp>
        <p:nvSpPr>
          <p:cNvPr id="5" name="SDG 4 number"/>
          <p:cNvSpPr txBox="1"/>
          <p:nvPr/>
        </p:nvSpPr>
        <p:spPr>
          <a:xfrm>
            <a:off x="792785" y="1645920"/>
            <a:ext cx="155448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4</a:t>
            </a:r>
            <a:endParaRPr lang="en-US" sz="4400" dirty="0"/>
          </a:p>
        </p:txBody>
      </p:sp>
      <p:sp>
        <p:nvSpPr>
          <p:cNvPr id="6" name="SDG 4 label"/>
          <p:cNvSpPr txBox="1"/>
          <p:nvPr/>
        </p:nvSpPr>
        <p:spPr>
          <a:xfrm>
            <a:off x="792785" y="2423160"/>
            <a:ext cx="1554480" cy="868680"/>
          </a:xfrm>
          <a:prstGeom prst="rect">
            <a:avLst/>
          </a:prstGeom>
          <a:noFill/>
          <a:ln/>
        </p:spPr>
        <p:txBody>
          <a:bodyPr wrap="square" lIns="0" tIns="0" rIns="0" bIns="0" rtlCol="0" anchor="t"/>
          <a:lstStyle/>
          <a:p>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Quality education</a:t>
            </a:r>
            <a:endParaRPr lang="en-US" sz="1400" dirty="0"/>
          </a:p>
          <a:p>
            <a:pPr indent="0" marL="0">
              <a:spcAft>
                <a:spcPts val="200"/>
              </a:spcAft>
              <a:buNone/>
            </a:pPr>
            <a:r>
              <a:rPr lang="en-US" sz="1200" dirty="0">
                <a:solidFill>
                  <a:srgbClr val="FFFFFF"/>
                </a:solidFill>
                <a:latin typeface="Calibri" pitchFamily="34" charset="0"/>
                <a:ea typeface="Calibri" pitchFamily="34" charset="-122"/>
                <a:cs typeface="Calibri" pitchFamily="34" charset="-120"/>
              </a:rPr>
              <a:t>4.4 Skills for decent jobs</a:t>
            </a:r>
            <a:endParaRPr lang="en-US" sz="1400" dirty="0"/>
          </a:p>
        </p:txBody>
      </p:sp>
      <p:sp>
        <p:nvSpPr>
          <p:cNvPr id="7" name="SDG 8 tile"/>
          <p:cNvSpPr/>
          <p:nvPr/>
        </p:nvSpPr>
        <p:spPr>
          <a:xfrm>
            <a:off x="2621585" y="1554480"/>
            <a:ext cx="1920240" cy="1828800"/>
          </a:xfrm>
          <a:prstGeom prst="roundRect">
            <a:avLst>
              <a:gd name="adj" fmla="val 11000"/>
            </a:avLst>
          </a:prstGeom>
          <a:solidFill>
            <a:srgbClr val="A21942"/>
          </a:solidFill>
          <a:ln/>
        </p:spPr>
      </p:sp>
      <p:sp>
        <p:nvSpPr>
          <p:cNvPr id="8" name="SDG 8 number"/>
          <p:cNvSpPr txBox="1"/>
          <p:nvPr/>
        </p:nvSpPr>
        <p:spPr>
          <a:xfrm>
            <a:off x="2804465" y="1645920"/>
            <a:ext cx="155448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8</a:t>
            </a:r>
            <a:endParaRPr lang="en-US" sz="4400" dirty="0"/>
          </a:p>
        </p:txBody>
      </p:sp>
      <p:sp>
        <p:nvSpPr>
          <p:cNvPr id="9" name="SDG 8 label"/>
          <p:cNvSpPr txBox="1"/>
          <p:nvPr/>
        </p:nvSpPr>
        <p:spPr>
          <a:xfrm>
            <a:off x="2804465" y="2423160"/>
            <a:ext cx="1554480" cy="868680"/>
          </a:xfrm>
          <a:prstGeom prst="rect">
            <a:avLst/>
          </a:prstGeom>
          <a:noFill/>
          <a:ln/>
        </p:spPr>
        <p:txBody>
          <a:bodyPr wrap="square" lIns="0" tIns="0" rIns="0" bIns="0" rtlCol="0" anchor="t"/>
          <a:lstStyle/>
          <a:p>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Decent work</a:t>
            </a:r>
            <a:endParaRPr lang="en-US" sz="1400" dirty="0"/>
          </a:p>
          <a:p>
            <a:pPr indent="0" marL="0">
              <a:spcAft>
                <a:spcPts val="200"/>
              </a:spcAft>
              <a:buNone/>
            </a:pPr>
            <a:r>
              <a:rPr lang="en-US" sz="1200" dirty="0">
                <a:solidFill>
                  <a:srgbClr val="FFFFFF"/>
                </a:solidFill>
                <a:latin typeface="Calibri" pitchFamily="34" charset="0"/>
                <a:ea typeface="Calibri" pitchFamily="34" charset="-122"/>
                <a:cs typeface="Calibri" pitchFamily="34" charset="-120"/>
              </a:rPr>
              <a:t>8.5 Full employment for all</a:t>
            </a:r>
            <a:endParaRPr lang="en-US" sz="1400" dirty="0"/>
          </a:p>
        </p:txBody>
      </p:sp>
      <p:sp>
        <p:nvSpPr>
          <p:cNvPr id="10" name="SDG 10 tile"/>
          <p:cNvSpPr/>
          <p:nvPr/>
        </p:nvSpPr>
        <p:spPr>
          <a:xfrm>
            <a:off x="4633265" y="1554480"/>
            <a:ext cx="1920240" cy="1828800"/>
          </a:xfrm>
          <a:prstGeom prst="roundRect">
            <a:avLst>
              <a:gd name="adj" fmla="val 11000"/>
            </a:avLst>
          </a:prstGeom>
          <a:solidFill>
            <a:srgbClr val="DD1367"/>
          </a:solidFill>
          <a:ln/>
        </p:spPr>
      </p:sp>
      <p:sp>
        <p:nvSpPr>
          <p:cNvPr id="11" name="SDG 10 number"/>
          <p:cNvSpPr txBox="1"/>
          <p:nvPr/>
        </p:nvSpPr>
        <p:spPr>
          <a:xfrm>
            <a:off x="4816145" y="1645920"/>
            <a:ext cx="155448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10</a:t>
            </a:r>
            <a:endParaRPr lang="en-US" sz="4400" dirty="0"/>
          </a:p>
        </p:txBody>
      </p:sp>
      <p:sp>
        <p:nvSpPr>
          <p:cNvPr id="12" name="SDG 10 label"/>
          <p:cNvSpPr txBox="1"/>
          <p:nvPr/>
        </p:nvSpPr>
        <p:spPr>
          <a:xfrm>
            <a:off x="4816145" y="2423160"/>
            <a:ext cx="1554480" cy="868680"/>
          </a:xfrm>
          <a:prstGeom prst="rect">
            <a:avLst/>
          </a:prstGeom>
          <a:noFill/>
          <a:ln/>
        </p:spPr>
        <p:txBody>
          <a:bodyPr wrap="square" lIns="0" tIns="0" rIns="0" bIns="0" rtlCol="0" anchor="t"/>
          <a:lstStyle/>
          <a:p>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Reduced inequalities</a:t>
            </a:r>
            <a:endParaRPr lang="en-US" sz="1400" dirty="0"/>
          </a:p>
          <a:p>
            <a:pPr indent="0" marL="0">
              <a:spcAft>
                <a:spcPts val="200"/>
              </a:spcAft>
              <a:buNone/>
            </a:pPr>
            <a:r>
              <a:rPr lang="en-US" sz="1200" dirty="0">
                <a:solidFill>
                  <a:srgbClr val="FFFFFF"/>
                </a:solidFill>
                <a:latin typeface="Calibri" pitchFamily="34" charset="0"/>
                <a:ea typeface="Calibri" pitchFamily="34" charset="-122"/>
                <a:cs typeface="Calibri" pitchFamily="34" charset="-120"/>
              </a:rPr>
              <a:t>10.2 Inclusion for everyone</a:t>
            </a:r>
            <a:endParaRPr lang="en-US" sz="1400" dirty="0"/>
          </a:p>
        </p:txBody>
      </p:sp>
      <p:sp>
        <p:nvSpPr>
          <p:cNvPr id="13" name="SDG lead card"/>
          <p:cNvSpPr/>
          <p:nvPr/>
        </p:nvSpPr>
        <p:spPr>
          <a:xfrm>
            <a:off x="6736385" y="1554480"/>
            <a:ext cx="4846320" cy="1828800"/>
          </a:xfrm>
          <a:prstGeom prst="roundRect">
            <a:avLst>
              <a:gd name="adj" fmla="val 11000"/>
            </a:avLst>
          </a:prstGeom>
          <a:solidFill>
            <a:srgbClr val="FFFDF8"/>
          </a:solidFill>
          <a:ln/>
        </p:spPr>
      </p:sp>
      <p:sp>
        <p:nvSpPr>
          <p:cNvPr id="14" name="SDG lead text"/>
          <p:cNvSpPr txBox="1"/>
          <p:nvPr/>
        </p:nvSpPr>
        <p:spPr>
          <a:xfrm>
            <a:off x="7010705" y="1737360"/>
            <a:ext cx="2926080" cy="1463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Every role and skill is tagged to an SDG target, and the goals a worker picks change which jobs rank first.</a:t>
            </a:r>
            <a:endParaRPr lang="en-US" sz="1600" dirty="0"/>
          </a:p>
        </p:txBody>
      </p:sp>
      <p:pic>
        <p:nvPicPr>
          <p:cNvPr id="15" name="SDG blocks mascot" descr="Cockatiel mascot on a stack of SDG blocks">    </p:cNvPr>
          <p:cNvPicPr>
            <a:picLocks noChangeAspect="1"/>
          </p:cNvPicPr>
          <p:nvPr/>
        </p:nvPicPr>
        <p:blipFill>
          <a:blip r:embed="rId1"/>
          <a:stretch>
            <a:fillRect/>
          </a:stretch>
        </p:blipFill>
        <p:spPr>
          <a:xfrm>
            <a:off x="10073945" y="1737360"/>
            <a:ext cx="1417320" cy="1534940"/>
          </a:xfrm>
          <a:prstGeom prst="rect">
            <a:avLst/>
          </a:prstGeom>
        </p:spPr>
      </p:pic>
      <p:sp>
        <p:nvSpPr>
          <p:cNvPr id="16" name="Who benefits card"/>
          <p:cNvSpPr/>
          <p:nvPr/>
        </p:nvSpPr>
        <p:spPr>
          <a:xfrm>
            <a:off x="609905" y="3611880"/>
            <a:ext cx="3535680" cy="2697480"/>
          </a:xfrm>
          <a:prstGeom prst="roundRect">
            <a:avLst>
              <a:gd name="adj" fmla="val 8814"/>
            </a:avLst>
          </a:prstGeom>
          <a:solidFill>
            <a:srgbClr val="FFFDF8"/>
          </a:solidFill>
          <a:ln/>
        </p:spPr>
      </p:sp>
      <p:sp>
        <p:nvSpPr>
          <p:cNvPr id="17" name="Who benefits heading"/>
          <p:cNvSpPr txBox="1"/>
          <p:nvPr/>
        </p:nvSpPr>
        <p:spPr>
          <a:xfrm>
            <a:off x="884225" y="3794760"/>
            <a:ext cx="2987040" cy="4572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Who benefits</a:t>
            </a:r>
            <a:endParaRPr lang="en-US" sz="2200" dirty="0"/>
          </a:p>
        </p:txBody>
      </p:sp>
      <p:sp>
        <p:nvSpPr>
          <p:cNvPr id="18" name="Who benefits list"/>
          <p:cNvSpPr txBox="1"/>
          <p:nvPr/>
        </p:nvSpPr>
        <p:spPr>
          <a:xfrm>
            <a:off x="884225" y="4343400"/>
            <a:ext cx="2987040" cy="18288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Laid-off clerks reskill inside their allowance window</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Workers who may move compare jobs, pay and unemployment across 16 states</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Advisors spend a meeting on advice, not intake</a:t>
            </a:r>
            <a:endParaRPr lang="en-US" sz="1400" dirty="0"/>
          </a:p>
        </p:txBody>
      </p:sp>
      <p:sp>
        <p:nvSpPr>
          <p:cNvPr id="19" name="How we measure it card"/>
          <p:cNvSpPr/>
          <p:nvPr/>
        </p:nvSpPr>
        <p:spPr>
          <a:xfrm>
            <a:off x="4328465" y="3611880"/>
            <a:ext cx="3535680" cy="2697480"/>
          </a:xfrm>
          <a:prstGeom prst="roundRect">
            <a:avLst>
              <a:gd name="adj" fmla="val 8814"/>
            </a:avLst>
          </a:prstGeom>
          <a:solidFill>
            <a:schemeClr val="accent4"/>
          </a:solidFill>
          <a:ln/>
        </p:spPr>
      </p:sp>
      <p:sp>
        <p:nvSpPr>
          <p:cNvPr id="20" name="How we measure it heading"/>
          <p:cNvSpPr txBox="1"/>
          <p:nvPr/>
        </p:nvSpPr>
        <p:spPr>
          <a:xfrm>
            <a:off x="4602785" y="3794760"/>
            <a:ext cx="2987040" cy="4572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How we measure it</a:t>
            </a:r>
            <a:endParaRPr lang="en-US" sz="2200" dirty="0"/>
          </a:p>
        </p:txBody>
      </p:sp>
      <p:sp>
        <p:nvSpPr>
          <p:cNvPr id="21" name="How we measure it list"/>
          <p:cNvSpPr txBox="1"/>
          <p:nvPr/>
        </p:nvSpPr>
        <p:spPr>
          <a:xfrm>
            <a:off x="4602785" y="4343400"/>
            <a:ext cx="2987040" cy="18288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Plans finished before the deadline</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Weeks from layoff to first interview</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Advisor meetings booked per plan</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Forecast accuracy, scored in public</a:t>
            </a:r>
            <a:endParaRPr lang="en-US" sz="1400" dirty="0"/>
          </a:p>
        </p:txBody>
      </p:sp>
      <p:sp>
        <p:nvSpPr>
          <p:cNvPr id="22" name="How it grows card"/>
          <p:cNvSpPr/>
          <p:nvPr/>
        </p:nvSpPr>
        <p:spPr>
          <a:xfrm>
            <a:off x="8047025" y="3611880"/>
            <a:ext cx="3535680" cy="2697480"/>
          </a:xfrm>
          <a:prstGeom prst="roundRect">
            <a:avLst>
              <a:gd name="adj" fmla="val 8814"/>
            </a:avLst>
          </a:prstGeom>
          <a:solidFill>
            <a:srgbClr val="FFFDF8"/>
          </a:solidFill>
          <a:ln/>
        </p:spPr>
      </p:sp>
      <p:sp>
        <p:nvSpPr>
          <p:cNvPr id="23" name="How it grows heading"/>
          <p:cNvSpPr txBox="1"/>
          <p:nvPr/>
        </p:nvSpPr>
        <p:spPr>
          <a:xfrm>
            <a:off x="8321345" y="3794760"/>
            <a:ext cx="2987040" cy="4572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How it grows</a:t>
            </a:r>
            <a:endParaRPr lang="en-US" sz="2200" dirty="0"/>
          </a:p>
        </p:txBody>
      </p:sp>
      <p:sp>
        <p:nvSpPr>
          <p:cNvPr id="24" name="How it grows list"/>
          <p:cNvSpPr txBox="1"/>
          <p:nvPr/>
        </p:nvSpPr>
        <p:spPr>
          <a:xfrm>
            <a:off x="8321345" y="4343400"/>
            <a:ext cx="2987040" cy="18288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More occupations beyond finance and admin</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English, Bahasa Malaysia, 中文 and தமிழ் already built in</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Agency advisors and real forecasters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609905" y="502920"/>
            <a:ext cx="10972800" cy="914400"/>
          </a:xfrm>
          <a:prstGeom prst="rect">
            <a:avLst/>
          </a:prstGeom>
          <a:noFill/>
          <a:ln/>
        </p:spPr>
        <p:txBody>
          <a:bodyPr wrap="square" lIns="0" tIns="0" rIns="0" bIns="0" rtlCol="0" anchor="t"/>
          <a:lstStyle/>
          <a:p>
            <a:pPr algn="l" indent="0" marL="0">
              <a:buNone/>
            </a:pPr>
            <a:r>
              <a:rPr lang="en-US" sz="3600" dirty="0">
                <a:solidFill>
                  <a:schemeClr val="bg1"/>
                </a:solidFill>
                <a:latin typeface="Cambria" pitchFamily="34" charset="0"/>
                <a:ea typeface="Cambria" pitchFamily="34" charset="-122"/>
                <a:cs typeface="Cambria" pitchFamily="34" charset="-120"/>
              </a:rPr>
              <a:t>Next: real forecasters, more jobs, real workers</a:t>
            </a:r>
            <a:endParaRPr lang="en-US" sz="3600" dirty="0"/>
          </a:p>
        </p:txBody>
      </p:sp>
      <p:sp>
        <p:nvSpPr>
          <p:cNvPr id="4" name="Final round card"/>
          <p:cNvSpPr/>
          <p:nvPr/>
        </p:nvSpPr>
        <p:spPr>
          <a:xfrm>
            <a:off x="609905" y="1600200"/>
            <a:ext cx="3535680" cy="2880360"/>
          </a:xfrm>
          <a:prstGeom prst="roundRect">
            <a:avLst>
              <a:gd name="adj" fmla="val 8889"/>
            </a:avLst>
          </a:prstGeom>
          <a:solidFill>
            <a:schemeClr val="accent2"/>
          </a:solidFill>
          <a:ln/>
        </p:spPr>
      </p:sp>
      <p:sp>
        <p:nvSpPr>
          <p:cNvPr id="5" name="Final round heading"/>
          <p:cNvSpPr txBox="1"/>
          <p:nvPr/>
        </p:nvSpPr>
        <p:spPr>
          <a:xfrm>
            <a:off x="929945" y="1828800"/>
            <a:ext cx="2895600" cy="502920"/>
          </a:xfrm>
          <a:prstGeom prst="rect">
            <a:avLst/>
          </a:prstGeom>
          <a:noFill/>
          <a:ln/>
        </p:spPr>
        <p:txBody>
          <a:bodyPr wrap="square" lIns="0" tIns="0" rIns="0" bIns="0" rtlCol="0" anchor="t"/>
          <a:lstStyle/>
          <a:p>
            <a:pPr indent="0" marL="0">
              <a:buNone/>
            </a:pPr>
            <a:r>
              <a:rPr lang="en-US" sz="2400" dirty="0">
                <a:solidFill>
                  <a:schemeClr val="tx1"/>
                </a:solidFill>
                <a:latin typeface="Cambria" pitchFamily="34" charset="0"/>
                <a:ea typeface="Cambria" pitchFamily="34" charset="-122"/>
                <a:cs typeface="Cambria" pitchFamily="34" charset="-120"/>
              </a:rPr>
              <a:t>Final round</a:t>
            </a:r>
            <a:endParaRPr lang="en-US" sz="2400" dirty="0"/>
          </a:p>
        </p:txBody>
      </p:sp>
      <p:sp>
        <p:nvSpPr>
          <p:cNvPr id="6" name="Final round list"/>
          <p:cNvSpPr txBox="1"/>
          <p:nvPr/>
        </p:nvSpPr>
        <p:spPr>
          <a:xfrm>
            <a:off x="929945" y="2468880"/>
            <a:ext cx="2895600" cy="18745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Real forecasters replace the simulated ones</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Practice tasks for the other nine sectors</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Automatic re-planning when someone falls behind</a:t>
            </a:r>
            <a:endParaRPr lang="en-US" sz="1600" dirty="0"/>
          </a:p>
        </p:txBody>
      </p:sp>
      <p:sp>
        <p:nvSpPr>
          <p:cNvPr id="7" name="Then card"/>
          <p:cNvSpPr/>
          <p:nvPr/>
        </p:nvSpPr>
        <p:spPr>
          <a:xfrm>
            <a:off x="4328465" y="1600200"/>
            <a:ext cx="3535680" cy="2880360"/>
          </a:xfrm>
          <a:prstGeom prst="roundRect">
            <a:avLst>
              <a:gd name="adj" fmla="val 8889"/>
            </a:avLst>
          </a:prstGeom>
          <a:solidFill>
            <a:schemeClr val="bg2"/>
          </a:solidFill>
          <a:ln/>
        </p:spPr>
      </p:sp>
      <p:sp>
        <p:nvSpPr>
          <p:cNvPr id="8" name="Then heading"/>
          <p:cNvSpPr txBox="1"/>
          <p:nvPr/>
        </p:nvSpPr>
        <p:spPr>
          <a:xfrm>
            <a:off x="4648505" y="1828800"/>
            <a:ext cx="2895600" cy="502920"/>
          </a:xfrm>
          <a:prstGeom prst="rect">
            <a:avLst/>
          </a:prstGeom>
          <a:noFill/>
          <a:ln/>
        </p:spPr>
        <p:txBody>
          <a:bodyPr wrap="square" lIns="0" tIns="0" rIns="0" bIns="0" rtlCol="0" anchor="t"/>
          <a:lstStyle/>
          <a:p>
            <a:pPr indent="0" marL="0">
              <a:buNone/>
            </a:pPr>
            <a:r>
              <a:rPr lang="en-US" sz="2400" dirty="0">
                <a:solidFill>
                  <a:schemeClr val="tx1"/>
                </a:solidFill>
                <a:latin typeface="Cambria" pitchFamily="34" charset="0"/>
                <a:ea typeface="Cambria" pitchFamily="34" charset="-122"/>
                <a:cs typeface="Cambria" pitchFamily="34" charset="-120"/>
              </a:rPr>
              <a:t>Then</a:t>
            </a:r>
            <a:endParaRPr lang="en-US" sz="2400" dirty="0"/>
          </a:p>
        </p:txBody>
      </p:sp>
      <p:sp>
        <p:nvSpPr>
          <p:cNvPr id="9" name="Then list"/>
          <p:cNvSpPr txBox="1"/>
          <p:nvPr/>
        </p:nvSpPr>
        <p:spPr>
          <a:xfrm>
            <a:off x="4648505" y="2468880"/>
            <a:ext cx="2895600" cy="18745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More occupations beyond today’s 89 roles</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MyCOL and the next Economic Index loaded</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Low-bandwidth mode for older phones</a:t>
            </a:r>
            <a:endParaRPr lang="en-US" sz="1600" dirty="0"/>
          </a:p>
        </p:txBody>
      </p:sp>
      <p:sp>
        <p:nvSpPr>
          <p:cNvPr id="10" name="Team #slaynergy card"/>
          <p:cNvSpPr/>
          <p:nvPr/>
        </p:nvSpPr>
        <p:spPr>
          <a:xfrm>
            <a:off x="8047025" y="1600200"/>
            <a:ext cx="3535680" cy="2880360"/>
          </a:xfrm>
          <a:prstGeom prst="roundRect">
            <a:avLst>
              <a:gd name="adj" fmla="val 8889"/>
            </a:avLst>
          </a:prstGeom>
          <a:solidFill>
            <a:schemeClr val="bg2"/>
          </a:solidFill>
          <a:ln/>
        </p:spPr>
      </p:sp>
      <p:sp>
        <p:nvSpPr>
          <p:cNvPr id="11" name="Team #slaynergy heading"/>
          <p:cNvSpPr txBox="1"/>
          <p:nvPr/>
        </p:nvSpPr>
        <p:spPr>
          <a:xfrm>
            <a:off x="8367065" y="1828800"/>
            <a:ext cx="2895600" cy="502920"/>
          </a:xfrm>
          <a:prstGeom prst="rect">
            <a:avLst/>
          </a:prstGeom>
          <a:noFill/>
          <a:ln/>
        </p:spPr>
        <p:txBody>
          <a:bodyPr wrap="square" lIns="0" tIns="0" rIns="0" bIns="0" rtlCol="0" anchor="t"/>
          <a:lstStyle/>
          <a:p>
            <a:pPr indent="0" marL="0">
              <a:buNone/>
            </a:pPr>
            <a:r>
              <a:rPr lang="en-US" sz="2400" dirty="0">
                <a:solidFill>
                  <a:schemeClr val="tx1"/>
                </a:solidFill>
                <a:latin typeface="Cambria" pitchFamily="34" charset="0"/>
                <a:ea typeface="Cambria" pitchFamily="34" charset="-122"/>
                <a:cs typeface="Cambria" pitchFamily="34" charset="-120"/>
              </a:rPr>
              <a:t>Team #slaynergy</a:t>
            </a:r>
            <a:endParaRPr lang="en-US" sz="2400" dirty="0"/>
          </a:p>
        </p:txBody>
      </p:sp>
      <p:sp>
        <p:nvSpPr>
          <p:cNvPr id="12" name="Team #slaynergy list"/>
          <p:cNvSpPr txBox="1"/>
          <p:nvPr/>
        </p:nvSpPr>
        <p:spPr>
          <a:xfrm>
            <a:off x="8367065" y="2468880"/>
            <a:ext cx="2895600" cy="18745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Domain 1: Aiversecity Future-Ready Workforce</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Open source on GitHub, Apache 2.0</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Live demo next, 3 minutes</a:t>
            </a:r>
            <a:endParaRPr lang="en-US" sz="1600" dirty="0"/>
          </a:p>
        </p:txBody>
      </p:sp>
      <p:sp>
        <p:nvSpPr>
          <p:cNvPr id="13" name="Ask band"/>
          <p:cNvSpPr/>
          <p:nvPr/>
        </p:nvSpPr>
        <p:spPr>
          <a:xfrm>
            <a:off x="609905" y="4663440"/>
            <a:ext cx="10972800" cy="1600200"/>
          </a:xfrm>
          <a:prstGeom prst="roundRect">
            <a:avLst>
              <a:gd name="adj" fmla="val 16000"/>
            </a:avLst>
          </a:prstGeom>
          <a:solidFill>
            <a:schemeClr val="tx1"/>
          </a:solidFill>
          <a:ln/>
        </p:spPr>
      </p:sp>
      <p:sp>
        <p:nvSpPr>
          <p:cNvPr id="14" name="Closing ask"/>
          <p:cNvSpPr txBox="1"/>
          <p:nvPr/>
        </p:nvSpPr>
        <p:spPr>
          <a:xfrm>
            <a:off x="1067105" y="4663440"/>
            <a:ext cx="6675120" cy="1600200"/>
          </a:xfrm>
          <a:prstGeom prst="rect">
            <a:avLst/>
          </a:prstGeom>
          <a:noFill/>
          <a:ln/>
        </p:spPr>
        <p:txBody>
          <a:bodyPr wrap="square" lIns="0" tIns="0" rIns="0" bIns="0" rtlCol="0" anchor="ctr"/>
          <a:lstStyle/>
          <a:p>
            <a:pPr indent="0" marL="0">
              <a:buNone/>
            </a:pPr>
            <a:r>
              <a:rPr lang="en-US" sz="2800" dirty="0">
                <a:solidFill>
                  <a:schemeClr val="bg1"/>
                </a:solidFill>
                <a:latin typeface="Cambria" pitchFamily="34" charset="0"/>
                <a:ea typeface="Cambria" pitchFamily="34" charset="-122"/>
                <a:cs typeface="Cambria" pitchFamily="34" charset="-120"/>
              </a:rPr>
              <a:t>Help us put Jobbery in front of real laid-off workers and real forecasters.</a:t>
            </a:r>
            <a:endParaRPr lang="en-US" sz="2800" dirty="0"/>
          </a:p>
        </p:txBody>
      </p:sp>
      <p:sp>
        <p:nvSpPr>
          <p:cNvPr id="15" name="Demo pill shape"/>
          <p:cNvSpPr/>
          <p:nvPr/>
        </p:nvSpPr>
        <p:spPr>
          <a:xfrm>
            <a:off x="8199425" y="5029200"/>
            <a:ext cx="2103120" cy="457200"/>
          </a:xfrm>
          <a:prstGeom prst="roundRect">
            <a:avLst>
              <a:gd name="adj" fmla="val 50000"/>
            </a:avLst>
          </a:prstGeom>
          <a:solidFill>
            <a:schemeClr val="accent2"/>
          </a:solidFill>
          <a:ln/>
        </p:spPr>
      </p:sp>
      <p:sp>
        <p:nvSpPr>
          <p:cNvPr id="16" name="Demo pill"/>
          <p:cNvSpPr txBox="1"/>
          <p:nvPr/>
        </p:nvSpPr>
        <p:spPr>
          <a:xfrm>
            <a:off x="8199425" y="5029200"/>
            <a:ext cx="210312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Demo: 3 minutes</a:t>
            </a:r>
            <a:endParaRPr lang="en-US" sz="1600" dirty="0"/>
          </a:p>
        </p:txBody>
      </p:sp>
      <p:sp>
        <p:nvSpPr>
          <p:cNvPr id="17" name="Repo link"/>
          <p:cNvSpPr txBox="1"/>
          <p:nvPr/>
        </p:nvSpPr>
        <p:spPr>
          <a:xfrm>
            <a:off x="8199425" y="5623560"/>
            <a:ext cx="3108960" cy="365760"/>
          </a:xfrm>
          <a:prstGeom prst="rect">
            <a:avLst/>
          </a:prstGeom>
          <a:noFill/>
          <a:ln/>
        </p:spPr>
        <p:txBody>
          <a:bodyPr wrap="square" lIns="0" tIns="0" rIns="0" bIns="0" rtlCol="0" anchor="ctr"/>
          <a:lstStyle/>
          <a:p>
            <a:pPr indent="0" marL="0">
              <a:buNone/>
            </a:pPr>
            <a:r>
              <a:rPr lang="en-US" sz="1300" u="sng" dirty="0">
                <a:solidFill>
                  <a:schemeClr val="accent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github.com/yabgzichien/SDCHack-slaynergy</a:t>
            </a:r>
            <a:endParaRPr lang="en-US" sz="1300" dirty="0"/>
          </a:p>
        </p:txBody>
      </p:sp>
    </p:spTree>
  </p:cSld>
  <p:clrMapOvr>
    <a:masterClrMapping/>
  </p:clrMapOvr>
</p:sld>
</file>

<file path=ppt/theme/theme1.xml><?xml version="1.0" encoding="utf-8"?>
<a:theme xmlns:a="http://schemas.openxmlformats.org/drawingml/2006/main" name="Jobbery">
  <a:themeElements>
    <a:clrScheme name="Jobbery">
      <a:dk1>
        <a:srgbClr val="203B2B"/>
      </a:dk1>
      <a:lt1>
        <a:srgbClr val="FFF7ED"/>
      </a:lt1>
      <a:dk2>
        <a:srgbClr val="305D40"/>
      </a:dk2>
      <a:lt2>
        <a:srgbClr val="EDF4EC"/>
      </a:lt2>
      <a:accent1>
        <a:srgbClr val="305D40"/>
      </a:accent1>
      <a:accent2>
        <a:srgbClr val="F8C982"/>
      </a:accent2>
      <a:accent3>
        <a:srgbClr val="6FA66A"/>
      </a:accent3>
      <a:accent4>
        <a:srgbClr val="CBE4C6"/>
      </a:accent4>
      <a:accent5>
        <a:srgbClr val="C9741A"/>
      </a:accent5>
      <a:accent6>
        <a:srgbClr val="FFF0D8"/>
      </a:accent6>
      <a:hlink>
        <a:srgbClr val="305D40"/>
      </a:hlink>
      <a:folHlink>
        <a:srgbClr val="547451"/>
      </a:folHlink>
    </a:clrScheme>
    <a:fontScheme name="Jobb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Jobbery pitch deck</dc:title>
  <dc:subject>SDC Hackathon 2026, Domain 1: Aiversecity Future-Ready Workforce</dc:subject>
  <dc:creator>Team #slaynergy</dc:creator>
  <cp:lastModifiedBy>Team #slaynergy</cp:lastModifiedBy>
  <cp:revision>1</cp:revision>
  <dcterms:created xsi:type="dcterms:W3CDTF">2026-10-23T09:22:15Z</dcterms:created>
  <dcterms:modified xsi:type="dcterms:W3CDTF">2026-10-23T09:22:15Z</dcterms:modified>
</cp:coreProperties>
</file>