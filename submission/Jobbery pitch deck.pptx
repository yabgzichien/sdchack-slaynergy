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7.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8.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7.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ineChart>
        <c:grouping val="standard"/>
        <c:varyColors val="0"/>
        <c:ser>
          <c:idx val="0"/>
          <c:order val="0"/>
          <c:tx>
            <c:strRef>
              <c:f>label 0</c:f>
              <c:strCache>
                <c:ptCount val="1"/>
                <c:pt idx="0">
                  <c:v>Clerical share of online job ads (%)</c:v>
                </c:pt>
              </c:strCache>
            </c:strRef>
          </c:tx>
          <c:spPr>
            <a:solidFill>
              <a:srgbClr val="305D40"/>
            </a:solidFill>
            <a:ln w="38160">
              <a:solidFill>
                <a:srgbClr val="305D40"/>
              </a:solidFill>
              <a:round/>
            </a:ln>
          </c:spPr>
          <c:marker>
            <c:symbol val="none"/>
          </c:marker>
          <c:dLbls>
            <c:txPr>
              <a:bodyPr wrap="square"/>
              <a:lstStyle/>
              <a:p>
                <a:pPr>
                  <a:defRPr sz="1000" b="0" u="none" strike="noStrike">
                    <a:solidFill>
                      <a:srgbClr val="203B2B"/>
                    </a:solidFill>
                    <a:uFillTx/>
                    <a:latin typeface="Calibri"/>
                  </a:defRPr>
                </a:pPr>
              </a:p>
            </c:txPr>
            <c:dLblPos val="r"/>
            <c:showLegendKey val="0"/>
            <c:showVal val="0"/>
            <c:showCatName val="0"/>
            <c:showSerName val="0"/>
            <c:showPercent val="0"/>
            <c:separator>; </c:separator>
            <c:showLeaderLines val="1"/>
            <c:leaderLines>
              <c:spPr>
                <a:ln w="38160">
                  <a:solidFill>
                    <a:srgbClr val="000000"/>
                  </a:solidFill>
                </a:ln>
              </c:spPr>
            </c:leaderLines>
            <c:extLst>
              <c:ext xmlns:c15="http://schemas.microsoft.com/office/drawing/2012/chart" uri="{CE6537A1-D6FC-4f65-9D91-7224C49458BB}">
                <c15:showLeaderLines val="1"/>
              </c:ext>
            </c:extLst>
          </c:dLbls>
          <c:cat>
            <c:strRef>
              <c:f>categories</c:f>
              <c:strCache>
                <c:ptCount val="17"/>
                <c:pt idx="0">
                  <c:v>2022Q2</c:v>
                </c:pt>
                <c:pt idx="1">
                  <c:v>2022Q3</c:v>
                </c:pt>
                <c:pt idx="2">
                  <c:v>2022Q4</c:v>
                </c:pt>
                <c:pt idx="3">
                  <c:v>2023Q1</c:v>
                </c:pt>
                <c:pt idx="4">
                  <c:v>2023Q2</c:v>
                </c:pt>
                <c:pt idx="5">
                  <c:v>2023Q3</c:v>
                </c:pt>
                <c:pt idx="6">
                  <c:v>2023Q4</c:v>
                </c:pt>
                <c:pt idx="7">
                  <c:v>2024Q1</c:v>
                </c:pt>
                <c:pt idx="8">
                  <c:v>2024Q2</c:v>
                </c:pt>
                <c:pt idx="9">
                  <c:v>2024Q3</c:v>
                </c:pt>
                <c:pt idx="10">
                  <c:v>2024Q4</c:v>
                </c:pt>
                <c:pt idx="11">
                  <c:v>2025Q1</c:v>
                </c:pt>
                <c:pt idx="12">
                  <c:v>2025Q2</c:v>
                </c:pt>
                <c:pt idx="13">
                  <c:v>2025Q3</c:v>
                </c:pt>
                <c:pt idx="14">
                  <c:v>2025Q4</c:v>
                </c:pt>
                <c:pt idx="15">
                  <c:v>2026Q1</c:v>
                </c:pt>
                <c:pt idx="16">
                  <c:v>2026Q2</c:v>
                </c:pt>
              </c:strCache>
            </c:strRef>
          </c:cat>
          <c:val>
            <c:numRef>
              <c:f>0</c:f>
              <c:numCache>
                <c:formatCode>General</c:formatCode>
                <c:ptCount val="17"/>
                <c:pt idx="0">
                  <c:v>9.93</c:v>
                </c:pt>
                <c:pt idx="1">
                  <c:v>8.642</c:v>
                </c:pt>
                <c:pt idx="2">
                  <c:v>8.101</c:v>
                </c:pt>
                <c:pt idx="3">
                  <c:v>8.678</c:v>
                </c:pt>
                <c:pt idx="4">
                  <c:v>6.846</c:v>
                </c:pt>
                <c:pt idx="5">
                  <c:v>6.443</c:v>
                </c:pt>
                <c:pt idx="6">
                  <c:v>5.279</c:v>
                </c:pt>
                <c:pt idx="7">
                  <c:v>7.347</c:v>
                </c:pt>
                <c:pt idx="8">
                  <c:v>7.57</c:v>
                </c:pt>
                <c:pt idx="9">
                  <c:v>7.342</c:v>
                </c:pt>
                <c:pt idx="10">
                  <c:v>6.596</c:v>
                </c:pt>
                <c:pt idx="11">
                  <c:v>6.639</c:v>
                </c:pt>
                <c:pt idx="12">
                  <c:v>5.353</c:v>
                </c:pt>
                <c:pt idx="13">
                  <c:v>7.256</c:v>
                </c:pt>
                <c:pt idx="14">
                  <c:v>8.453</c:v>
                </c:pt>
                <c:pt idx="15">
                  <c:v>7.782</c:v>
                </c:pt>
                <c:pt idx="16">
                  <c:v>7.274</c:v>
                </c:pt>
              </c:numCache>
            </c:numRef>
          </c:val>
          <c:smooth val="0"/>
        </c:ser>
        <c:hiLowLines>
          <c:spPr>
            <a:ln w="0">
              <a:noFill/>
            </a:ln>
          </c:spPr>
        </c:hiLowLines>
        <c:marker val="0"/>
        <c:axId val="26830082"/>
        <c:axId val="72863920"/>
      </c:lineChart>
      <c:catAx>
        <c:axId val="26830082"/>
        <c:scaling>
          <c:orientation val="minMax"/>
        </c:scaling>
        <c:delete val="1"/>
        <c:axPos val="b"/>
        <c:numFmt formatCode="[$-409]mm/dd/yyyy" sourceLinked="1"/>
        <c:majorTickMark val="out"/>
        <c:minorTickMark val="none"/>
        <c:tickLblPos val="low"/>
        <c:spPr>
          <a:ln w="6480">
            <a:solidFill>
              <a:srgbClr val="8D918E"/>
            </a:solidFill>
            <a:round/>
          </a:ln>
        </c:spPr>
        <c:txPr>
          <a:bodyPr/>
          <a:lstStyle/>
          <a:p>
            <a:pPr>
              <a:defRPr sz="1000" b="0" u="none" strike="noStrike">
                <a:solidFill>
                  <a:srgbClr val="203B2B"/>
                </a:solidFill>
                <a:uFillTx/>
                <a:latin typeface="Calibri"/>
              </a:defRPr>
            </a:pPr>
          </a:p>
        </c:txPr>
        <c:crossAx val="72863920"/>
        <c:auto val="1"/>
        <c:lblAlgn val="ctr"/>
        <c:lblOffset val="100"/>
        <c:noMultiLvlLbl val="0"/>
      </c:catAx>
      <c:valAx>
        <c:axId val="72863920"/>
        <c:scaling>
          <c:orientation val="minMax"/>
          <c:max val="10.5"/>
          <c:min val="4.5"/>
        </c:scaling>
        <c:delete val="1"/>
        <c:axPos val="l"/>
        <c:numFmt formatCode="General" sourceLinked="1"/>
        <c:majorTickMark val="out"/>
        <c:minorTickMark val="none"/>
        <c:tickLblPos val="nextTo"/>
        <c:spPr>
          <a:ln w="6480">
            <a:solidFill>
              <a:srgbClr val="8D918E"/>
            </a:solidFill>
            <a:round/>
          </a:ln>
        </c:spPr>
        <c:txPr>
          <a:bodyPr/>
          <a:lstStyle/>
          <a:p>
            <a:pPr>
              <a:defRPr sz="1000" b="0" u="none" strike="noStrike">
                <a:solidFill>
                  <a:srgbClr val="203B2B"/>
                </a:solidFill>
                <a:uFillTx/>
                <a:latin typeface="Calibri"/>
              </a:defRPr>
            </a:pPr>
          </a:p>
        </c:txPr>
        <c:crossAx val="26830082"/>
        <c:crossBetween val="between"/>
      </c:valAx>
      <c:spPr>
        <a:noFill/>
        <a:ln w="0">
          <a:noFill/>
        </a:ln>
      </c:spPr>
    </c:plotArea>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a:t>
            </a:r>
            <a:r>
              <a:rPr lang="en-US" sz="1800" b="0" u="none" strike="noStrike">
                <a:solidFill>
                  <a:schemeClr val="dk1"/>
                </a:solidFill>
                <a:effectLst/>
                <a:uFillTx/>
                <a:latin typeface="Calibri"/>
              </a:rPr>
              <a:t>slide</a:t>
            </a:r>
            <a:endParaRPr lang="en-US" sz="1800" b="0" u="none" strike="noStrike">
              <a:solidFill>
                <a:schemeClr val="dk1"/>
              </a:solidFill>
              <a:effectLst/>
              <a:uFillTx/>
              <a:latin typeface="Calibri"/>
            </a:endParaRPr>
          </a:p>
        </p:txBody>
      </p:sp>
      <p:sp>
        <p:nvSpPr>
          <p:cNvPr id="1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a:t>
            </a:r>
            <a:r>
              <a:rPr lang="en-US" sz="2000" b="0" u="none" strike="noStrike">
                <a:solidFill>
                  <a:srgbClr val="000000"/>
                </a:solidFill>
                <a:effectLst/>
                <a:uFillTx/>
                <a:latin typeface="Arial"/>
              </a:rPr>
              <a:t>notes format</a:t>
            </a:r>
            <a:endParaRPr lang="en-US" sz="2000" b="0" u="none" strike="noStrike">
              <a:solidFill>
                <a:srgbClr val="000000"/>
              </a:solidFill>
              <a:effectLst/>
              <a:uFillTx/>
              <a:latin typeface="Arial"/>
            </a:endParaRPr>
          </a:p>
        </p:txBody>
      </p:sp>
      <p:sp>
        <p:nvSpPr>
          <p:cNvPr id="1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09F1E4B-9ABB-4E59-A9DD-B28808340C3B}"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0" y="0"/>
            <a:ext cx="0" cy="0"/>
          </a:xfrm>
          <a:prstGeom prst="rect">
            <a:avLst/>
          </a:prstGeom>
          <a:ln w="0">
            <a:noFill/>
          </a:ln>
        </p:spPr>
      </p:sp>
      <p:sp>
        <p:nvSpPr>
          <p:cNvPr id="31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We are team slaynergy, and this is Jobbery: a deadline-based job plan for office workers whose jobs AI is replacing.</a:t>
            </a:r>
            <a:endParaRPr lang="en-US" sz="2000" b="0" u="none" strike="noStrike">
              <a:solidFill>
                <a:srgbClr val="000000"/>
              </a:solidFill>
              <a:effectLst/>
              <a:uFillTx/>
              <a:latin typeface="Arial"/>
            </a:endParaRPr>
          </a:p>
        </p:txBody>
      </p:sp>
      <p:sp>
        <p:nvSpPr>
          <p:cNvPr id="311"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0992DCEC-A3B9-45F6-9D1A-D81C7A151761}"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0" y="0"/>
            <a:ext cx="0" cy="0"/>
          </a:xfrm>
          <a:prstGeom prst="rect">
            <a:avLst/>
          </a:prstGeom>
          <a:ln w="0">
            <a:noFill/>
          </a:ln>
        </p:spPr>
      </p:sp>
      <p:sp>
        <p:nvSpPr>
          <p:cNvPr id="31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Meet a 27-year-old bank clerk, laid off in November, with three to six months of allowance. In Malaysia, clerical roles were almost ten percent of online job ads in 2022. They are 7.3 percent now. And Anthropic’s Economic Index finds 43 percent of a general office clerk’s tasks already show up in real AI use. Career tools tell her what to do, but with no dates, no sources, and no track record. That is the gap.</a:t>
            </a:r>
            <a:endParaRPr lang="en-US" sz="2000" b="0" u="none" strike="noStrike">
              <a:solidFill>
                <a:srgbClr val="000000"/>
              </a:solidFill>
              <a:effectLst/>
              <a:uFillTx/>
              <a:latin typeface="Arial"/>
            </a:endParaRPr>
          </a:p>
        </p:txBody>
      </p:sp>
      <p:sp>
        <p:nvSpPr>
          <p:cNvPr id="314"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C88DA73A-A79C-48AB-AC81-6341136624FB}"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0" y="0"/>
            <a:ext cx="0" cy="0"/>
          </a:xfrm>
          <a:prstGeom prst="rect">
            <a:avLst/>
          </a:prstGeom>
          <a:ln w="0">
            <a:noFill/>
          </a:ln>
        </p:spPr>
      </p:sp>
      <p:sp>
        <p:nvSpPr>
          <p:cNvPr id="31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Two users. The worker, who needs to know which skills expire and what to learn each week. And the advisor, who meets each worker once and sees their profile and plan.</a:t>
            </a:r>
            <a:endParaRPr lang="en-US" sz="2000" b="0" u="none" strike="noStrike">
              <a:solidFill>
                <a:srgbClr val="000000"/>
              </a:solidFill>
              <a:effectLst/>
              <a:uFillTx/>
              <a:latin typeface="Arial"/>
            </a:endParaRPr>
          </a:p>
        </p:txBody>
      </p:sp>
      <p:sp>
        <p:nvSpPr>
          <p:cNvPr id="317"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76BE7204-D58E-4A04-8BCA-48F5501AAE28}"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0" y="0"/>
            <a:ext cx="0" cy="0"/>
          </a:xfrm>
          <a:prstGeom prst="rect">
            <a:avLst/>
          </a:prstGeom>
          <a:ln w="0">
            <a:noFill/>
          </a:ln>
        </p:spPr>
      </p:sp>
      <p:sp>
        <p:nvSpPr>
          <p:cNvPr id="31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All six must-haves, each on a named screen: intake on You, the trend layer on Trends and Sources, matching on Jobs, the pathway on Plan, SDG goals four, eight and ten on Goals, and the scenarios on Futures.</a:t>
            </a:r>
            <a:endParaRPr lang="en-US" sz="2000" b="0" u="none" strike="noStrike">
              <a:solidFill>
                <a:srgbClr val="000000"/>
              </a:solidFill>
              <a:effectLst/>
              <a:uFillTx/>
              <a:latin typeface="Arial"/>
            </a:endParaRPr>
          </a:p>
        </p:txBody>
      </p:sp>
      <p:sp>
        <p:nvSpPr>
          <p:cNvPr id="320"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49C0054A-A68F-4F2B-8308-2FDDB871933D}"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0" y="0"/>
            <a:ext cx="0" cy="0"/>
          </a:xfrm>
          <a:prstGeom prst="rect">
            <a:avLst/>
          </a:prstGeom>
          <a:ln w="0">
            <a:noFill/>
          </a:ln>
        </p:spPr>
      </p:sp>
      <p:sp>
        <p:nvSpPr>
          <p:cNvPr id="32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Four steps. You: scan a résumé or answer eight questions. Skills: every skill gets an expiry date under slow, medium and fast AI. Jobs: eighty-nine roles, ranked by what you can reach before your deadline. Plan: week by week, with free courses and an advisor meeting.</a:t>
            </a:r>
            <a:endParaRPr lang="en-US" sz="2000" b="0" u="none" strike="noStrike">
              <a:solidFill>
                <a:srgbClr val="000000"/>
              </a:solidFill>
              <a:effectLst/>
              <a:uFillTx/>
              <a:latin typeface="Arial"/>
            </a:endParaRPr>
          </a:p>
        </p:txBody>
      </p:sp>
      <p:sp>
        <p:nvSpPr>
          <p:cNvPr id="323"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D800A574-E2CB-4D63-A537-44D33E24D279}"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0" y="0"/>
            <a:ext cx="0" cy="0"/>
          </a:xfrm>
          <a:prstGeom prst="rect">
            <a:avLst/>
          </a:prstGeom>
          <a:ln w="0">
            <a:noFill/>
          </a:ln>
        </p:spPr>
      </p:sp>
      <p:sp>
        <p:nvSpPr>
          <p:cNvPr id="32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What makes it different is the prediction market. Nobody knows how fast AI will move, so we run three futures and let forecasts set the odds. Each question settles against a real public release, like DOSM’s on 17 November. About two hundred simulated forecasters, clearly labelled, built track records by replaying sixty-six real past releases. A hash log, not a blockchain, keeps the record tamper-evident. And this is not a chatbot: no AI model runs inside Jobbery.</a:t>
            </a:r>
            <a:endParaRPr lang="en-US" sz="2000" b="0" u="none" strike="noStrike">
              <a:solidFill>
                <a:srgbClr val="000000"/>
              </a:solidFill>
              <a:effectLst/>
              <a:uFillTx/>
              <a:latin typeface="Arial"/>
            </a:endParaRPr>
          </a:p>
        </p:txBody>
      </p:sp>
      <p:sp>
        <p:nvSpPr>
          <p:cNvPr id="326"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7E348498-A4E5-498B-9897-D842B2468A57}"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0" y="0"/>
            <a:ext cx="0" cy="0"/>
          </a:xfrm>
          <a:prstGeom prst="rect">
            <a:avLst/>
          </a:prstGeom>
          <a:ln w="0">
            <a:noFill/>
          </a:ln>
        </p:spPr>
      </p:sp>
      <p:sp>
        <p:nvSpPr>
          <p:cNvPr id="32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Every source is dated and replaceable. Drop in the next DOSM workbook, run one command, and expiry dates, rankings and plans recompute.</a:t>
            </a:r>
            <a:endParaRPr lang="en-US" sz="2000" b="0" u="none" strike="noStrike">
              <a:solidFill>
                <a:srgbClr val="000000"/>
              </a:solidFill>
              <a:effectLst/>
              <a:uFillTx/>
              <a:latin typeface="Arial"/>
            </a:endParaRPr>
          </a:p>
        </p:txBody>
      </p:sp>
      <p:sp>
        <p:nvSpPr>
          <p:cNvPr id="329"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F76F897A-15C6-4265-A846-AE625F4A0688}"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0" y="0"/>
            <a:ext cx="0" cy="0"/>
          </a:xfrm>
          <a:prstGeom prst="rect">
            <a:avLst/>
          </a:prstGeom>
          <a:ln w="0">
            <a:noFill/>
          </a:ln>
        </p:spPr>
      </p:sp>
      <p:sp>
        <p:nvSpPr>
          <p:cNvPr id="33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Every source is dated and replaceable. Drop in the next DOSM workbook, run one command, and expiry dates, rankings and plans recompute.</a:t>
            </a:r>
            <a:endParaRPr lang="en-US" sz="2000" b="0" u="none" strike="noStrike">
              <a:solidFill>
                <a:srgbClr val="000000"/>
              </a:solidFill>
              <a:effectLst/>
              <a:uFillTx/>
              <a:latin typeface="Arial"/>
            </a:endParaRPr>
          </a:p>
        </p:txBody>
      </p:sp>
      <p:sp>
        <p:nvSpPr>
          <p:cNvPr id="332"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AC5A0D36-9373-4674-8DD7-203A54EA1555}"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0" y="0"/>
            <a:ext cx="0" cy="0"/>
          </a:xfrm>
          <a:prstGeom prst="rect">
            <a:avLst/>
          </a:prstGeom>
          <a:ln w="0">
            <a:noFill/>
          </a:ln>
        </p:spPr>
      </p:sp>
      <p:sp>
        <p:nvSpPr>
          <p:cNvPr id="33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Every source is dated and replaceable. Drop in the next DOSM workbook, run one command, and expiry dates, rankings and plans recompute.</a:t>
            </a:r>
            <a:endParaRPr lang="en-US" sz="2000" b="0" u="none" strike="noStrike">
              <a:solidFill>
                <a:srgbClr val="000000"/>
              </a:solidFill>
              <a:effectLst/>
              <a:uFillTx/>
              <a:latin typeface="Arial"/>
            </a:endParaRPr>
          </a:p>
        </p:txBody>
      </p:sp>
      <p:sp>
        <p:nvSpPr>
          <p:cNvPr id="335"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C8B04FC8-07B7-4CE4-84F8-C931E321F05F}"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0" y="0"/>
            <a:ext cx="0" cy="0"/>
          </a:xfrm>
          <a:prstGeom prst="rect">
            <a:avLst/>
          </a:prstGeom>
          <a:ln w="0">
            <a:noFill/>
          </a:ln>
        </p:spPr>
      </p:sp>
      <p:sp>
        <p:nvSpPr>
          <p:cNvPr id="33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Every source is dated and replaceable. Drop in the next DOSM workbook, run one command, and expiry dates, rankings and plans recompute.</a:t>
            </a:r>
            <a:endParaRPr lang="en-US" sz="2000" b="0" u="none" strike="noStrike">
              <a:solidFill>
                <a:srgbClr val="000000"/>
              </a:solidFill>
              <a:effectLst/>
              <a:uFillTx/>
              <a:latin typeface="Arial"/>
            </a:endParaRPr>
          </a:p>
        </p:txBody>
      </p:sp>
      <p:sp>
        <p:nvSpPr>
          <p:cNvPr id="338"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84098A1F-4AE4-43F4-86E1-A7E0AC7D5270}"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0" y="0"/>
            <a:ext cx="0" cy="0"/>
          </a:xfrm>
          <a:prstGeom prst="rect">
            <a:avLst/>
          </a:prstGeom>
          <a:ln w="0">
            <a:noFill/>
          </a:ln>
        </p:spPr>
      </p:sp>
      <p:sp>
        <p:nvSpPr>
          <p:cNvPr id="34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Every source is dated and replaceable. Drop in the next DOSM workbook, run one command, and expiry dates, rankings and plans recompute.</a:t>
            </a:r>
            <a:endParaRPr lang="en-US" sz="2000" b="0" u="none" strike="noStrike">
              <a:solidFill>
                <a:srgbClr val="000000"/>
              </a:solidFill>
              <a:effectLst/>
              <a:uFillTx/>
              <a:latin typeface="Arial"/>
            </a:endParaRPr>
          </a:p>
        </p:txBody>
      </p:sp>
      <p:sp>
        <p:nvSpPr>
          <p:cNvPr id="341"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323D7AB4-9450-42E8-88D9-B1E7E4FCBDB8}"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0" y="0"/>
            <a:ext cx="0" cy="0"/>
          </a:xfrm>
          <a:prstGeom prst="rect">
            <a:avLst/>
          </a:prstGeom>
          <a:ln w="0">
            <a:noFill/>
          </a:ln>
        </p:spPr>
      </p:sp>
      <p:sp>
        <p:nvSpPr>
          <p:cNvPr id="34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What makes it different is the prediction market. Nobody knows how fast AI will move, so we run three futures and let forecasts set the odds. Each question settles against a real public release, like DOSM’s on 17 November. About two hundred simulated forecasters, clearly labelled, built track records by replaying sixty-six real past releases. A hash log, not a blockchain, keeps the record tamper-evident. And this is not a chatbot: no AI model runs inside Jobbery.</a:t>
            </a:r>
            <a:endParaRPr lang="en-US" sz="2000" b="0" u="none" strike="noStrike">
              <a:solidFill>
                <a:srgbClr val="000000"/>
              </a:solidFill>
              <a:effectLst/>
              <a:uFillTx/>
              <a:latin typeface="Arial"/>
            </a:endParaRPr>
          </a:p>
        </p:txBody>
      </p:sp>
      <p:sp>
        <p:nvSpPr>
          <p:cNvPr id="344"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8CDE0ABA-5F61-400D-BF61-06DB8055EC2D}"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Img"/>
          </p:nvPr>
        </p:nvSpPr>
        <p:spPr>
          <a:xfrm>
            <a:off x="0" y="0"/>
            <a:ext cx="0" cy="0"/>
          </a:xfrm>
          <a:prstGeom prst="rect">
            <a:avLst/>
          </a:prstGeom>
          <a:ln w="0">
            <a:noFill/>
          </a:ln>
        </p:spPr>
      </p:sp>
      <p:sp>
        <p:nvSpPr>
          <p:cNvPr id="34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Every source is dated and replaceable. Drop in the next DOSM workbook, run one command, and expiry dates, rankings and plans recompute.</a:t>
            </a:r>
            <a:endParaRPr lang="en-US" sz="2000" b="0" u="none" strike="noStrike">
              <a:solidFill>
                <a:srgbClr val="000000"/>
              </a:solidFill>
              <a:effectLst/>
              <a:uFillTx/>
              <a:latin typeface="Arial"/>
            </a:endParaRPr>
          </a:p>
        </p:txBody>
      </p:sp>
      <p:sp>
        <p:nvSpPr>
          <p:cNvPr id="347"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027CFB06-1110-46C8-93DE-BB3F6F9EF670}"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0" y="0"/>
            <a:ext cx="0" cy="0"/>
          </a:xfrm>
          <a:prstGeom prst="rect">
            <a:avLst/>
          </a:prstGeom>
          <a:ln w="0">
            <a:noFill/>
          </a:ln>
        </p:spPr>
      </p:sp>
      <p:sp>
        <p:nvSpPr>
          <p:cNvPr id="34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What makes it different is the prediction market. Nobody knows how fast AI will move, so we run three futures and let forecasts set the odds. Each question settles against a real public release, like DOSM’s on 17 November. About two hundred simulated forecasters, clearly labelled, built track records by replaying sixty-six real past releases. A hash log, not a blockchain, keeps the record tamper-evident. And this is not a chatbot: no AI model runs inside Jobbery.</a:t>
            </a:r>
            <a:endParaRPr lang="en-US" sz="2000" b="0" u="none" strike="noStrike">
              <a:solidFill>
                <a:srgbClr val="000000"/>
              </a:solidFill>
              <a:effectLst/>
              <a:uFillTx/>
              <a:latin typeface="Arial"/>
            </a:endParaRPr>
          </a:p>
        </p:txBody>
      </p:sp>
      <p:sp>
        <p:nvSpPr>
          <p:cNvPr id="350"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FB38FD83-5D15-4E0E-B896-2BB2629C58E9}"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0" y="0"/>
            <a:ext cx="0" cy="0"/>
          </a:xfrm>
          <a:prstGeom prst="rect">
            <a:avLst/>
          </a:prstGeom>
          <a:ln w="0">
            <a:noFill/>
          </a:ln>
        </p:spPr>
      </p:sp>
      <p:sp>
        <p:nvSpPr>
          <p:cNvPr id="35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Every source is dated and replaceable. Drop in the next DOSM workbook, run one command, and expiry dates, rankings and plans recompute.</a:t>
            </a:r>
            <a:endParaRPr lang="en-US" sz="2000" b="0" u="none" strike="noStrike">
              <a:solidFill>
                <a:srgbClr val="000000"/>
              </a:solidFill>
              <a:effectLst/>
              <a:uFillTx/>
              <a:latin typeface="Arial"/>
            </a:endParaRPr>
          </a:p>
        </p:txBody>
      </p:sp>
      <p:sp>
        <p:nvSpPr>
          <p:cNvPr id="353"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A482DD1D-1A3B-4393-A643-59EA9666A05C}"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0" y="0"/>
            <a:ext cx="0" cy="0"/>
          </a:xfrm>
          <a:prstGeom prst="rect">
            <a:avLst/>
          </a:prstGeom>
          <a:ln w="0">
            <a:noFill/>
          </a:ln>
        </p:spPr>
      </p:sp>
      <p:sp>
        <p:nvSpPr>
          <p:cNvPr id="35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What makes it different is the prediction market. Nobody knows how fast AI will move, so we run three futures and let forecasts set the odds. Each question settles against a real public release, like DOSM’s on 17 November. About two hundred simulated forecasters, clearly labelled, built track records by replaying sixty-six real past releases. A hash log, not a blockchain, keeps the record tamper-evident. And this is not a chatbot: no AI model runs inside Jobbery.</a:t>
            </a:r>
            <a:endParaRPr lang="en-US" sz="2000" b="0" u="none" strike="noStrike">
              <a:solidFill>
                <a:srgbClr val="000000"/>
              </a:solidFill>
              <a:effectLst/>
              <a:uFillTx/>
              <a:latin typeface="Arial"/>
            </a:endParaRPr>
          </a:p>
        </p:txBody>
      </p:sp>
      <p:sp>
        <p:nvSpPr>
          <p:cNvPr id="356"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3BE1710B-CCE5-4504-9138-362A34ABF7EB}"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0" y="0"/>
            <a:ext cx="0" cy="0"/>
          </a:xfrm>
          <a:prstGeom prst="rect">
            <a:avLst/>
          </a:prstGeom>
          <a:ln w="0">
            <a:noFill/>
          </a:ln>
        </p:spPr>
      </p:sp>
      <p:sp>
        <p:nvSpPr>
          <p:cNvPr id="35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Every source is dated and replaceable. Drop in the next DOSM workbook, run one command, and expiry dates, rankings and plans recompute.</a:t>
            </a:r>
            <a:endParaRPr lang="en-US" sz="2000" b="0" u="none" strike="noStrike">
              <a:solidFill>
                <a:srgbClr val="000000"/>
              </a:solidFill>
              <a:effectLst/>
              <a:uFillTx/>
              <a:latin typeface="Arial"/>
            </a:endParaRPr>
          </a:p>
        </p:txBody>
      </p:sp>
      <p:sp>
        <p:nvSpPr>
          <p:cNvPr id="359"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FDAC24AB-D23D-47A1-984B-8D5A61ED19DF}"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0" y="0"/>
            <a:ext cx="0" cy="0"/>
          </a:xfrm>
          <a:prstGeom prst="rect">
            <a:avLst/>
          </a:prstGeom>
          <a:ln w="0">
            <a:noFill/>
          </a:ln>
        </p:spPr>
      </p:sp>
      <p:sp>
        <p:nvSpPr>
          <p:cNvPr id="36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Every source is dated and replaceable. Drop in the next DOSM workbook, run one command, and expiry dates, rankings and plans recompute.</a:t>
            </a:r>
            <a:endParaRPr lang="en-US" sz="2000" b="0" u="none" strike="noStrike">
              <a:solidFill>
                <a:srgbClr val="000000"/>
              </a:solidFill>
              <a:effectLst/>
              <a:uFillTx/>
              <a:latin typeface="Arial"/>
            </a:endParaRPr>
          </a:p>
        </p:txBody>
      </p:sp>
      <p:sp>
        <p:nvSpPr>
          <p:cNvPr id="362"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0B68E82F-E795-4BAF-92C5-876CD903DE37}"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685800" y="1143000"/>
            <a:ext cx="5486040" cy="3085920"/>
          </a:xfrm>
          <a:prstGeom prst="rect">
            <a:avLst/>
          </a:prstGeom>
          <a:ln w="0">
            <a:noFill/>
          </a:ln>
        </p:spPr>
      </p:sp>
      <p:sp>
        <p:nvSpPr>
          <p:cNvPr id="3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Next.js, React, TypeScript and Tailwind in front, Groq for the language model, and Node and Postgres behind.</a:t>
            </a:r>
            <a:endParaRPr lang="en-US" sz="2000" b="0" u="none" strike="noStrike">
              <a:solidFill>
                <a:srgbClr val="000000"/>
              </a:solidFill>
              <a:effectLst/>
              <a:uFillTx/>
              <a:latin typeface="Arial"/>
            </a:endParaRPr>
          </a:p>
        </p:txBody>
      </p:sp>
      <p:sp>
        <p:nvSpPr>
          <p:cNvPr id="365"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BB38087-748D-480B-B3E3-956A2FD763E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0" y="0"/>
            <a:ext cx="0" cy="0"/>
          </a:xfrm>
          <a:prstGeom prst="rect">
            <a:avLst/>
          </a:prstGeom>
          <a:ln w="0">
            <a:noFill/>
          </a:ln>
        </p:spPr>
      </p:sp>
      <p:sp>
        <p:nvSpPr>
          <p:cNvPr id="36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People stay in control. Jobbery ranks and explains, but you choose. An advisor can be booked any time, and nothing waits for approval. Résumés are never stored. And a test checks that age and gender never change the results.</a:t>
            </a:r>
            <a:endParaRPr lang="en-US" sz="2000" b="0" u="none" strike="noStrike">
              <a:solidFill>
                <a:srgbClr val="000000"/>
              </a:solidFill>
              <a:effectLst/>
              <a:uFillTx/>
              <a:latin typeface="Arial"/>
            </a:endParaRPr>
          </a:p>
        </p:txBody>
      </p:sp>
      <p:sp>
        <p:nvSpPr>
          <p:cNvPr id="368"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E0494685-1E53-4148-8F9E-F42621EBCAAE}"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0" y="0"/>
            <a:ext cx="0" cy="0"/>
          </a:xfrm>
          <a:prstGeom prst="rect">
            <a:avLst/>
          </a:prstGeom>
          <a:ln w="0">
            <a:noFill/>
          </a:ln>
        </p:spPr>
      </p:sp>
      <p:sp>
        <p:nvSpPr>
          <p:cNvPr id="37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Clerks reskill inside their allowance window, and advisors spend meetings on advice. We will measure plans finished before the deadline and time to first interview. It maps to SDGs four, eight and ten, in four languages.</a:t>
            </a:r>
            <a:endParaRPr lang="en-US" sz="2000" b="0" u="none" strike="noStrike">
              <a:solidFill>
                <a:srgbClr val="000000"/>
              </a:solidFill>
              <a:effectLst/>
              <a:uFillTx/>
              <a:latin typeface="Arial"/>
            </a:endParaRPr>
          </a:p>
        </p:txBody>
      </p:sp>
      <p:sp>
        <p:nvSpPr>
          <p:cNvPr id="371" name="PlaceHolder 3"/>
          <p:cNvSpPr>
            <a:spLocks noGrp="1"/>
          </p:cNvSpPr>
          <p:nvPr>
            <p:ph type="sldNum" idx="2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AE559C13-7C97-4CBC-AA75-4F693930DDE3}"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0" y="0"/>
            <a:ext cx="0" cy="0"/>
          </a:xfrm>
          <a:prstGeom prst="rect">
            <a:avLst/>
          </a:prstGeom>
          <a:ln w="0">
            <a:noFill/>
          </a:ln>
        </p:spPr>
      </p:sp>
      <p:sp>
        <p:nvSpPr>
          <p:cNvPr id="37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Clerks reskill inside their allowance window, and advisors spend meetings on advice. We will measure plans finished before the deadline and time to first interview. It maps to SDGs four, eight and ten, in four languages.</a:t>
            </a:r>
            <a:endParaRPr lang="en-US" sz="2000" b="0" u="none" strike="noStrike">
              <a:solidFill>
                <a:srgbClr val="000000"/>
              </a:solidFill>
              <a:effectLst/>
              <a:uFillTx/>
              <a:latin typeface="Arial"/>
            </a:endParaRPr>
          </a:p>
        </p:txBody>
      </p:sp>
      <p:sp>
        <p:nvSpPr>
          <p:cNvPr id="374" name="PlaceHolder 3"/>
          <p:cNvSpPr>
            <a:spLocks noGrp="1"/>
          </p:cNvSpPr>
          <p:nvPr>
            <p:ph type="sldNum" idx="2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D4A8C780-DDAD-4DFF-8D34-E5C3C775EF61}"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7ED"/>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IGHT">
    <p:bg>
      <p:bgPr>
        <a:solidFill>
          <a:srgbClr val="FFF7ED"/>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840" y="502920"/>
            <a:ext cx="10972440" cy="914040"/>
          </a:xfrm>
          <a:prstGeom prst="rect">
            <a:avLst/>
          </a:prstGeom>
          <a:noFill/>
          <a:ln w="0">
            <a:noFill/>
          </a:ln>
        </p:spPr>
        <p:txBody>
          <a:bodyPr lIns="90000" tIns="45000" rIns="90000" bIns="45000" anchor="t">
            <a:noAutofit/>
          </a:bodyPr>
          <a:lstStyle>
            <a:lvl1pPr indent="0" algn="l">
              <a:buNone/>
              <a:defRPr lang="en-US" sz="3600" b="0" u="none" strike="noStrike">
                <a:solidFill>
                  <a:schemeClr val="dk1"/>
                </a:solidFill>
                <a:effectLst/>
                <a:uFillTx/>
                <a:latin typeface="Calibri"/>
              </a:defRPr>
            </a:lvl1pPr>
          </a:lstStyle>
          <a:p>
            <a:pPr indent="0" algn="l">
              <a:buNone/>
            </a:pPr>
            <a:r>
              <a:rPr lang="en-US" sz="3600" b="0" u="none" strike="noStrike">
                <a:solidFill>
                  <a:schemeClr val="dk1"/>
                </a:solidFill>
                <a:effectLst/>
                <a:uFillTx/>
                <a:latin typeface="Calibri"/>
              </a:rPr>
              <a:t>Click to edit the title text format</a:t>
            </a:r>
            <a:endParaRPr lang="en-US" sz="36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INT">
    <p:bg>
      <p:bgPr>
        <a:solidFill>
          <a:schemeClr val="lt2"/>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840" y="502920"/>
            <a:ext cx="10972440" cy="914040"/>
          </a:xfrm>
          <a:prstGeom prst="rect">
            <a:avLst/>
          </a:prstGeom>
          <a:noFill/>
          <a:ln w="0">
            <a:noFill/>
          </a:ln>
        </p:spPr>
        <p:txBody>
          <a:bodyPr lIns="90000" tIns="45000" rIns="90000" bIns="45000" anchor="t">
            <a:noAutofit/>
          </a:bodyPr>
          <a:lstStyle>
            <a:lvl1pPr indent="0" algn="l">
              <a:buNone/>
              <a:defRPr lang="en-US" sz="3600" b="0" u="none" strike="noStrike">
                <a:solidFill>
                  <a:schemeClr val="dk1"/>
                </a:solidFill>
                <a:effectLst/>
                <a:uFillTx/>
                <a:latin typeface="Calibri"/>
              </a:defRPr>
            </a:lvl1pPr>
          </a:lstStyle>
          <a:p>
            <a:pPr indent="0" algn="l">
              <a:buNone/>
            </a:pPr>
            <a:r>
              <a:rPr lang="en-US" sz="3600" b="0" u="none" strike="noStrike">
                <a:solidFill>
                  <a:schemeClr val="dk1"/>
                </a:solidFill>
                <a:effectLst/>
                <a:uFillTx/>
                <a:latin typeface="Calibri"/>
              </a:rPr>
              <a:t>Click to </a:t>
            </a:r>
            <a:r>
              <a:rPr lang="en-US" sz="3600" b="0" u="none" strike="noStrike">
                <a:solidFill>
                  <a:schemeClr val="dk1"/>
                </a:solidFill>
                <a:effectLst/>
                <a:uFillTx/>
                <a:latin typeface="Calibri"/>
              </a:rPr>
              <a:t>edit the </a:t>
            </a:r>
            <a:r>
              <a:rPr lang="en-US" sz="3600" b="0" u="none" strike="noStrike">
                <a:solidFill>
                  <a:schemeClr val="dk1"/>
                </a:solidFill>
                <a:effectLst/>
                <a:uFillTx/>
                <a:latin typeface="Calibri"/>
              </a:rPr>
              <a:t>title text </a:t>
            </a:r>
            <a:r>
              <a:rPr lang="en-US" sz="3600" b="0" u="none" strike="noStrike">
                <a:solidFill>
                  <a:schemeClr val="dk1"/>
                </a:solidFill>
                <a:effectLst/>
                <a:uFillTx/>
                <a:latin typeface="Calibri"/>
              </a:rPr>
              <a:t>format</a:t>
            </a:r>
            <a:endParaRPr lang="en-US" sz="3600" b="0" u="none" strike="noStrike">
              <a:solidFill>
                <a:schemeClr val="dk1"/>
              </a:solidFill>
              <a:effectLst/>
              <a:uFillTx/>
              <a:latin typeface="Calibri"/>
            </a:endParaRP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INT_DEEP">
    <p:bg>
      <p:bgPr>
        <a:solidFill>
          <a:schemeClr val="accent4"/>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09840" y="502920"/>
            <a:ext cx="10972440" cy="914040"/>
          </a:xfrm>
          <a:prstGeom prst="rect">
            <a:avLst/>
          </a:prstGeom>
          <a:noFill/>
          <a:ln w="0">
            <a:noFill/>
          </a:ln>
        </p:spPr>
        <p:txBody>
          <a:bodyPr lIns="90000" tIns="45000" rIns="90000" bIns="45000" anchor="t">
            <a:noAutofit/>
          </a:bodyPr>
          <a:lstStyle>
            <a:lvl1pPr indent="0" algn="l">
              <a:buNone/>
              <a:defRPr lang="en-US" sz="3600" b="0" u="none" strike="noStrike">
                <a:solidFill>
                  <a:schemeClr val="dk1"/>
                </a:solidFill>
                <a:effectLst/>
                <a:uFillTx/>
                <a:latin typeface="Calibri"/>
              </a:defRPr>
            </a:lvl1pPr>
          </a:lstStyle>
          <a:p>
            <a:pPr indent="0" algn="l">
              <a:buNone/>
            </a:pPr>
            <a:r>
              <a:rPr lang="en-US" sz="3600" b="0" u="none" strike="noStrike">
                <a:solidFill>
                  <a:schemeClr val="dk1"/>
                </a:solidFill>
                <a:effectLst/>
                <a:uFillTx/>
                <a:latin typeface="Calibri"/>
              </a:rPr>
              <a:t>Click to </a:t>
            </a:r>
            <a:r>
              <a:rPr lang="en-US" sz="3600" b="0" u="none" strike="noStrike">
                <a:solidFill>
                  <a:schemeClr val="dk1"/>
                </a:solidFill>
                <a:effectLst/>
                <a:uFillTx/>
                <a:latin typeface="Calibri"/>
              </a:rPr>
              <a:t>edit the </a:t>
            </a:r>
            <a:r>
              <a:rPr lang="en-US" sz="3600" b="0" u="none" strike="noStrike">
                <a:solidFill>
                  <a:schemeClr val="dk1"/>
                </a:solidFill>
                <a:effectLst/>
                <a:uFillTx/>
                <a:latin typeface="Calibri"/>
              </a:rPr>
              <a:t>title text </a:t>
            </a:r>
            <a:r>
              <a:rPr lang="en-US" sz="3600" b="0" u="none" strike="noStrike">
                <a:solidFill>
                  <a:schemeClr val="dk1"/>
                </a:solidFill>
                <a:effectLst/>
                <a:uFillTx/>
                <a:latin typeface="Calibri"/>
              </a:rPr>
              <a:t>format</a:t>
            </a:r>
            <a:endParaRPr lang="en-US" sz="3600" b="0" u="none" strike="noStrike">
              <a:solidFill>
                <a:schemeClr val="dk1"/>
              </a:solidFill>
              <a:effectLst/>
              <a:uFillTx/>
              <a:latin typeface="Calibri"/>
            </a:endParaRPr>
          </a:p>
        </p:txBody>
      </p:sp>
      <p:sp>
        <p:nvSpPr>
          <p:cNvPr id="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ARK">
    <p:bg>
      <p:bgPr>
        <a:solidFill>
          <a:schemeClr val="accent1"/>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09840" y="502920"/>
            <a:ext cx="10972440" cy="914040"/>
          </a:xfrm>
          <a:prstGeom prst="rect">
            <a:avLst/>
          </a:prstGeom>
          <a:noFill/>
          <a:ln w="0">
            <a:noFill/>
          </a:ln>
        </p:spPr>
        <p:txBody>
          <a:bodyPr lIns="90000" tIns="45000" rIns="90000" bIns="45000" anchor="t">
            <a:noAutofit/>
          </a:bodyPr>
          <a:lstStyle>
            <a:lvl1pPr indent="0" algn="l">
              <a:buNone/>
              <a:defRPr lang="en-US" sz="3600" b="0" u="none" strike="noStrike">
                <a:solidFill>
                  <a:schemeClr val="dk1"/>
                </a:solidFill>
                <a:effectLst/>
                <a:uFillTx/>
                <a:latin typeface="Calibri"/>
              </a:defRPr>
            </a:lvl1pPr>
          </a:lstStyle>
          <a:p>
            <a:pPr indent="0" algn="l">
              <a:buNone/>
            </a:pPr>
            <a:r>
              <a:rPr lang="en-US" sz="3600" b="0" u="none" strike="noStrike">
                <a:solidFill>
                  <a:schemeClr val="dk1"/>
                </a:solidFill>
                <a:effectLst/>
                <a:uFillTx/>
                <a:latin typeface="Calibri"/>
              </a:rPr>
              <a:t>Click to </a:t>
            </a:r>
            <a:r>
              <a:rPr lang="en-US" sz="3600" b="0" u="none" strike="noStrike">
                <a:solidFill>
                  <a:schemeClr val="dk1"/>
                </a:solidFill>
                <a:effectLst/>
                <a:uFillTx/>
                <a:latin typeface="Calibri"/>
              </a:rPr>
              <a:t>edit the </a:t>
            </a:r>
            <a:r>
              <a:rPr lang="en-US" sz="3600" b="0" u="none" strike="noStrike">
                <a:solidFill>
                  <a:schemeClr val="dk1"/>
                </a:solidFill>
                <a:effectLst/>
                <a:uFillTx/>
                <a:latin typeface="Calibri"/>
              </a:rPr>
              <a:t>title text </a:t>
            </a:r>
            <a:r>
              <a:rPr lang="en-US" sz="3600" b="0" u="none" strike="noStrike">
                <a:solidFill>
                  <a:schemeClr val="dk1"/>
                </a:solidFill>
                <a:effectLst/>
                <a:uFillTx/>
                <a:latin typeface="Calibri"/>
              </a:rPr>
              <a:t>format</a:t>
            </a:r>
            <a:endParaRPr lang="en-US" sz="3600" b="0" u="none" strike="noStrike">
              <a:solidFill>
                <a:schemeClr val="dk1"/>
              </a:solidFill>
              <a:effectLst/>
              <a:uFillTx/>
              <a:latin typeface="Calibri"/>
            </a:endParaRPr>
          </a:p>
        </p:txBody>
      </p:sp>
      <p:sp>
        <p:nvSpPr>
          <p:cNvPr id="9"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FFFFFF"/>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FFFFFF"/>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FFFFFF"/>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FFFFFF"/>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p:bg>
      <p:bgPr>
        <a:solidFill>
          <a:schemeClr val="accen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609840" y="1417320"/>
            <a:ext cx="6583320" cy="2102760"/>
          </a:xfrm>
          <a:prstGeom prst="rect">
            <a:avLst/>
          </a:prstGeom>
          <a:noFill/>
          <a:ln w="0">
            <a:noFill/>
          </a:ln>
        </p:spPr>
        <p:txBody>
          <a:bodyPr lIns="90000" tIns="45000" rIns="90000" bIns="45000" anchor="t">
            <a:noAutofit/>
          </a:bodyPr>
          <a:lstStyle>
            <a:lvl1pPr indent="0" algn="l">
              <a:buNone/>
              <a:defRPr lang="en-US" sz="11000" b="0" u="none" strike="noStrike">
                <a:solidFill>
                  <a:schemeClr val="dk1"/>
                </a:solidFill>
                <a:effectLst/>
                <a:uFillTx/>
                <a:latin typeface="Calibri"/>
              </a:defRPr>
            </a:lvl1pPr>
          </a:lstStyle>
          <a:p>
            <a:pPr indent="0" algn="l">
              <a:buNone/>
            </a:pPr>
            <a:r>
              <a:rPr lang="en-US" sz="11000" b="0" u="none" strike="noStrike">
                <a:solidFill>
                  <a:schemeClr val="dk1"/>
                </a:solidFill>
                <a:effectLst/>
                <a:uFillTx/>
                <a:latin typeface="Calibri"/>
              </a:rPr>
              <a:t>Clic</a:t>
            </a:r>
            <a:r>
              <a:rPr lang="en-US" sz="11000" b="0" u="none" strike="noStrike">
                <a:solidFill>
                  <a:schemeClr val="dk1"/>
                </a:solidFill>
                <a:effectLst/>
                <a:uFillTx/>
                <a:latin typeface="Calibri"/>
              </a:rPr>
              <a:t>k </a:t>
            </a:r>
            <a:r>
              <a:rPr lang="en-US" sz="11000" b="0" u="none" strike="noStrike">
                <a:solidFill>
                  <a:schemeClr val="dk1"/>
                </a:solidFill>
                <a:effectLst/>
                <a:uFillTx/>
                <a:latin typeface="Calibri"/>
              </a:rPr>
              <a:t>to </a:t>
            </a:r>
            <a:r>
              <a:rPr lang="en-US" sz="11000" b="0" u="none" strike="noStrike">
                <a:solidFill>
                  <a:schemeClr val="dk1"/>
                </a:solidFill>
                <a:effectLst/>
                <a:uFillTx/>
                <a:latin typeface="Calibri"/>
              </a:rPr>
              <a:t>edi</a:t>
            </a:r>
            <a:r>
              <a:rPr lang="en-US" sz="11000" b="0" u="none" strike="noStrike">
                <a:solidFill>
                  <a:schemeClr val="dk1"/>
                </a:solidFill>
                <a:effectLst/>
                <a:uFillTx/>
                <a:latin typeface="Calibri"/>
              </a:rPr>
              <a:t>t </a:t>
            </a:r>
            <a:r>
              <a:rPr lang="en-US" sz="11000" b="0" u="none" strike="noStrike">
                <a:solidFill>
                  <a:schemeClr val="dk1"/>
                </a:solidFill>
                <a:effectLst/>
                <a:uFillTx/>
                <a:latin typeface="Calibri"/>
              </a:rPr>
              <a:t>the </a:t>
            </a:r>
            <a:r>
              <a:rPr lang="en-US" sz="11000" b="0" u="none" strike="noStrike">
                <a:solidFill>
                  <a:schemeClr val="dk1"/>
                </a:solidFill>
                <a:effectLst/>
                <a:uFillTx/>
                <a:latin typeface="Calibri"/>
              </a:rPr>
              <a:t>titl</a:t>
            </a:r>
            <a:r>
              <a:rPr lang="en-US" sz="11000" b="0" u="none" strike="noStrike">
                <a:solidFill>
                  <a:schemeClr val="dk1"/>
                </a:solidFill>
                <a:effectLst/>
                <a:uFillTx/>
                <a:latin typeface="Calibri"/>
              </a:rPr>
              <a:t>e </a:t>
            </a:r>
            <a:r>
              <a:rPr lang="en-US" sz="11000" b="0" u="none" strike="noStrike">
                <a:solidFill>
                  <a:schemeClr val="dk1"/>
                </a:solidFill>
                <a:effectLst/>
                <a:uFillTx/>
                <a:latin typeface="Calibri"/>
              </a:rPr>
              <a:t>tex</a:t>
            </a:r>
            <a:r>
              <a:rPr lang="en-US" sz="11000" b="0" u="none" strike="noStrike">
                <a:solidFill>
                  <a:schemeClr val="dk1"/>
                </a:solidFill>
                <a:effectLst/>
                <a:uFillTx/>
                <a:latin typeface="Calibri"/>
              </a:rPr>
              <a:t>t </a:t>
            </a:r>
            <a:r>
              <a:rPr lang="en-US" sz="11000" b="0" u="none" strike="noStrike">
                <a:solidFill>
                  <a:schemeClr val="dk1"/>
                </a:solidFill>
                <a:effectLst/>
                <a:uFillTx/>
                <a:latin typeface="Calibri"/>
              </a:rPr>
              <a:t>for</a:t>
            </a:r>
            <a:r>
              <a:rPr lang="en-US" sz="11000" b="0" u="none" strike="noStrike">
                <a:solidFill>
                  <a:schemeClr val="dk1"/>
                </a:solidFill>
                <a:effectLst/>
                <a:uFillTx/>
                <a:latin typeface="Calibri"/>
              </a:rPr>
              <a:t>ma</a:t>
            </a:r>
            <a:r>
              <a:rPr lang="en-US" sz="11000" b="0" u="none" strike="noStrike">
                <a:solidFill>
                  <a:schemeClr val="dk1"/>
                </a:solidFill>
                <a:effectLst/>
                <a:uFillTx/>
                <a:latin typeface="Calibri"/>
              </a:rPr>
              <a:t>t</a:t>
            </a:r>
            <a:endParaRPr lang="en-US" sz="11000" b="0" u="none" strike="noStrike">
              <a:solidFill>
                <a:schemeClr val="dk1"/>
              </a:solidFill>
              <a:effectLst/>
              <a:uFillTx/>
              <a:latin typeface="Calibri"/>
            </a:endParaRPr>
          </a:p>
        </p:txBody>
      </p:sp>
      <p:sp>
        <p:nvSpPr>
          <p:cNvPr id="11"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FFFFFF"/>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FFFFFF"/>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FFFFFF"/>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FFFFFF"/>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LIGH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7ED"/>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09840" y="502920"/>
            <a:ext cx="10972080" cy="91368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3600" b="0" u="none" strike="noStrike">
                <a:solidFill>
                  <a:schemeClr val="dk1"/>
                </a:solidFill>
                <a:effectLst/>
                <a:uFillTx/>
                <a:latin typeface="Calibri"/>
              </a:defRPr>
            </a:lvl1pPr>
          </a:lstStyle>
          <a:p>
            <a:pPr indent="0" algn="l" defTabSz="914400">
              <a:lnSpc>
                <a:spcPct val="90000"/>
              </a:lnSpc>
              <a:buNone/>
              <a:tabLst>
                <a:tab pos="0" algn="l"/>
              </a:tabLst>
            </a:pPr>
            <a:r>
              <a:rPr lang="en-US" sz="3600" b="0" u="none" strike="noStrike">
                <a:solidFill>
                  <a:schemeClr val="dk1"/>
                </a:solidFill>
                <a:effectLst/>
                <a:uFillTx/>
                <a:latin typeface="Calibri"/>
              </a:rPr>
              <a:t>Click to </a:t>
            </a:r>
            <a:r>
              <a:rPr lang="en-US" sz="3600" b="0" u="none" strike="noStrike">
                <a:solidFill>
                  <a:schemeClr val="dk1"/>
                </a:solidFill>
                <a:effectLst/>
                <a:uFillTx/>
                <a:latin typeface="Calibri"/>
              </a:rPr>
              <a:t>edit the </a:t>
            </a:r>
            <a:r>
              <a:rPr lang="en-US" sz="3600" b="0" u="none" strike="noStrike">
                <a:solidFill>
                  <a:schemeClr val="dk1"/>
                </a:solidFill>
                <a:effectLst/>
                <a:uFillTx/>
                <a:latin typeface="Calibri"/>
              </a:rPr>
              <a:t>title text </a:t>
            </a:r>
            <a:r>
              <a:rPr lang="en-US" sz="3600" b="0" u="none" strike="noStrike">
                <a:solidFill>
                  <a:schemeClr val="dk1"/>
                </a:solidFill>
                <a:effectLst/>
                <a:uFillTx/>
                <a:latin typeface="Calibri"/>
              </a:rPr>
              <a:t>format</a:t>
            </a:r>
            <a:endParaRPr lang="en-US" sz="3600" b="0" u="none" strike="noStrike">
              <a:solidFill>
                <a:schemeClr val="dk1"/>
              </a:solidFill>
              <a:effectLst/>
              <a:uFillTx/>
              <a:latin typeface="Calibri"/>
            </a:endParaRPr>
          </a:p>
        </p:txBody>
      </p:sp>
      <p:sp>
        <p:nvSpPr>
          <p:cNvPr id="13"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defTabSz="914400">
              <a:lnSpc>
                <a:spcPct val="9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914400">
              <a:lnSpc>
                <a:spcPct val="9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defTabSz="914400">
              <a:lnSpc>
                <a:spcPct val="9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6"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image" Target="../media/image4.png"/><Relationship Id="rId5" Type="http://schemas.openxmlformats.org/officeDocument/2006/relationships/image" Target="../media/image4.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slideLayout" Target="../slideLayouts/slideLayout2.xml"/><Relationship Id="rId9"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slideLayout" Target="../slideLayouts/slideLayout2.xml"/><Relationship Id="rId6"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5.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png"/><Relationship Id="rId3" Type="http://schemas.openxmlformats.org/officeDocument/2006/relationships/slideLayout" Target="../slideLayouts/slideLayout4.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3.png"/><Relationship Id="rId3" Type="http://schemas.openxmlformats.org/officeDocument/2006/relationships/slideLayout" Target="../slideLayouts/slideLayout4.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3.png"/><Relationship Id="rId3" Type="http://schemas.openxmlformats.org/officeDocument/2006/relationships/slideLayout" Target="../slideLayouts/slideLayout4.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3.png"/><Relationship Id="rId3" Type="http://schemas.openxmlformats.org/officeDocument/2006/relationships/slideLayout" Target="../slideLayouts/slideLayout4.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4.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2.png"/><Relationship Id="rId3" Type="http://schemas.openxmlformats.org/officeDocument/2006/relationships/slideLayout" Target="../slideLayouts/slideLayout5.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3.png"/><Relationship Id="rId3" Type="http://schemas.openxmlformats.org/officeDocument/2006/relationships/slideLayout" Target="../slideLayouts/slideLayout4.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png"/><Relationship Id="rId3" Type="http://schemas.openxmlformats.org/officeDocument/2006/relationships/slideLayout" Target="../slideLayouts/slideLayout5.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3.png"/><Relationship Id="rId3" Type="http://schemas.openxmlformats.org/officeDocument/2006/relationships/slideLayout" Target="../slideLayouts/slideLayout4.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5.xml"/><Relationship Id="rId7"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3.png"/><Relationship Id="rId4" Type="http://schemas.openxmlformats.org/officeDocument/2006/relationships/image" Target="../media/image26.png"/><Relationship Id="rId5" Type="http://schemas.openxmlformats.org/officeDocument/2006/relationships/slideLayout" Target="../slideLayouts/slideLayout4.xml"/><Relationship Id="rId6"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hyperlink" Target="https://github.com/yabgzichien/SDCHack-slaynergy" TargetMode="External"/><Relationship Id="rId11" Type="http://schemas.openxmlformats.org/officeDocument/2006/relationships/image" Target="../media/image36.png"/><Relationship Id="rId12" Type="http://schemas.openxmlformats.org/officeDocument/2006/relationships/slideLayout" Target="../slideLayouts/slideLayout7.xml"/><Relationship Id="rId1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3.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3.xml"/><Relationship Id="rId3" Type="http://schemas.openxmlformats.org/officeDocument/2006/relationships/notesSlide" Target="../notesSlides/notesSlide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hasCustomPrompt="1"/>
          </p:nvPr>
        </p:nvSpPr>
        <p:spPr>
          <a:xfrm>
            <a:off x="609840" y="1417320"/>
            <a:ext cx="6583320" cy="21027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11000" b="1" u="none" strike="noStrike">
                <a:solidFill>
                  <a:schemeClr val="lt1"/>
                </a:solidFill>
                <a:effectLst/>
                <a:uFillTx/>
                <a:latin typeface="Cambria"/>
                <a:ea typeface="Cambria"/>
              </a:rPr>
              <a:t>Jo</a:t>
            </a:r>
            <a:r>
              <a:rPr lang="en-US" sz="11000" b="1" u="none" strike="noStrike">
                <a:solidFill>
                  <a:schemeClr val="lt1"/>
                </a:solidFill>
                <a:effectLst/>
                <a:uFillTx/>
                <a:latin typeface="Cambria"/>
                <a:ea typeface="Cambria"/>
              </a:rPr>
              <a:t>bb</a:t>
            </a:r>
            <a:r>
              <a:rPr lang="en-US" sz="11000" b="1" u="none" strike="noStrike">
                <a:solidFill>
                  <a:schemeClr val="lt1"/>
                </a:solidFill>
                <a:effectLst/>
                <a:uFillTx/>
                <a:latin typeface="Cambria"/>
                <a:ea typeface="Cambria"/>
              </a:rPr>
              <a:t>er</a:t>
            </a:r>
            <a:r>
              <a:rPr lang="en-US" sz="11000" b="1" u="none" strike="noStrike">
                <a:solidFill>
                  <a:schemeClr val="lt1"/>
                </a:solidFill>
                <a:effectLst/>
                <a:uFillTx/>
                <a:latin typeface="Cambria"/>
                <a:ea typeface="Cambria"/>
              </a:rPr>
              <a:t>y</a:t>
            </a:r>
            <a:endParaRPr lang="en-US" sz="11000" b="0" u="none" strike="noStrike">
              <a:solidFill>
                <a:schemeClr val="dk1"/>
              </a:solidFill>
              <a:effectLst/>
              <a:uFillTx/>
              <a:latin typeface="Calibri"/>
            </a:endParaRPr>
          </a:p>
        </p:txBody>
      </p:sp>
      <p:sp>
        <p:nvSpPr>
          <p:cNvPr id="21" name="Tagline"/>
          <p:cNvSpPr/>
          <p:nvPr/>
        </p:nvSpPr>
        <p:spPr>
          <a:xfrm>
            <a:off x="609840" y="3720240"/>
            <a:ext cx="56192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600" b="0" u="none" strike="noStrike">
                <a:solidFill>
                  <a:schemeClr val="lt1"/>
                </a:solidFill>
                <a:effectLst/>
                <a:uFillTx/>
                <a:latin typeface="Calibri"/>
                <a:ea typeface="Calibri"/>
              </a:rPr>
              <a:t>Learn how to </a:t>
            </a:r>
            <a:r>
              <a:rPr lang="en-US" sz="2600" b="0" u="none" strike="noStrike">
                <a:solidFill>
                  <a:schemeClr val="lt1"/>
                </a:solidFill>
                <a:effectLst/>
                <a:uFillTx/>
                <a:latin typeface="Calibri"/>
                <a:ea typeface="Calibri"/>
              </a:rPr>
              <a:t>job before AI </a:t>
            </a:r>
            <a:r>
              <a:rPr lang="en-US" sz="2600" b="0" u="none" strike="noStrike">
                <a:solidFill>
                  <a:schemeClr val="lt1"/>
                </a:solidFill>
                <a:effectLst/>
                <a:uFillTx/>
                <a:latin typeface="Calibri"/>
                <a:ea typeface="Calibri"/>
              </a:rPr>
              <a:t>decides to rob</a:t>
            </a:r>
            <a:endParaRPr lang="en-US" sz="2600" b="0" u="none" strike="noStrike">
              <a:solidFill>
                <a:srgbClr val="FFFFFF"/>
              </a:solidFill>
              <a:effectLst/>
              <a:uFillTx/>
              <a:latin typeface="Arial"/>
            </a:endParaRPr>
          </a:p>
        </p:txBody>
      </p:sp>
      <p:sp>
        <p:nvSpPr>
          <p:cNvPr id="22" name="Domain pill shape"/>
          <p:cNvSpPr/>
          <p:nvPr/>
        </p:nvSpPr>
        <p:spPr>
          <a:xfrm>
            <a:off x="533520" y="4617720"/>
            <a:ext cx="4845960" cy="456840"/>
          </a:xfrm>
          <a:prstGeom prst="roundRect">
            <a:avLst>
              <a:gd name="adj" fmla="val 50000"/>
            </a:avLst>
          </a:prstGeom>
          <a:solidFill>
            <a:schemeClr val="accent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 name="Domain pill"/>
          <p:cNvSpPr/>
          <p:nvPr/>
        </p:nvSpPr>
        <p:spPr>
          <a:xfrm>
            <a:off x="533520" y="4617720"/>
            <a:ext cx="484596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chemeClr val="dk1"/>
                </a:solidFill>
                <a:effectLst/>
                <a:uFillTx/>
                <a:latin typeface="Calibri"/>
                <a:ea typeface="Calibri"/>
              </a:rPr>
              <a:t>Domain 1: Aiversecity </a:t>
            </a:r>
            <a:r>
              <a:rPr lang="en-US" sz="1500" b="1" u="none" strike="noStrike">
                <a:solidFill>
                  <a:schemeClr val="dk1"/>
                </a:solidFill>
                <a:effectLst/>
                <a:uFillTx/>
                <a:latin typeface="Calibri"/>
                <a:ea typeface="Calibri"/>
              </a:rPr>
              <a:t>Future-Ready Workforce</a:t>
            </a:r>
            <a:endParaRPr lang="en-US" sz="1500" b="0" u="none" strike="noStrike">
              <a:solidFill>
                <a:srgbClr val="FFFFFF"/>
              </a:solidFill>
              <a:effectLst/>
              <a:uFillTx/>
              <a:latin typeface="Arial"/>
            </a:endParaRPr>
          </a:p>
        </p:txBody>
      </p:sp>
      <p:sp>
        <p:nvSpPr>
          <p:cNvPr id="24" name="Team line"/>
          <p:cNvSpPr/>
          <p:nvPr/>
        </p:nvSpPr>
        <p:spPr>
          <a:xfrm>
            <a:off x="542520" y="5394960"/>
            <a:ext cx="63090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accent4"/>
                </a:solidFill>
                <a:effectLst/>
                <a:uFillTx/>
                <a:latin typeface="Calibri"/>
                <a:ea typeface="Calibri"/>
              </a:rPr>
              <a:t>Team #slaynergy  ·  SDC </a:t>
            </a:r>
            <a:r>
              <a:rPr lang="en-US" sz="1600" b="0" u="none" strike="noStrike">
                <a:solidFill>
                  <a:schemeClr val="accent4"/>
                </a:solidFill>
                <a:effectLst/>
                <a:uFillTx/>
                <a:latin typeface="Calibri"/>
                <a:ea typeface="Calibri"/>
              </a:rPr>
              <a:t>Hackathon 2026</a:t>
            </a:r>
            <a:endParaRPr lang="en-US" sz="1600" b="0" u="none" strike="noStrike">
              <a:solidFill>
                <a:srgbClr val="FFFFFF"/>
              </a:solidFill>
              <a:effectLst/>
              <a:uFillTx/>
              <a:latin typeface="Arial"/>
            </a:endParaRPr>
          </a:p>
        </p:txBody>
      </p:sp>
      <p:sp>
        <p:nvSpPr>
          <p:cNvPr id="25" name="Art panel"/>
          <p:cNvSpPr/>
          <p:nvPr/>
        </p:nvSpPr>
        <p:spPr>
          <a:xfrm>
            <a:off x="7315200" y="0"/>
            <a:ext cx="4876200" cy="6857640"/>
          </a:xfrm>
          <a:prstGeom prst="rect">
            <a:avLst/>
          </a:prstGeom>
          <a:solidFill>
            <a:schemeClr val="accent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 name="Art hill"/>
          <p:cNvSpPr/>
          <p:nvPr/>
        </p:nvSpPr>
        <p:spPr>
          <a:xfrm>
            <a:off x="7726680" y="2651760"/>
            <a:ext cx="4205880" cy="4205880"/>
          </a:xfrm>
          <a:prstGeom prst="ellipse">
            <a:avLst/>
          </a:prstGeom>
          <a:solidFill>
            <a:srgbClr val="9BCB9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 name="Art arch"/>
          <p:cNvSpPr/>
          <p:nvPr/>
        </p:nvSpPr>
        <p:spPr>
          <a:xfrm>
            <a:off x="8183880" y="731520"/>
            <a:ext cx="3291480" cy="3291480"/>
          </a:xfrm>
          <a:prstGeom prst="ellipse">
            <a:avLst/>
          </a:prstGeom>
          <a:solidFill>
            <a:schemeClr val="bg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 name="Art sun"/>
          <p:cNvSpPr/>
          <p:nvPr/>
        </p:nvSpPr>
        <p:spPr>
          <a:xfrm>
            <a:off x="10835640" y="502920"/>
            <a:ext cx="822600" cy="822600"/>
          </a:xfrm>
          <a:prstGeom prst="ellipse">
            <a:avLst/>
          </a:prstGeom>
          <a:solidFill>
            <a:schemeClr val="accent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 name="Art block 1"/>
          <p:cNvSpPr/>
          <p:nvPr/>
        </p:nvSpPr>
        <p:spPr>
          <a:xfrm>
            <a:off x="10058400" y="5852160"/>
            <a:ext cx="456840" cy="1005480"/>
          </a:xfrm>
          <a:prstGeom prst="rect">
            <a:avLst/>
          </a:prstGeom>
          <a:solidFill>
            <a:schemeClr val="accent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 name="Art block 2"/>
          <p:cNvSpPr/>
          <p:nvPr/>
        </p:nvSpPr>
        <p:spPr>
          <a:xfrm>
            <a:off x="10625400" y="5303520"/>
            <a:ext cx="456840" cy="1554120"/>
          </a:xfrm>
          <a:prstGeom prst="rect">
            <a:avLst/>
          </a:prstGeom>
          <a:solidFill>
            <a:schemeClr val="accent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 name="Art block 3"/>
          <p:cNvSpPr/>
          <p:nvPr/>
        </p:nvSpPr>
        <p:spPr>
          <a:xfrm>
            <a:off x="11192400" y="4663440"/>
            <a:ext cx="456840" cy="2194200"/>
          </a:xfrm>
          <a:prstGeom prst="rect">
            <a:avLst/>
          </a:prstGeom>
          <a:solidFill>
            <a:schemeClr val="accent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 name="Art block 4"/>
          <p:cNvSpPr/>
          <p:nvPr/>
        </p:nvSpPr>
        <p:spPr>
          <a:xfrm>
            <a:off x="11759040" y="5577840"/>
            <a:ext cx="456840" cy="1279800"/>
          </a:xfrm>
          <a:prstGeom prst="rect">
            <a:avLst/>
          </a:prstGeom>
          <a:solidFill>
            <a:schemeClr val="accent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3" name="Mascot, welcoming" descr="Jobbery's cockatiel mascot with open wings"/>
          <p:cNvPicPr/>
          <p:nvPr/>
        </p:nvPicPr>
        <p:blipFill>
          <a:blip r:embed="rId1"/>
          <a:stretch/>
        </p:blipFill>
        <p:spPr>
          <a:xfrm>
            <a:off x="7726680" y="1691640"/>
            <a:ext cx="3931560" cy="39315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hasCustomPrompt="1"/>
          </p:nvPr>
        </p:nvSpPr>
        <p:spPr>
          <a:xfrm>
            <a:off x="609840" y="502920"/>
            <a:ext cx="10972440" cy="914040"/>
          </a:xfrm>
          <a:prstGeom prst="rect">
            <a:avLst/>
          </a:prstGeom>
          <a:noFill/>
          <a:ln w="0">
            <a:noFill/>
          </a:ln>
        </p:spPr>
        <p:txBody>
          <a:bodyPr lIns="0" tIns="0" rIns="0" bIns="0" anchor="t">
            <a:noAutofit/>
          </a:bodyPr>
          <a:p>
            <a:pPr indent="0" algn="l" defTabSz="914400">
              <a:lnSpc>
                <a:spcPct val="100000"/>
              </a:lnSpc>
              <a:buNone/>
              <a:tabLst>
                <a:tab pos="0" algn="l"/>
              </a:tabLst>
            </a:pPr>
            <a:r>
              <a:rPr lang="en-US" sz="3600" b="0" u="none" strike="noStrike">
                <a:solidFill>
                  <a:schemeClr val="dk1"/>
                </a:solidFill>
                <a:effectLst/>
                <a:uFillTx/>
                <a:latin typeface="Cambria"/>
                <a:ea typeface="Cambria"/>
              </a:rPr>
              <a:t>As the ability to use AI is steadily decreasing, a call to action is necessary: Use it (AI) or lose it (your job)</a:t>
            </a:r>
            <a:endParaRPr lang="en-US" sz="3600" b="0" u="none" strike="noStrike">
              <a:solidFill>
                <a:schemeClr val="dk1"/>
              </a:solidFill>
              <a:effectLst/>
              <a:uFillTx/>
              <a:latin typeface="Calibri"/>
            </a:endParaRPr>
          </a:p>
        </p:txBody>
      </p:sp>
      <p:sp>
        <p:nvSpPr>
          <p:cNvPr id="35" name="DOSM card"/>
          <p:cNvSpPr/>
          <p:nvPr/>
        </p:nvSpPr>
        <p:spPr>
          <a:xfrm>
            <a:off x="609840" y="1920240"/>
            <a:ext cx="3535200" cy="3200040"/>
          </a:xfrm>
          <a:prstGeom prst="roundRect">
            <a:avLst>
              <a:gd name="adj" fmla="val 8000"/>
            </a:avLst>
          </a:prstGeom>
          <a:solidFill>
            <a:schemeClr val="bg2"/>
          </a:solidFill>
          <a:ln w="0">
            <a:noFill/>
          </a:ln>
        </p:spPr>
        <p:style>
          <a:lnRef idx="0"/>
          <a:fillRef idx="0"/>
          <a:effectRef idx="0"/>
          <a:fontRef idx="minor"/>
        </p:style>
        <p:txBody>
          <a:bodyPr lIns="90000" tIns="45000" rIns="90000" bIns="45000" anchor="t">
            <a:noAutofit/>
          </a:bodyPr>
          <a:p>
            <a:endParaRPr lang="en-MY" sz="1800" b="0" u="none" strike="noStrike">
              <a:solidFill>
                <a:schemeClr val="dk1"/>
              </a:solidFill>
              <a:effectLst/>
              <a:uFillTx/>
              <a:latin typeface="Calibri"/>
            </a:endParaRPr>
          </a:p>
        </p:txBody>
      </p:sp>
      <p:sp>
        <p:nvSpPr>
          <p:cNvPr id="36" name="DOSM label"/>
          <p:cNvSpPr/>
          <p:nvPr/>
        </p:nvSpPr>
        <p:spPr>
          <a:xfrm>
            <a:off x="884160" y="2148840"/>
            <a:ext cx="298656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ea typeface="Calibri"/>
              </a:rPr>
              <a:t>Jobs projected to be lost to AI:</a:t>
            </a:r>
            <a:endParaRPr lang="en-US" sz="1400" b="0" u="none" strike="noStrike">
              <a:solidFill>
                <a:srgbClr val="000000"/>
              </a:solidFill>
              <a:effectLst/>
              <a:uFillTx/>
              <a:latin typeface="Arial"/>
            </a:endParaRPr>
          </a:p>
        </p:txBody>
      </p:sp>
      <p:sp>
        <p:nvSpPr>
          <p:cNvPr id="37" name="DOSM figure"/>
          <p:cNvSpPr/>
          <p:nvPr/>
        </p:nvSpPr>
        <p:spPr>
          <a:xfrm>
            <a:off x="884160" y="2697480"/>
            <a:ext cx="29865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000" b="0" u="none" strike="noStrike">
                <a:solidFill>
                  <a:schemeClr val="dk1"/>
                </a:solidFill>
                <a:effectLst/>
                <a:uFillTx/>
                <a:latin typeface="Cambria"/>
                <a:ea typeface="Cambria"/>
              </a:rPr>
              <a:t>9.9</a:t>
            </a:r>
            <a:r>
              <a:rPr lang="en-US" sz="2200" b="0" u="none" strike="noStrike">
                <a:solidFill>
                  <a:schemeClr val="dk1"/>
                </a:solidFill>
                <a:effectLst/>
                <a:uFillTx/>
                <a:latin typeface="Cambria"/>
                <a:ea typeface="Cambria"/>
              </a:rPr>
              <a:t>%  →  </a:t>
            </a:r>
            <a:r>
              <a:rPr lang="en-US" sz="4000" b="0" u="none" strike="noStrike">
                <a:solidFill>
                  <a:schemeClr val="dk1"/>
                </a:solidFill>
                <a:effectLst/>
                <a:uFillTx/>
                <a:latin typeface="Cambria"/>
                <a:ea typeface="Cambria"/>
              </a:rPr>
              <a:t>7.3</a:t>
            </a:r>
            <a:r>
              <a:rPr lang="en-US" sz="2200" b="0" u="none" strike="noStrike">
                <a:solidFill>
                  <a:schemeClr val="dk1"/>
                </a:solidFill>
                <a:effectLst/>
                <a:uFillTx/>
                <a:latin typeface="Cambria"/>
                <a:ea typeface="Cambria"/>
              </a:rPr>
              <a:t>%</a:t>
            </a:r>
            <a:endParaRPr lang="en-US" sz="2200" b="0" u="none" strike="noStrike">
              <a:solidFill>
                <a:srgbClr val="000000"/>
              </a:solidFill>
              <a:effectLst/>
              <a:uFillTx/>
              <a:latin typeface="Arial"/>
            </a:endParaRPr>
          </a:p>
        </p:txBody>
      </p:sp>
      <p:graphicFrame>
        <p:nvGraphicFramePr>
          <p:cNvPr id="38" name="Clerical share chart"/>
          <p:cNvGraphicFramePr/>
          <p:nvPr/>
        </p:nvGraphicFramePr>
        <p:xfrm>
          <a:off x="792720" y="3429000"/>
          <a:ext cx="3169440" cy="914040"/>
        </p:xfrm>
        <a:graphic>
          <a:graphicData uri="http://schemas.openxmlformats.org/drawingml/2006/chart">
            <c:chart xmlns:c="http://schemas.openxmlformats.org/drawingml/2006/chart" xmlns:r="http://schemas.openxmlformats.org/officeDocument/2006/relationships" r:id="rId1"/>
          </a:graphicData>
        </a:graphic>
      </p:graphicFrame>
      <p:sp>
        <p:nvSpPr>
          <p:cNvPr id="39" name="DOSM source"/>
          <p:cNvSpPr/>
          <p:nvPr/>
        </p:nvSpPr>
        <p:spPr>
          <a:xfrm>
            <a:off x="884160" y="4434840"/>
            <a:ext cx="29865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547451"/>
                </a:solidFill>
                <a:effectLst/>
                <a:uFillTx/>
                <a:latin typeface="Calibri"/>
                <a:ea typeface="Calibri"/>
              </a:rPr>
              <a:t>DOSM Job Market Insights, 2022 Q2 to 2026 Q2 (published 18 Aug 2026). Down 27% from the peak; the quarterly series is noisy.</a:t>
            </a:r>
            <a:endParaRPr lang="en-US" sz="1100" b="0" u="none" strike="noStrike">
              <a:solidFill>
                <a:srgbClr val="000000"/>
              </a:solidFill>
              <a:effectLst/>
              <a:uFillTx/>
              <a:latin typeface="Arial"/>
            </a:endParaRPr>
          </a:p>
        </p:txBody>
      </p:sp>
      <p:sp>
        <p:nvSpPr>
          <p:cNvPr id="40" name="AEI card"/>
          <p:cNvSpPr/>
          <p:nvPr/>
        </p:nvSpPr>
        <p:spPr>
          <a:xfrm>
            <a:off x="4328640" y="1920240"/>
            <a:ext cx="3535200" cy="3200040"/>
          </a:xfrm>
          <a:prstGeom prst="roundRect">
            <a:avLst>
              <a:gd name="adj" fmla="val 8000"/>
            </a:avLst>
          </a:prstGeom>
          <a:solidFill>
            <a:schemeClr val="accent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 name="AEI label"/>
          <p:cNvSpPr/>
          <p:nvPr/>
        </p:nvSpPr>
        <p:spPr>
          <a:xfrm>
            <a:off x="4602960" y="2148840"/>
            <a:ext cx="298656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ea typeface="Calibri"/>
              </a:rPr>
              <a:t>US employment at risk due to rapid computerization:</a:t>
            </a:r>
            <a:endParaRPr lang="en-US" sz="1400" b="0" u="none" strike="noStrike">
              <a:solidFill>
                <a:srgbClr val="000000"/>
              </a:solidFill>
              <a:effectLst/>
              <a:uFillTx/>
              <a:latin typeface="Arial"/>
            </a:endParaRPr>
          </a:p>
        </p:txBody>
      </p:sp>
      <p:sp>
        <p:nvSpPr>
          <p:cNvPr id="42" name="AEI figure"/>
          <p:cNvSpPr/>
          <p:nvPr/>
        </p:nvSpPr>
        <p:spPr>
          <a:xfrm>
            <a:off x="4602960" y="2697480"/>
            <a:ext cx="298656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400" b="0" u="none" strike="noStrike">
                <a:solidFill>
                  <a:schemeClr val="dk1"/>
                </a:solidFill>
                <a:effectLst/>
                <a:uFillTx/>
                <a:latin typeface="Cambria"/>
                <a:ea typeface="Cambria"/>
              </a:rPr>
              <a:t>47</a:t>
            </a:r>
            <a:r>
              <a:rPr lang="en-US" sz="2800" b="0" u="none" strike="noStrike">
                <a:solidFill>
                  <a:schemeClr val="dk1"/>
                </a:solidFill>
                <a:effectLst/>
                <a:uFillTx/>
                <a:latin typeface="Cambria"/>
                <a:ea typeface="Cambria"/>
              </a:rPr>
              <a:t>%</a:t>
            </a:r>
            <a:endParaRPr lang="en-US" sz="2800" b="0" u="none" strike="noStrike">
              <a:solidFill>
                <a:srgbClr val="000000"/>
              </a:solidFill>
              <a:effectLst/>
              <a:uFillTx/>
              <a:latin typeface="Arial"/>
            </a:endParaRPr>
          </a:p>
        </p:txBody>
      </p:sp>
      <p:sp>
        <p:nvSpPr>
          <p:cNvPr id="43" name="ILO line"/>
          <p:cNvSpPr/>
          <p:nvPr/>
        </p:nvSpPr>
        <p:spPr>
          <a:xfrm>
            <a:off x="4602960" y="3703320"/>
            <a:ext cx="298656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chemeClr val="dk1"/>
                </a:solidFill>
                <a:effectLst/>
                <a:uFillTx/>
                <a:latin typeface="Calibri"/>
              </a:rPr>
              <a:t>To reduce AI’s impact on employment, invest in education, digital literacy, and technical skills.</a:t>
            </a:r>
            <a:endParaRPr lang="en-US" sz="1500" b="0" u="none" strike="noStrike">
              <a:solidFill>
                <a:srgbClr val="000000"/>
              </a:solidFill>
              <a:effectLst/>
              <a:uFillTx/>
              <a:latin typeface="Arial"/>
            </a:endParaRPr>
          </a:p>
        </p:txBody>
      </p:sp>
      <p:sp>
        <p:nvSpPr>
          <p:cNvPr id="44" name="AEI source"/>
          <p:cNvSpPr/>
          <p:nvPr/>
        </p:nvSpPr>
        <p:spPr>
          <a:xfrm>
            <a:off x="4602960" y="4434840"/>
            <a:ext cx="316944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dk1"/>
                </a:solidFill>
                <a:effectLst/>
                <a:uFillTx/>
                <a:latin typeface="Calibri"/>
              </a:rPr>
              <a:t>Sasana Kijang, &amp; Mohd Arshad, A. P. D. M. N. (2024, September 19). Assessing AI-Induced job displacement in Malaysia [Academic conference paper].</a:t>
            </a:r>
            <a:endParaRPr lang="en-US" sz="1100" b="0" u="none" strike="noStrike">
              <a:solidFill>
                <a:srgbClr val="000000"/>
              </a:solidFill>
              <a:effectLst/>
              <a:uFillTx/>
              <a:latin typeface="Arial"/>
            </a:endParaRPr>
          </a:p>
        </p:txBody>
      </p:sp>
      <p:sp>
        <p:nvSpPr>
          <p:cNvPr id="45" name="People card"/>
          <p:cNvSpPr/>
          <p:nvPr/>
        </p:nvSpPr>
        <p:spPr>
          <a:xfrm>
            <a:off x="8047080" y="1920240"/>
            <a:ext cx="3535200" cy="3200040"/>
          </a:xfrm>
          <a:prstGeom prst="roundRect">
            <a:avLst>
              <a:gd name="adj" fmla="val 8000"/>
            </a:avLst>
          </a:prstGeom>
          <a:solidFill>
            <a:schemeClr val="accent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 name="People label"/>
          <p:cNvSpPr/>
          <p:nvPr/>
        </p:nvSpPr>
        <p:spPr>
          <a:xfrm>
            <a:off x="8321400" y="2148840"/>
            <a:ext cx="298656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6B3D08"/>
                </a:solidFill>
                <a:effectLst/>
                <a:uFillTx/>
                <a:latin typeface="Calibri"/>
                <a:ea typeface="Calibri"/>
              </a:rPr>
              <a:t>Jobs expected to be highly affected by AI and digitalisation:</a:t>
            </a:r>
            <a:endParaRPr lang="en-US" sz="1400" b="0" u="none" strike="noStrike">
              <a:solidFill>
                <a:srgbClr val="000000"/>
              </a:solidFill>
              <a:effectLst/>
              <a:uFillTx/>
              <a:latin typeface="Arial"/>
            </a:endParaRPr>
          </a:p>
        </p:txBody>
      </p:sp>
      <p:sp>
        <p:nvSpPr>
          <p:cNvPr id="47" name="People figure"/>
          <p:cNvSpPr/>
          <p:nvPr/>
        </p:nvSpPr>
        <p:spPr>
          <a:xfrm>
            <a:off x="8321400" y="2697480"/>
            <a:ext cx="298656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400" b="0" u="none" strike="noStrike">
                <a:solidFill>
                  <a:srgbClr val="6B3D08"/>
                </a:solidFill>
                <a:effectLst/>
                <a:uFillTx/>
                <a:latin typeface="Cambria"/>
                <a:ea typeface="Cambria"/>
              </a:rPr>
              <a:t>697,000</a:t>
            </a:r>
            <a:endParaRPr lang="en-US" sz="5400" b="0" u="none" strike="noStrike">
              <a:solidFill>
                <a:srgbClr val="000000"/>
              </a:solidFill>
              <a:effectLst/>
              <a:uFillTx/>
              <a:latin typeface="Arial"/>
            </a:endParaRPr>
          </a:p>
        </p:txBody>
      </p:sp>
      <p:sp>
        <p:nvSpPr>
          <p:cNvPr id="48" name="People line"/>
          <p:cNvSpPr/>
          <p:nvPr/>
        </p:nvSpPr>
        <p:spPr>
          <a:xfrm>
            <a:off x="8321400" y="3711960"/>
            <a:ext cx="298656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6B3D08"/>
                </a:solidFill>
                <a:effectLst/>
                <a:uFillTx/>
                <a:latin typeface="Calibri"/>
                <a:ea typeface="Calibri"/>
              </a:rPr>
              <a:t>Workers are at risk of losing jobs to AI if upskilling is not done.</a:t>
            </a:r>
            <a:endParaRPr lang="en-US" sz="1500" b="0" u="none" strike="noStrike">
              <a:solidFill>
                <a:srgbClr val="000000"/>
              </a:solidFill>
              <a:effectLst/>
              <a:uFillTx/>
              <a:latin typeface="Arial"/>
            </a:endParaRPr>
          </a:p>
        </p:txBody>
      </p:sp>
      <p:sp>
        <p:nvSpPr>
          <p:cNvPr id="49" name="People source"/>
          <p:cNvSpPr/>
          <p:nvPr/>
        </p:nvSpPr>
        <p:spPr>
          <a:xfrm>
            <a:off x="8321400" y="4434840"/>
            <a:ext cx="29865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lt1">
                    <a:lumMod val="25000"/>
                  </a:schemeClr>
                </a:solidFill>
                <a:effectLst/>
                <a:uFillTx/>
                <a:latin typeface="Calibri"/>
              </a:rPr>
              <a:t>Human Resources Minister Datuk Seri R. Ramanan, 24 June 2026.</a:t>
            </a:r>
            <a:endParaRPr lang="en-US" sz="1100" b="0" u="none" strike="noStrike">
              <a:solidFill>
                <a:srgbClr val="000000"/>
              </a:solidFill>
              <a:effectLst/>
              <a:uFillTx/>
              <a:latin typeface="Arial"/>
            </a:endParaRPr>
          </a:p>
        </p:txBody>
      </p:sp>
      <p:sp>
        <p:nvSpPr>
          <p:cNvPr id="50" name="Gap band"/>
          <p:cNvSpPr/>
          <p:nvPr/>
        </p:nvSpPr>
        <p:spPr>
          <a:xfrm>
            <a:off x="609840" y="5349240"/>
            <a:ext cx="10972440" cy="959760"/>
          </a:xfrm>
          <a:prstGeom prst="roundRect">
            <a:avLst>
              <a:gd name="adj" fmla="val 26667"/>
            </a:avLst>
          </a:prstGeom>
          <a:solidFill>
            <a:schemeClr val="tx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 name="Gap dot"/>
          <p:cNvSpPr/>
          <p:nvPr/>
        </p:nvSpPr>
        <p:spPr>
          <a:xfrm>
            <a:off x="975600" y="5738040"/>
            <a:ext cx="182520" cy="182520"/>
          </a:xfrm>
          <a:prstGeom prst="ellipse">
            <a:avLst/>
          </a:prstGeom>
          <a:solidFill>
            <a:schemeClr val="accent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 name="Gap statement"/>
          <p:cNvSpPr/>
          <p:nvPr/>
        </p:nvSpPr>
        <p:spPr>
          <a:xfrm>
            <a:off x="1387080" y="5349240"/>
            <a:ext cx="9783720" cy="95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chemeClr val="lt1"/>
                </a:solidFill>
                <a:effectLst/>
                <a:uFillTx/>
                <a:latin typeface="Cambria"/>
                <a:ea typeface="Cambria"/>
              </a:rPr>
              <a:t>The issue: Many of today’s career tools give scattered and irrelevant AI advice with little to no consideration for long-term career stability. </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hasCustomPrompt="1"/>
          </p:nvPr>
        </p:nvSpPr>
        <p:spPr>
          <a:xfrm>
            <a:off x="644400" y="320040"/>
            <a:ext cx="11086560" cy="914040"/>
          </a:xfrm>
          <a:prstGeom prst="rect">
            <a:avLst/>
          </a:prstGeom>
          <a:noFill/>
          <a:ln w="0">
            <a:noFill/>
          </a:ln>
        </p:spPr>
        <p:txBody>
          <a:bodyPr lIns="0" tIns="0" rIns="0" bIns="0" anchor="t">
            <a:noAutofit/>
          </a:bodyPr>
          <a:p>
            <a:pPr indent="0" algn="l" defTabSz="914400">
              <a:lnSpc>
                <a:spcPct val="100000"/>
              </a:lnSpc>
              <a:buNone/>
              <a:tabLst>
                <a:tab pos="0" algn="l"/>
              </a:tabLst>
            </a:pPr>
            <a:r>
              <a:rPr lang="en-US" sz="3600" b="0" u="none" strike="noStrike">
                <a:solidFill>
                  <a:schemeClr val="dk1"/>
                </a:solidFill>
                <a:effectLst/>
                <a:uFillTx/>
                <a:latin typeface="Cambria"/>
                <a:ea typeface="Cambria"/>
              </a:rPr>
              <a:t>End-to-end human connection: the worker and the advisor</a:t>
            </a:r>
            <a:endParaRPr lang="en-US" sz="3600" b="0" u="none" strike="noStrike">
              <a:solidFill>
                <a:schemeClr val="dk1"/>
              </a:solidFill>
              <a:effectLst/>
              <a:uFillTx/>
              <a:latin typeface="Calibri"/>
            </a:endParaRPr>
          </a:p>
        </p:txBody>
      </p:sp>
      <p:sp>
        <p:nvSpPr>
          <p:cNvPr id="54" name="Worker card"/>
          <p:cNvSpPr/>
          <p:nvPr/>
        </p:nvSpPr>
        <p:spPr>
          <a:xfrm>
            <a:off x="609840" y="1600200"/>
            <a:ext cx="5394600" cy="4708800"/>
          </a:xfrm>
          <a:prstGeom prst="roundRect">
            <a:avLst>
              <a:gd name="adj" fmla="val 5825"/>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 name="Worker heading"/>
          <p:cNvSpPr/>
          <p:nvPr/>
        </p:nvSpPr>
        <p:spPr>
          <a:xfrm>
            <a:off x="975600" y="1920240"/>
            <a:ext cx="46630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0" u="none" strike="noStrike">
                <a:solidFill>
                  <a:schemeClr val="dk1"/>
                </a:solidFill>
                <a:effectLst/>
                <a:uFillTx/>
                <a:latin typeface="Cambria"/>
                <a:ea typeface="Cambria"/>
              </a:rPr>
              <a:t>The worker</a:t>
            </a:r>
            <a:endParaRPr lang="en-US" sz="3200" b="0" u="none" strike="noStrike">
              <a:solidFill>
                <a:srgbClr val="000000"/>
              </a:solidFill>
              <a:effectLst/>
              <a:uFillTx/>
              <a:latin typeface="Arial"/>
            </a:endParaRPr>
          </a:p>
        </p:txBody>
      </p:sp>
      <p:sp>
        <p:nvSpPr>
          <p:cNvPr id="56" name="Worker summary"/>
          <p:cNvSpPr/>
          <p:nvPr/>
        </p:nvSpPr>
        <p:spPr>
          <a:xfrm>
            <a:off x="975600" y="2697480"/>
            <a:ext cx="420588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ea typeface="Calibri"/>
              </a:rPr>
              <a:t>Fresh graduates and members of the workforce</a:t>
            </a:r>
            <a:endParaRPr lang="en-US" sz="2000" b="0" u="none" strike="noStrike">
              <a:solidFill>
                <a:srgbClr val="000000"/>
              </a:solidFill>
              <a:effectLst/>
              <a:uFillTx/>
              <a:latin typeface="Arial"/>
            </a:endParaRPr>
          </a:p>
        </p:txBody>
      </p:sp>
      <p:sp>
        <p:nvSpPr>
          <p:cNvPr id="57" name="Worker points"/>
          <p:cNvSpPr/>
          <p:nvPr/>
        </p:nvSpPr>
        <p:spPr>
          <a:xfrm>
            <a:off x="975600" y="3749040"/>
            <a:ext cx="3108600" cy="1416960"/>
          </a:xfrm>
          <a:prstGeom prst="rect">
            <a:avLst/>
          </a:prstGeom>
          <a:noFill/>
          <a:ln w="0">
            <a:noFill/>
          </a:ln>
        </p:spPr>
        <p:style>
          <a:lnRef idx="0"/>
          <a:fillRef idx="0"/>
          <a:effectRef idx="0"/>
          <a:fontRef idx="minor"/>
        </p:style>
        <p:txBody>
          <a:bodyPr lIns="0" tIns="0" rIns="0" bIns="0" anchor="t">
            <a:noAutofit/>
          </a:bodyPr>
          <a:p>
            <a:pPr marL="203040" indent="-203040" algn="just" defTabSz="914400">
              <a:lnSpc>
                <a:spcPct val="100000"/>
              </a:lnSpc>
              <a:spcAft>
                <a:spcPts val="799"/>
              </a:spcAft>
              <a:buClr>
                <a:srgbClr val="203B2B"/>
              </a:buClr>
              <a:buFont typeface="Symbol" charset="2"/>
              <a:buChar char=""/>
            </a:pPr>
            <a:r>
              <a:rPr lang="en-US" sz="1600" b="0" u="none" strike="noStrike">
                <a:solidFill>
                  <a:schemeClr val="dk1"/>
                </a:solidFill>
                <a:effectLst/>
                <a:uFillTx/>
                <a:latin typeface="Calibri"/>
                <a:ea typeface="Calibri"/>
              </a:rPr>
              <a:t>A real deadline with actionable advice, powered by AI</a:t>
            </a:r>
            <a:endParaRPr lang="en-US" sz="1600" b="0" u="none" strike="noStrike">
              <a:solidFill>
                <a:srgbClr val="000000"/>
              </a:solidFill>
              <a:effectLst/>
              <a:uFillTx/>
              <a:latin typeface="Arial"/>
            </a:endParaRPr>
          </a:p>
          <a:p>
            <a:pPr marL="203040" indent="-203040" algn="just" defTabSz="914400">
              <a:lnSpc>
                <a:spcPct val="100000"/>
              </a:lnSpc>
              <a:spcAft>
                <a:spcPts val="799"/>
              </a:spcAft>
              <a:buClr>
                <a:srgbClr val="203B2B"/>
              </a:buClr>
              <a:buFont typeface="Symbol" charset="2"/>
              <a:buChar char=""/>
            </a:pPr>
            <a:r>
              <a:rPr lang="en-US" sz="1600" b="0" u="none" strike="noStrike">
                <a:solidFill>
                  <a:schemeClr val="dk1"/>
                </a:solidFill>
                <a:effectLst/>
                <a:uFillTx/>
                <a:latin typeface="Calibri"/>
                <a:ea typeface="Calibri"/>
              </a:rPr>
              <a:t>The app needs to know which skills expire, which jobs are within reach, and what to learn this week</a:t>
            </a:r>
            <a:endParaRPr lang="en-US" sz="1600" b="0" u="none" strike="noStrike">
              <a:solidFill>
                <a:srgbClr val="000000"/>
              </a:solidFill>
              <a:effectLst/>
              <a:uFillTx/>
              <a:latin typeface="Arial"/>
            </a:endParaRPr>
          </a:p>
        </p:txBody>
      </p:sp>
      <p:pic>
        <p:nvPicPr>
          <p:cNvPr id="58" name="Worker mascot" descr="Jobbery cockatiel mascot"/>
          <p:cNvPicPr/>
          <p:nvPr/>
        </p:nvPicPr>
        <p:blipFill>
          <a:blip r:embed="rId1"/>
          <a:stretch/>
        </p:blipFill>
        <p:spPr>
          <a:xfrm>
            <a:off x="3855960" y="4206240"/>
            <a:ext cx="2102760" cy="2102760"/>
          </a:xfrm>
          <a:prstGeom prst="rect">
            <a:avLst/>
          </a:prstGeom>
          <a:noFill/>
          <a:ln w="0">
            <a:noFill/>
          </a:ln>
        </p:spPr>
      </p:pic>
      <p:sp>
        <p:nvSpPr>
          <p:cNvPr id="59" name="Advisor card"/>
          <p:cNvSpPr/>
          <p:nvPr/>
        </p:nvSpPr>
        <p:spPr>
          <a:xfrm>
            <a:off x="6187680" y="1600200"/>
            <a:ext cx="5394600" cy="4708800"/>
          </a:xfrm>
          <a:prstGeom prst="roundRect">
            <a:avLst>
              <a:gd name="adj" fmla="val 5825"/>
            </a:avLst>
          </a:prstGeom>
          <a:solidFill>
            <a:schemeClr val="accent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 name="Advisor heading"/>
          <p:cNvSpPr/>
          <p:nvPr/>
        </p:nvSpPr>
        <p:spPr>
          <a:xfrm>
            <a:off x="6553440" y="1920240"/>
            <a:ext cx="46630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200" b="0" u="none" strike="noStrike">
                <a:solidFill>
                  <a:schemeClr val="lt1"/>
                </a:solidFill>
                <a:effectLst/>
                <a:uFillTx/>
                <a:latin typeface="Cambria"/>
                <a:ea typeface="Cambria"/>
              </a:rPr>
              <a:t>The advisor</a:t>
            </a:r>
            <a:endParaRPr lang="en-US" sz="3200" b="0" u="none" strike="noStrike">
              <a:solidFill>
                <a:srgbClr val="000000"/>
              </a:solidFill>
              <a:effectLst/>
              <a:uFillTx/>
              <a:latin typeface="Arial"/>
            </a:endParaRPr>
          </a:p>
        </p:txBody>
      </p:sp>
      <p:sp>
        <p:nvSpPr>
          <p:cNvPr id="61" name="Advisor summary"/>
          <p:cNvSpPr/>
          <p:nvPr/>
        </p:nvSpPr>
        <p:spPr>
          <a:xfrm>
            <a:off x="6553440" y="2697480"/>
            <a:ext cx="420588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lt1"/>
                </a:solidFill>
                <a:effectLst/>
                <a:uFillTx/>
                <a:latin typeface="Calibri"/>
                <a:ea typeface="Calibri"/>
              </a:rPr>
              <a:t>A real person to keep an eye on you, rather than just having an AI on you.</a:t>
            </a:r>
            <a:endParaRPr lang="en-US" sz="2000" b="0" u="none" strike="noStrike">
              <a:solidFill>
                <a:srgbClr val="000000"/>
              </a:solidFill>
              <a:effectLst/>
              <a:uFillTx/>
              <a:latin typeface="Arial"/>
            </a:endParaRPr>
          </a:p>
        </p:txBody>
      </p:sp>
      <p:sp>
        <p:nvSpPr>
          <p:cNvPr id="62" name="Advisor points"/>
          <p:cNvSpPr/>
          <p:nvPr/>
        </p:nvSpPr>
        <p:spPr>
          <a:xfrm>
            <a:off x="6553440" y="3749040"/>
            <a:ext cx="3108600" cy="2194200"/>
          </a:xfrm>
          <a:prstGeom prst="rect">
            <a:avLst/>
          </a:prstGeom>
          <a:noFill/>
          <a:ln w="0">
            <a:noFill/>
          </a:ln>
        </p:spPr>
        <p:style>
          <a:lnRef idx="0"/>
          <a:fillRef idx="0"/>
          <a:effectRef idx="0"/>
          <a:fontRef idx="minor"/>
        </p:style>
        <p:txBody>
          <a:bodyPr lIns="0" tIns="0" rIns="0" bIns="0" anchor="t">
            <a:noAutofit/>
          </a:bodyPr>
          <a:p>
            <a:pPr marL="203040" indent="-203040" algn="just" defTabSz="914400">
              <a:lnSpc>
                <a:spcPct val="100000"/>
              </a:lnSpc>
              <a:spcAft>
                <a:spcPts val="799"/>
              </a:spcAft>
              <a:buClr>
                <a:srgbClr val="FFF7ED"/>
              </a:buClr>
              <a:buFont typeface="Symbol" charset="2"/>
              <a:buChar char=""/>
            </a:pPr>
            <a:r>
              <a:rPr lang="en-US" sz="1600" b="0" u="none" strike="noStrike">
                <a:solidFill>
                  <a:schemeClr val="lt1"/>
                </a:solidFill>
                <a:effectLst/>
                <a:uFillTx/>
                <a:latin typeface="Calibri"/>
                <a:ea typeface="Calibri"/>
              </a:rPr>
              <a:t>The final, innately human, step of the reskilling</a:t>
            </a:r>
            <a:endParaRPr lang="en-US" sz="1600" b="0" u="none" strike="noStrike">
              <a:solidFill>
                <a:srgbClr val="000000"/>
              </a:solidFill>
              <a:effectLst/>
              <a:uFillTx/>
              <a:latin typeface="Arial"/>
            </a:endParaRPr>
          </a:p>
          <a:p>
            <a:pPr marL="203040" indent="-203040" algn="just" defTabSz="914400">
              <a:lnSpc>
                <a:spcPct val="100000"/>
              </a:lnSpc>
              <a:spcAft>
                <a:spcPts val="799"/>
              </a:spcAft>
              <a:buClr>
                <a:srgbClr val="FFF7ED"/>
              </a:buClr>
              <a:buFont typeface="Symbol" charset="2"/>
              <a:buChar char=""/>
            </a:pPr>
            <a:r>
              <a:rPr lang="en-US" sz="1600" b="0" u="none" strike="noStrike">
                <a:solidFill>
                  <a:schemeClr val="lt1"/>
                </a:solidFill>
                <a:effectLst/>
                <a:uFillTx/>
                <a:latin typeface="Calibri"/>
                <a:ea typeface="Calibri"/>
              </a:rPr>
              <a:t>Writes advice that lands on the worker’s plan</a:t>
            </a:r>
            <a:endParaRPr lang="en-US" sz="1600" b="0" u="none" strike="noStrike">
              <a:solidFill>
                <a:srgbClr val="000000"/>
              </a:solidFill>
              <a:effectLst/>
              <a:uFillTx/>
              <a:latin typeface="Arial"/>
            </a:endParaRPr>
          </a:p>
          <a:p>
            <a:pPr marL="203040" indent="-203040" algn="just" defTabSz="914400">
              <a:lnSpc>
                <a:spcPct val="100000"/>
              </a:lnSpc>
              <a:spcAft>
                <a:spcPts val="799"/>
              </a:spcAft>
              <a:buClr>
                <a:srgbClr val="FFF7ED"/>
              </a:buClr>
              <a:buFont typeface="Symbol" charset="2"/>
              <a:buChar char=""/>
            </a:pPr>
            <a:r>
              <a:rPr lang="en-US" sz="1600" b="0" u="none" strike="noStrike">
                <a:solidFill>
                  <a:schemeClr val="lt1"/>
                </a:solidFill>
                <a:effectLst/>
                <a:uFillTx/>
                <a:latin typeface="Calibri"/>
                <a:ea typeface="Calibri"/>
              </a:rPr>
              <a:t>Pertubuhan Keselamatan Sosial (PERKESO) government servants to give human-centered advice to those who require it</a:t>
            </a:r>
            <a:endParaRPr lang="en-US" sz="1600" b="0" u="none" strike="noStrike">
              <a:solidFill>
                <a:srgbClr val="000000"/>
              </a:solidFill>
              <a:effectLst/>
              <a:uFillTx/>
              <a:latin typeface="Arial"/>
            </a:endParaRPr>
          </a:p>
        </p:txBody>
      </p:sp>
      <p:pic>
        <p:nvPicPr>
          <p:cNvPr id="63" name="Advisor mascot" descr="Jobbery cockatiel mascot"/>
          <p:cNvPicPr/>
          <p:nvPr/>
        </p:nvPicPr>
        <p:blipFill>
          <a:blip r:embed="rId2"/>
          <a:stretch/>
        </p:blipFill>
        <p:spPr>
          <a:xfrm>
            <a:off x="9433800" y="4206240"/>
            <a:ext cx="2102760" cy="21027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Skills intake card"/>
          <p:cNvSpPr/>
          <p:nvPr/>
        </p:nvSpPr>
        <p:spPr>
          <a:xfrm>
            <a:off x="609840" y="1600200"/>
            <a:ext cx="5394600" cy="1371240"/>
          </a:xfrm>
          <a:prstGeom prst="roundRect">
            <a:avLst>
              <a:gd name="adj" fmla="val 17333"/>
            </a:avLst>
          </a:prstGeom>
          <a:solidFill>
            <a:schemeClr val="bg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 name="Skills intake tick circle"/>
          <p:cNvSpPr/>
          <p:nvPr/>
        </p:nvSpPr>
        <p:spPr>
          <a:xfrm>
            <a:off x="884160" y="2039040"/>
            <a:ext cx="493560" cy="493560"/>
          </a:xfrm>
          <a:prstGeom prst="ellipse">
            <a:avLst/>
          </a:prstGeom>
          <a:solidFill>
            <a:schemeClr val="accent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6" name="Skills intake tick" descr="Done"/>
          <p:cNvPicPr/>
          <p:nvPr/>
        </p:nvPicPr>
        <p:blipFill>
          <a:blip r:embed="rId1"/>
          <a:stretch/>
        </p:blipFill>
        <p:spPr>
          <a:xfrm>
            <a:off x="1030680" y="2185560"/>
            <a:ext cx="200880" cy="200880"/>
          </a:xfrm>
          <a:prstGeom prst="rect">
            <a:avLst/>
          </a:prstGeom>
          <a:noFill/>
          <a:ln w="0">
            <a:noFill/>
          </a:ln>
        </p:spPr>
      </p:pic>
      <p:sp>
        <p:nvSpPr>
          <p:cNvPr id="67" name="Skills intake title"/>
          <p:cNvSpPr/>
          <p:nvPr/>
        </p:nvSpPr>
        <p:spPr>
          <a:xfrm>
            <a:off x="1569960" y="1783080"/>
            <a:ext cx="39254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300"/>
              </a:spcAft>
              <a:tabLst>
                <a:tab pos="0" algn="l"/>
              </a:tabLst>
            </a:pPr>
            <a:r>
              <a:rPr lang="en-US" sz="1700" b="1" u="none" strike="noStrike">
                <a:solidFill>
                  <a:schemeClr val="dk1"/>
                </a:solidFill>
                <a:effectLst/>
                <a:uFillTx/>
                <a:latin typeface="Calibri"/>
                <a:ea typeface="Calibri"/>
              </a:rPr>
              <a:t>Skills intake</a:t>
            </a:r>
            <a:endParaRPr lang="en-US" sz="1700" b="0" u="none" strike="noStrike">
              <a:solidFill>
                <a:srgbClr val="000000"/>
              </a:solidFill>
              <a:effectLst/>
              <a:uFillTx/>
              <a:latin typeface="Arial"/>
            </a:endParaRPr>
          </a:p>
          <a:p>
            <a:pPr algn="just" defTabSz="914400">
              <a:lnSpc>
                <a:spcPct val="100000"/>
              </a:lnSpc>
              <a:spcAft>
                <a:spcPts val="300"/>
              </a:spcAft>
              <a:tabLst>
                <a:tab pos="0" algn="l"/>
              </a:tabLst>
            </a:pPr>
            <a:r>
              <a:rPr lang="en-US" sz="1500" b="0" u="none" strike="noStrike">
                <a:solidFill>
                  <a:schemeClr val="dk1"/>
                </a:solidFill>
                <a:effectLst/>
                <a:uFillTx/>
                <a:latin typeface="Calibri"/>
                <a:ea typeface="Calibri"/>
              </a:rPr>
              <a:t>Built-in résumé scanner which extracts skills while giving the user input to improve their resume.</a:t>
            </a:r>
            <a:endParaRPr lang="en-US" sz="1500" b="0" u="none" strike="noStrike">
              <a:solidFill>
                <a:srgbClr val="000000"/>
              </a:solidFill>
              <a:effectLst/>
              <a:uFillTx/>
              <a:latin typeface="Arial"/>
            </a:endParaRPr>
          </a:p>
        </p:txBody>
      </p:sp>
      <p:sp>
        <p:nvSpPr>
          <p:cNvPr id="68" name="AI-trend signal layer tick circle"/>
          <p:cNvSpPr/>
          <p:nvPr/>
        </p:nvSpPr>
        <p:spPr>
          <a:xfrm>
            <a:off x="6462000" y="2039040"/>
            <a:ext cx="493560" cy="493560"/>
          </a:xfrm>
          <a:prstGeom prst="ellipse">
            <a:avLst/>
          </a:prstGeom>
          <a:solidFill>
            <a:schemeClr val="accent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9" name="AI-trend signal layer tick" descr="Done"/>
          <p:cNvPicPr/>
          <p:nvPr/>
        </p:nvPicPr>
        <p:blipFill>
          <a:blip r:embed="rId2"/>
          <a:stretch/>
        </p:blipFill>
        <p:spPr>
          <a:xfrm>
            <a:off x="6608520" y="2185560"/>
            <a:ext cx="200880" cy="200880"/>
          </a:xfrm>
          <a:prstGeom prst="rect">
            <a:avLst/>
          </a:prstGeom>
          <a:noFill/>
          <a:ln w="0">
            <a:noFill/>
          </a:ln>
        </p:spPr>
      </p:pic>
      <p:sp>
        <p:nvSpPr>
          <p:cNvPr id="70" name="AI-trend signal layer title"/>
          <p:cNvSpPr/>
          <p:nvPr/>
        </p:nvSpPr>
        <p:spPr>
          <a:xfrm>
            <a:off x="7147800" y="1783080"/>
            <a:ext cx="358200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300"/>
              </a:spcAft>
              <a:tabLst>
                <a:tab pos="0" algn="l"/>
              </a:tabLst>
            </a:pPr>
            <a:r>
              <a:rPr lang="en-US" sz="1700" b="1" u="none" strike="noStrike">
                <a:solidFill>
                  <a:schemeClr val="dk1"/>
                </a:solidFill>
                <a:effectLst/>
                <a:uFillTx/>
                <a:latin typeface="Calibri"/>
                <a:ea typeface="Calibri"/>
              </a:rPr>
              <a:t>AI-trend signal layer</a:t>
            </a:r>
            <a:endParaRPr lang="en-US" sz="1700" b="0" u="none" strike="noStrike">
              <a:solidFill>
                <a:srgbClr val="000000"/>
              </a:solidFill>
              <a:effectLst/>
              <a:uFillTx/>
              <a:latin typeface="Arial"/>
            </a:endParaRPr>
          </a:p>
          <a:p>
            <a:pPr defTabSz="914400">
              <a:lnSpc>
                <a:spcPct val="100000"/>
              </a:lnSpc>
              <a:spcAft>
                <a:spcPts val="300"/>
              </a:spcAft>
              <a:tabLst>
                <a:tab pos="0" algn="l"/>
              </a:tabLst>
            </a:pPr>
            <a:r>
              <a:rPr lang="en-US" sz="1500" b="0" u="none" strike="noStrike">
                <a:solidFill>
                  <a:schemeClr val="dk1"/>
                </a:solidFill>
                <a:effectLst/>
                <a:uFillTx/>
                <a:latin typeface="Calibri"/>
                <a:ea typeface="Calibri"/>
              </a:rPr>
              <a:t>Dated and trusted public sources, updated whenever new data is published</a:t>
            </a:r>
            <a:endParaRPr lang="en-US" sz="1500" b="0" u="none" strike="noStrike">
              <a:solidFill>
                <a:srgbClr val="000000"/>
              </a:solidFill>
              <a:effectLst/>
              <a:uFillTx/>
              <a:latin typeface="Arial"/>
            </a:endParaRPr>
          </a:p>
        </p:txBody>
      </p:sp>
      <p:sp>
        <p:nvSpPr>
          <p:cNvPr id="71" name="Role matching and skills gap tick circle"/>
          <p:cNvSpPr/>
          <p:nvPr/>
        </p:nvSpPr>
        <p:spPr>
          <a:xfrm>
            <a:off x="884160" y="3593520"/>
            <a:ext cx="493560" cy="493560"/>
          </a:xfrm>
          <a:prstGeom prst="ellipse">
            <a:avLst/>
          </a:prstGeom>
          <a:solidFill>
            <a:schemeClr val="accent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2" name="Role matching and skills gap tick" descr="Done"/>
          <p:cNvPicPr/>
          <p:nvPr/>
        </p:nvPicPr>
        <p:blipFill>
          <a:blip r:embed="rId3"/>
          <a:stretch/>
        </p:blipFill>
        <p:spPr>
          <a:xfrm>
            <a:off x="1030680" y="3740040"/>
            <a:ext cx="200880" cy="200880"/>
          </a:xfrm>
          <a:prstGeom prst="rect">
            <a:avLst/>
          </a:prstGeom>
          <a:noFill/>
          <a:ln w="0">
            <a:noFill/>
          </a:ln>
        </p:spPr>
      </p:pic>
      <p:sp>
        <p:nvSpPr>
          <p:cNvPr id="73" name="Role matching and skills gap title"/>
          <p:cNvSpPr/>
          <p:nvPr/>
        </p:nvSpPr>
        <p:spPr>
          <a:xfrm>
            <a:off x="1569960" y="3337560"/>
            <a:ext cx="429732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300"/>
              </a:spcAft>
              <a:tabLst>
                <a:tab pos="0" algn="l"/>
              </a:tabLst>
            </a:pPr>
            <a:r>
              <a:rPr lang="en-US" sz="1700" b="1" u="none" strike="noStrike">
                <a:solidFill>
                  <a:schemeClr val="dk1"/>
                </a:solidFill>
                <a:effectLst/>
                <a:uFillTx/>
                <a:latin typeface="Calibri"/>
                <a:ea typeface="Calibri"/>
              </a:rPr>
              <a:t>Role matching and skills gap</a:t>
            </a:r>
            <a:endParaRPr lang="en-US" sz="1700" b="0" u="none" strike="noStrike">
              <a:solidFill>
                <a:srgbClr val="000000"/>
              </a:solidFill>
              <a:effectLst/>
              <a:uFillTx/>
              <a:latin typeface="Arial"/>
            </a:endParaRPr>
          </a:p>
          <a:p>
            <a:pPr defTabSz="914400">
              <a:lnSpc>
                <a:spcPct val="100000"/>
              </a:lnSpc>
              <a:spcAft>
                <a:spcPts val="300"/>
              </a:spcAft>
              <a:tabLst>
                <a:tab pos="0" algn="l"/>
              </a:tabLst>
            </a:pPr>
            <a:r>
              <a:rPr lang="en-US" sz="1500" b="0" u="none" strike="noStrike">
                <a:solidFill>
                  <a:schemeClr val="dk1"/>
                </a:solidFill>
                <a:effectLst/>
                <a:uFillTx/>
                <a:latin typeface="Calibri"/>
                <a:ea typeface="Calibri"/>
              </a:rPr>
              <a:t>Discover which of your skills are at risk of becoming redundant and which skills should be prioritized.</a:t>
            </a:r>
            <a:endParaRPr lang="en-US" sz="1500" b="0" u="none" strike="noStrike">
              <a:solidFill>
                <a:srgbClr val="000000"/>
              </a:solidFill>
              <a:effectLst/>
              <a:uFillTx/>
              <a:latin typeface="Arial"/>
            </a:endParaRPr>
          </a:p>
        </p:txBody>
      </p:sp>
      <p:sp>
        <p:nvSpPr>
          <p:cNvPr id="74" name="Reskilling pathway card"/>
          <p:cNvSpPr/>
          <p:nvPr/>
        </p:nvSpPr>
        <p:spPr>
          <a:xfrm>
            <a:off x="6187680" y="3154680"/>
            <a:ext cx="5394600" cy="1371240"/>
          </a:xfrm>
          <a:prstGeom prst="roundRect">
            <a:avLst>
              <a:gd name="adj" fmla="val 17333"/>
            </a:avLst>
          </a:prstGeom>
          <a:solidFill>
            <a:schemeClr val="bg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Reskilling pathway tick circle"/>
          <p:cNvSpPr/>
          <p:nvPr/>
        </p:nvSpPr>
        <p:spPr>
          <a:xfrm>
            <a:off x="6462000" y="3593520"/>
            <a:ext cx="493560" cy="493560"/>
          </a:xfrm>
          <a:prstGeom prst="ellipse">
            <a:avLst/>
          </a:prstGeom>
          <a:solidFill>
            <a:schemeClr val="accent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6" name="Reskilling pathway tick" descr="Done"/>
          <p:cNvPicPr/>
          <p:nvPr/>
        </p:nvPicPr>
        <p:blipFill>
          <a:blip r:embed="rId4"/>
          <a:stretch/>
        </p:blipFill>
        <p:spPr>
          <a:xfrm>
            <a:off x="6608520" y="3740040"/>
            <a:ext cx="200880" cy="200880"/>
          </a:xfrm>
          <a:prstGeom prst="rect">
            <a:avLst/>
          </a:prstGeom>
          <a:noFill/>
          <a:ln w="0">
            <a:noFill/>
          </a:ln>
        </p:spPr>
      </p:pic>
      <p:sp>
        <p:nvSpPr>
          <p:cNvPr id="77" name="Reskilling pathway title"/>
          <p:cNvSpPr/>
          <p:nvPr/>
        </p:nvSpPr>
        <p:spPr>
          <a:xfrm>
            <a:off x="7147800" y="3337560"/>
            <a:ext cx="41594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300"/>
              </a:spcAft>
              <a:tabLst>
                <a:tab pos="0" algn="l"/>
              </a:tabLst>
            </a:pPr>
            <a:r>
              <a:rPr lang="en-US" sz="1700" b="1" u="none" strike="noStrike">
                <a:solidFill>
                  <a:schemeClr val="dk1"/>
                </a:solidFill>
                <a:effectLst/>
                <a:uFillTx/>
                <a:latin typeface="Calibri"/>
                <a:ea typeface="Calibri"/>
              </a:rPr>
              <a:t>Reskilling pathway</a:t>
            </a:r>
            <a:endParaRPr lang="en-US" sz="1700" b="0" u="none" strike="noStrike">
              <a:solidFill>
                <a:srgbClr val="000000"/>
              </a:solidFill>
              <a:effectLst/>
              <a:uFillTx/>
              <a:latin typeface="Arial"/>
            </a:endParaRPr>
          </a:p>
          <a:p>
            <a:pPr defTabSz="914400">
              <a:lnSpc>
                <a:spcPct val="100000"/>
              </a:lnSpc>
              <a:spcAft>
                <a:spcPts val="300"/>
              </a:spcAft>
              <a:tabLst>
                <a:tab pos="0" algn="l"/>
              </a:tabLst>
            </a:pPr>
            <a:r>
              <a:rPr lang="en-US" sz="1500" b="0" u="none" strike="noStrike">
                <a:solidFill>
                  <a:schemeClr val="dk1"/>
                </a:solidFill>
                <a:effectLst/>
                <a:uFillTx/>
                <a:latin typeface="Calibri"/>
                <a:ea typeface="Calibri"/>
              </a:rPr>
              <a:t>Actionable weekly steps, with links to free courses, completed with a quick call with a human advisor.</a:t>
            </a:r>
            <a:endParaRPr lang="en-US" sz="1500" b="0" u="none" strike="noStrike">
              <a:solidFill>
                <a:srgbClr val="000000"/>
              </a:solidFill>
              <a:effectLst/>
              <a:uFillTx/>
              <a:latin typeface="Arial"/>
            </a:endParaRPr>
          </a:p>
        </p:txBody>
      </p:sp>
      <p:sp>
        <p:nvSpPr>
          <p:cNvPr id="78" name="SDG mapping card"/>
          <p:cNvSpPr/>
          <p:nvPr/>
        </p:nvSpPr>
        <p:spPr>
          <a:xfrm>
            <a:off x="609840" y="4709160"/>
            <a:ext cx="5394600" cy="1371240"/>
          </a:xfrm>
          <a:prstGeom prst="roundRect">
            <a:avLst>
              <a:gd name="adj" fmla="val 17333"/>
            </a:avLst>
          </a:prstGeom>
          <a:solidFill>
            <a:schemeClr val="bg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 name="SDG mapping tick circle"/>
          <p:cNvSpPr/>
          <p:nvPr/>
        </p:nvSpPr>
        <p:spPr>
          <a:xfrm>
            <a:off x="884160" y="5148000"/>
            <a:ext cx="493560" cy="493560"/>
          </a:xfrm>
          <a:prstGeom prst="ellipse">
            <a:avLst/>
          </a:prstGeom>
          <a:solidFill>
            <a:schemeClr val="accent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0" name="SDG mapping tick" descr="Done"/>
          <p:cNvPicPr/>
          <p:nvPr/>
        </p:nvPicPr>
        <p:blipFill>
          <a:blip r:embed="rId5"/>
          <a:stretch/>
        </p:blipFill>
        <p:spPr>
          <a:xfrm>
            <a:off x="1030680" y="5294520"/>
            <a:ext cx="200880" cy="200880"/>
          </a:xfrm>
          <a:prstGeom prst="rect">
            <a:avLst/>
          </a:prstGeom>
          <a:noFill/>
          <a:ln w="0">
            <a:noFill/>
          </a:ln>
        </p:spPr>
      </p:pic>
      <p:sp>
        <p:nvSpPr>
          <p:cNvPr id="81" name="SDG mapping title"/>
          <p:cNvSpPr/>
          <p:nvPr/>
        </p:nvSpPr>
        <p:spPr>
          <a:xfrm>
            <a:off x="1569960" y="4892040"/>
            <a:ext cx="260568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300"/>
              </a:spcAft>
              <a:tabLst>
                <a:tab pos="0" algn="l"/>
              </a:tabLst>
            </a:pPr>
            <a:r>
              <a:rPr lang="en-US" sz="1700" b="1" u="none" strike="noStrike">
                <a:solidFill>
                  <a:schemeClr val="dk1"/>
                </a:solidFill>
                <a:effectLst/>
                <a:uFillTx/>
                <a:latin typeface="Calibri"/>
                <a:ea typeface="Calibri"/>
              </a:rPr>
              <a:t>SDG mapping</a:t>
            </a:r>
            <a:endParaRPr lang="en-US" sz="1700" b="0" u="none" strike="noStrike">
              <a:solidFill>
                <a:srgbClr val="000000"/>
              </a:solidFill>
              <a:effectLst/>
              <a:uFillTx/>
              <a:latin typeface="Arial"/>
            </a:endParaRPr>
          </a:p>
          <a:p>
            <a:pPr defTabSz="914400">
              <a:lnSpc>
                <a:spcPct val="100000"/>
              </a:lnSpc>
              <a:spcAft>
                <a:spcPts val="300"/>
              </a:spcAft>
              <a:tabLst>
                <a:tab pos="0" algn="l"/>
              </a:tabLst>
            </a:pPr>
            <a:r>
              <a:rPr lang="en-US" sz="1500" b="0" u="none" strike="noStrike">
                <a:solidFill>
                  <a:schemeClr val="dk1"/>
                </a:solidFill>
                <a:effectLst/>
                <a:uFillTx/>
                <a:latin typeface="Calibri"/>
                <a:ea typeface="Calibri"/>
              </a:rPr>
              <a:t>A focus on SDG sub-targets of SDG 4.4, 5.7, 8.5, 9.2  and 10.3</a:t>
            </a:r>
            <a:endParaRPr lang="en-US" sz="1500" b="0" u="none" strike="noStrike">
              <a:solidFill>
                <a:srgbClr val="000000"/>
              </a:solidFill>
              <a:effectLst/>
              <a:uFillTx/>
              <a:latin typeface="Arial"/>
            </a:endParaRPr>
          </a:p>
        </p:txBody>
      </p:sp>
      <p:sp>
        <p:nvSpPr>
          <p:cNvPr id="82" name="Multiple scenarios tick circle"/>
          <p:cNvSpPr/>
          <p:nvPr/>
        </p:nvSpPr>
        <p:spPr>
          <a:xfrm>
            <a:off x="6462000" y="5148000"/>
            <a:ext cx="493560" cy="493560"/>
          </a:xfrm>
          <a:prstGeom prst="ellipse">
            <a:avLst/>
          </a:prstGeom>
          <a:solidFill>
            <a:schemeClr val="accent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3" name="Multiple scenarios tick" descr="Done"/>
          <p:cNvPicPr/>
          <p:nvPr/>
        </p:nvPicPr>
        <p:blipFill>
          <a:blip r:embed="rId6"/>
          <a:stretch/>
        </p:blipFill>
        <p:spPr>
          <a:xfrm>
            <a:off x="6608520" y="5294520"/>
            <a:ext cx="200880" cy="200880"/>
          </a:xfrm>
          <a:prstGeom prst="rect">
            <a:avLst/>
          </a:prstGeom>
          <a:noFill/>
          <a:ln w="0">
            <a:noFill/>
          </a:ln>
        </p:spPr>
      </p:pic>
      <p:sp>
        <p:nvSpPr>
          <p:cNvPr id="84" name="Multiple scenarios title"/>
          <p:cNvSpPr/>
          <p:nvPr/>
        </p:nvSpPr>
        <p:spPr>
          <a:xfrm>
            <a:off x="7147800" y="4892040"/>
            <a:ext cx="32648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300"/>
              </a:spcAft>
              <a:tabLst>
                <a:tab pos="0" algn="l"/>
              </a:tabLst>
            </a:pPr>
            <a:r>
              <a:rPr lang="en-US" sz="1700" b="1" u="none" strike="noStrike">
                <a:solidFill>
                  <a:schemeClr val="dk1"/>
                </a:solidFill>
                <a:effectLst/>
                <a:uFillTx/>
                <a:latin typeface="Calibri"/>
                <a:ea typeface="Calibri"/>
              </a:rPr>
              <a:t>Handling uncertainty</a:t>
            </a:r>
            <a:endParaRPr lang="en-US" sz="1700" b="0" u="none" strike="noStrike">
              <a:solidFill>
                <a:srgbClr val="000000"/>
              </a:solidFill>
              <a:effectLst/>
              <a:uFillTx/>
              <a:latin typeface="Arial"/>
            </a:endParaRPr>
          </a:p>
          <a:p>
            <a:pPr defTabSz="914400">
              <a:lnSpc>
                <a:spcPct val="100000"/>
              </a:lnSpc>
              <a:spcAft>
                <a:spcPts val="300"/>
              </a:spcAft>
              <a:tabLst>
                <a:tab pos="0" algn="l"/>
              </a:tabLst>
            </a:pPr>
            <a:r>
              <a:rPr lang="en-US" sz="1500" b="0" u="none" strike="noStrike">
                <a:solidFill>
                  <a:schemeClr val="dk1"/>
                </a:solidFill>
                <a:effectLst/>
                <a:uFillTx/>
                <a:latin typeface="Calibri"/>
                <a:ea typeface="Calibri"/>
              </a:rPr>
              <a:t>Shows the skill changes for the cases of slow, medium and fast AI progression.</a:t>
            </a:r>
            <a:endParaRPr lang="en-US" sz="1500" b="0" u="none" strike="noStrike">
              <a:solidFill>
                <a:srgbClr val="000000"/>
              </a:solidFill>
              <a:effectLst/>
              <a:uFillTx/>
              <a:latin typeface="Arial"/>
            </a:endParaRPr>
          </a:p>
        </p:txBody>
      </p:sp>
      <p:pic>
        <p:nvPicPr>
          <p:cNvPr id="85" name="Picture 46"/>
          <p:cNvPicPr/>
          <p:nvPr/>
        </p:nvPicPr>
        <p:blipFill>
          <a:blip r:embed="rId7"/>
          <a:stretch/>
        </p:blipFill>
        <p:spPr>
          <a:xfrm>
            <a:off x="609840" y="326520"/>
            <a:ext cx="3644640" cy="10544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hasCustomPrompt="1"/>
          </p:nvPr>
        </p:nvSpPr>
        <p:spPr>
          <a:xfrm>
            <a:off x="609840" y="502920"/>
            <a:ext cx="10972440" cy="914040"/>
          </a:xfrm>
          <a:prstGeom prst="rect">
            <a:avLst/>
          </a:prstGeom>
          <a:noFill/>
          <a:ln w="0">
            <a:noFill/>
          </a:ln>
        </p:spPr>
        <p:txBody>
          <a:bodyPr lIns="0" tIns="0" rIns="0" bIns="0" anchor="t">
            <a:noAutofit/>
          </a:bodyPr>
          <a:p>
            <a:pPr indent="0" algn="l" defTabSz="914400">
              <a:lnSpc>
                <a:spcPct val="100000"/>
              </a:lnSpc>
              <a:buNone/>
              <a:tabLst>
                <a:tab pos="0" algn="l"/>
              </a:tabLst>
            </a:pPr>
            <a:r>
              <a:rPr lang="en-MY" sz="3600" b="1" u="none" strike="noStrike">
                <a:solidFill>
                  <a:schemeClr val="dk1"/>
                </a:solidFill>
                <a:effectLst/>
                <a:uFillTx/>
                <a:latin typeface="Cambria"/>
                <a:ea typeface="Cambria"/>
              </a:rPr>
              <a:t>From </a:t>
            </a:r>
            <a:r>
              <a:rPr lang="en-US" sz="3600" b="1" u="none" strike="noStrike">
                <a:solidFill>
                  <a:schemeClr val="dk1"/>
                </a:solidFill>
                <a:effectLst/>
                <a:uFillTx/>
                <a:latin typeface="Calibri"/>
                <a:ea typeface="Calibri"/>
              </a:rPr>
              <a:t>résumé</a:t>
            </a:r>
            <a:r>
              <a:rPr lang="en-MY" sz="3600" b="1" u="none" strike="noStrike">
                <a:solidFill>
                  <a:schemeClr val="dk1"/>
                </a:solidFill>
                <a:effectLst/>
                <a:uFillTx/>
                <a:latin typeface="Cambria"/>
                <a:ea typeface="Cambria"/>
              </a:rPr>
              <a:t> to roadmap in four simple steps.</a:t>
            </a:r>
            <a:endParaRPr lang="en-US" sz="3600" b="0" u="none" strike="noStrike">
              <a:solidFill>
                <a:schemeClr val="dk1"/>
              </a:solidFill>
              <a:effectLst/>
              <a:uFillTx/>
              <a:latin typeface="Calibri"/>
            </a:endParaRPr>
          </a:p>
        </p:txBody>
      </p:sp>
      <p:sp>
        <p:nvSpPr>
          <p:cNvPr id="87" name="You frame"/>
          <p:cNvSpPr/>
          <p:nvPr/>
        </p:nvSpPr>
        <p:spPr>
          <a:xfrm>
            <a:off x="609840" y="1463040"/>
            <a:ext cx="2605680" cy="2959560"/>
          </a:xfrm>
          <a:prstGeom prst="roundRect">
            <a:avLst>
              <a:gd name="adj" fmla="val 7719"/>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 name="You label"/>
          <p:cNvSpPr/>
          <p:nvPr/>
        </p:nvSpPr>
        <p:spPr>
          <a:xfrm>
            <a:off x="609840" y="4560120"/>
            <a:ext cx="26056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800" b="0" u="none" strike="noStrike">
                <a:solidFill>
                  <a:schemeClr val="dk1"/>
                </a:solidFill>
                <a:effectLst/>
                <a:uFillTx/>
                <a:latin typeface="Cambria"/>
                <a:ea typeface="Cambria"/>
              </a:rPr>
              <a:t>You</a:t>
            </a:r>
            <a:endParaRPr lang="en-US" sz="2800" b="0" u="none" strike="noStrike">
              <a:solidFill>
                <a:srgbClr val="000000"/>
              </a:solidFill>
              <a:effectLst/>
              <a:uFillTx/>
              <a:latin typeface="Arial"/>
            </a:endParaRPr>
          </a:p>
        </p:txBody>
      </p:sp>
      <p:sp>
        <p:nvSpPr>
          <p:cNvPr id="89" name="You caption"/>
          <p:cNvSpPr/>
          <p:nvPr/>
        </p:nvSpPr>
        <p:spPr>
          <a:xfrm>
            <a:off x="609840" y="5063040"/>
            <a:ext cx="2514240" cy="822600"/>
          </a:xfrm>
          <a:prstGeom prst="rect">
            <a:avLst/>
          </a:prstGeom>
          <a:noFill/>
          <a:ln w="0">
            <a:noFill/>
          </a:ln>
        </p:spPr>
        <p:style>
          <a:lnRef idx="0"/>
          <a:fillRef idx="0"/>
          <a:effectRef idx="0"/>
          <a:fontRef idx="minor"/>
        </p:style>
        <p:txBody>
          <a:bodyPr lIns="0" tIns="0" rIns="0" bIns="0" anchor="t">
            <a:noAutofit/>
          </a:bodyPr>
          <a:p>
            <a:pPr algn="just" defTabSz="914400">
              <a:lnSpc>
                <a:spcPct val="100000"/>
              </a:lnSpc>
              <a:tabLst>
                <a:tab pos="0" algn="l"/>
              </a:tabLst>
            </a:pPr>
            <a:r>
              <a:rPr lang="en-US" sz="1500" b="0" u="none" strike="noStrike">
                <a:solidFill>
                  <a:schemeClr val="dk1"/>
                </a:solidFill>
                <a:effectLst/>
                <a:uFillTx/>
                <a:latin typeface="Calibri"/>
                <a:ea typeface="Calibri"/>
              </a:rPr>
              <a:t>Introduce yourself, then scan a résumé or answer eight questions. Nothing is stored.</a:t>
            </a:r>
            <a:endParaRPr lang="en-US" sz="1500" b="0" u="none" strike="noStrike">
              <a:solidFill>
                <a:srgbClr val="000000"/>
              </a:solidFill>
              <a:effectLst/>
              <a:uFillTx/>
              <a:latin typeface="Arial"/>
            </a:endParaRPr>
          </a:p>
        </p:txBody>
      </p:sp>
      <p:sp>
        <p:nvSpPr>
          <p:cNvPr id="90" name="Arrow 1"/>
          <p:cNvSpPr/>
          <p:nvPr/>
        </p:nvSpPr>
        <p:spPr>
          <a:xfrm>
            <a:off x="3133800" y="2697480"/>
            <a:ext cx="347040" cy="347040"/>
          </a:xfrm>
          <a:prstGeom prst="ellipse">
            <a:avLst/>
          </a:prstGeom>
          <a:solidFill>
            <a:schemeClr val="accent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1" name="Arrow glyph 1"/>
          <p:cNvSpPr/>
          <p:nvPr/>
        </p:nvSpPr>
        <p:spPr>
          <a:xfrm>
            <a:off x="3133800" y="269748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dk1"/>
                </a:solidFill>
                <a:effectLst/>
                <a:uFillTx/>
                <a:latin typeface="Calibri"/>
                <a:ea typeface="Calibri"/>
              </a:rPr>
              <a:t>›</a:t>
            </a:r>
            <a:endParaRPr lang="en-US" sz="1800" b="0" u="none" strike="noStrike">
              <a:solidFill>
                <a:srgbClr val="000000"/>
              </a:solidFill>
              <a:effectLst/>
              <a:uFillTx/>
              <a:latin typeface="Arial"/>
            </a:endParaRPr>
          </a:p>
        </p:txBody>
      </p:sp>
      <p:sp>
        <p:nvSpPr>
          <p:cNvPr id="92" name="Skills frame"/>
          <p:cNvSpPr/>
          <p:nvPr/>
        </p:nvSpPr>
        <p:spPr>
          <a:xfrm>
            <a:off x="3398760" y="1645920"/>
            <a:ext cx="2605680" cy="2959560"/>
          </a:xfrm>
          <a:prstGeom prst="roundRect">
            <a:avLst>
              <a:gd name="adj" fmla="val 7719"/>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 name="Skills label"/>
          <p:cNvSpPr/>
          <p:nvPr/>
        </p:nvSpPr>
        <p:spPr>
          <a:xfrm>
            <a:off x="3398760" y="4743000"/>
            <a:ext cx="26056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800" b="0" u="none" strike="noStrike">
                <a:solidFill>
                  <a:schemeClr val="dk1"/>
                </a:solidFill>
                <a:effectLst/>
                <a:uFillTx/>
                <a:latin typeface="Cambria"/>
                <a:ea typeface="Cambria"/>
              </a:rPr>
              <a:t>Skills</a:t>
            </a:r>
            <a:endParaRPr lang="en-US" sz="2800" b="0" u="none" strike="noStrike">
              <a:solidFill>
                <a:srgbClr val="000000"/>
              </a:solidFill>
              <a:effectLst/>
              <a:uFillTx/>
              <a:latin typeface="Arial"/>
            </a:endParaRPr>
          </a:p>
        </p:txBody>
      </p:sp>
      <p:sp>
        <p:nvSpPr>
          <p:cNvPr id="94" name="Skills caption"/>
          <p:cNvSpPr/>
          <p:nvPr/>
        </p:nvSpPr>
        <p:spPr>
          <a:xfrm>
            <a:off x="3398760" y="5245920"/>
            <a:ext cx="2514240" cy="822600"/>
          </a:xfrm>
          <a:prstGeom prst="rect">
            <a:avLst/>
          </a:prstGeom>
          <a:noFill/>
          <a:ln w="0">
            <a:noFill/>
          </a:ln>
        </p:spPr>
        <p:style>
          <a:lnRef idx="0"/>
          <a:fillRef idx="0"/>
          <a:effectRef idx="0"/>
          <a:fontRef idx="minor"/>
        </p:style>
        <p:txBody>
          <a:bodyPr lIns="0" tIns="0" rIns="0" bIns="0" anchor="t">
            <a:noAutofit/>
          </a:bodyPr>
          <a:p>
            <a:pPr algn="just" defTabSz="914400">
              <a:lnSpc>
                <a:spcPct val="100000"/>
              </a:lnSpc>
              <a:tabLst>
                <a:tab pos="0" algn="l"/>
              </a:tabLst>
            </a:pPr>
            <a:r>
              <a:rPr lang="en-US" sz="1500" b="0" u="none" strike="noStrike">
                <a:solidFill>
                  <a:schemeClr val="dk1"/>
                </a:solidFill>
                <a:effectLst/>
                <a:uFillTx/>
                <a:latin typeface="Calibri"/>
                <a:ea typeface="Calibri"/>
              </a:rPr>
              <a:t>Every skill gets an expiry date, under conditions of either slow, medium or fast AI progression.</a:t>
            </a:r>
            <a:endParaRPr lang="en-US" sz="1500" b="0" u="none" strike="noStrike">
              <a:solidFill>
                <a:srgbClr val="000000"/>
              </a:solidFill>
              <a:effectLst/>
              <a:uFillTx/>
              <a:latin typeface="Arial"/>
            </a:endParaRPr>
          </a:p>
        </p:txBody>
      </p:sp>
      <p:sp>
        <p:nvSpPr>
          <p:cNvPr id="95" name="Arrow 2"/>
          <p:cNvSpPr/>
          <p:nvPr/>
        </p:nvSpPr>
        <p:spPr>
          <a:xfrm>
            <a:off x="5922720" y="2880360"/>
            <a:ext cx="347040" cy="347040"/>
          </a:xfrm>
          <a:prstGeom prst="ellipse">
            <a:avLst/>
          </a:prstGeom>
          <a:solidFill>
            <a:schemeClr val="accent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 name="Arrow glyph 2"/>
          <p:cNvSpPr/>
          <p:nvPr/>
        </p:nvSpPr>
        <p:spPr>
          <a:xfrm>
            <a:off x="5922720" y="288036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dk1"/>
                </a:solidFill>
                <a:effectLst/>
                <a:uFillTx/>
                <a:latin typeface="Calibri"/>
                <a:ea typeface="Calibri"/>
              </a:rPr>
              <a:t>›</a:t>
            </a:r>
            <a:endParaRPr lang="en-US" sz="1800" b="0" u="none" strike="noStrike">
              <a:solidFill>
                <a:srgbClr val="000000"/>
              </a:solidFill>
              <a:effectLst/>
              <a:uFillTx/>
              <a:latin typeface="Arial"/>
            </a:endParaRPr>
          </a:p>
        </p:txBody>
      </p:sp>
      <p:sp>
        <p:nvSpPr>
          <p:cNvPr id="97" name="Jobs frame"/>
          <p:cNvSpPr/>
          <p:nvPr/>
        </p:nvSpPr>
        <p:spPr>
          <a:xfrm>
            <a:off x="6187680" y="1828800"/>
            <a:ext cx="2605680" cy="2959560"/>
          </a:xfrm>
          <a:prstGeom prst="roundRect">
            <a:avLst>
              <a:gd name="adj" fmla="val 7719"/>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 name="Jobs label"/>
          <p:cNvSpPr/>
          <p:nvPr/>
        </p:nvSpPr>
        <p:spPr>
          <a:xfrm>
            <a:off x="6187680" y="4925880"/>
            <a:ext cx="26056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800" b="0" u="none" strike="noStrike">
                <a:solidFill>
                  <a:schemeClr val="dk1"/>
                </a:solidFill>
                <a:effectLst/>
                <a:uFillTx/>
                <a:latin typeface="Cambria"/>
                <a:ea typeface="Cambria"/>
              </a:rPr>
              <a:t>Jobs</a:t>
            </a:r>
            <a:endParaRPr lang="en-US" sz="2800" b="0" u="none" strike="noStrike">
              <a:solidFill>
                <a:srgbClr val="000000"/>
              </a:solidFill>
              <a:effectLst/>
              <a:uFillTx/>
              <a:latin typeface="Arial"/>
            </a:endParaRPr>
          </a:p>
        </p:txBody>
      </p:sp>
      <p:sp>
        <p:nvSpPr>
          <p:cNvPr id="99" name="Jobs caption"/>
          <p:cNvSpPr/>
          <p:nvPr/>
        </p:nvSpPr>
        <p:spPr>
          <a:xfrm>
            <a:off x="6187680" y="5428800"/>
            <a:ext cx="2514240" cy="822600"/>
          </a:xfrm>
          <a:prstGeom prst="rect">
            <a:avLst/>
          </a:prstGeom>
          <a:noFill/>
          <a:ln w="0">
            <a:noFill/>
          </a:ln>
        </p:spPr>
        <p:style>
          <a:lnRef idx="0"/>
          <a:fillRef idx="0"/>
          <a:effectRef idx="0"/>
          <a:fontRef idx="minor"/>
        </p:style>
        <p:txBody>
          <a:bodyPr lIns="0" tIns="0" rIns="0" bIns="0" anchor="t">
            <a:noAutofit/>
          </a:bodyPr>
          <a:p>
            <a:pPr algn="just" defTabSz="914400">
              <a:lnSpc>
                <a:spcPct val="100000"/>
              </a:lnSpc>
              <a:tabLst>
                <a:tab pos="0" algn="l"/>
              </a:tabLst>
            </a:pPr>
            <a:r>
              <a:rPr lang="en-US" sz="1500" b="0" u="none" strike="noStrike">
                <a:solidFill>
                  <a:schemeClr val="dk1"/>
                </a:solidFill>
                <a:effectLst/>
                <a:uFillTx/>
                <a:latin typeface="Calibri"/>
                <a:ea typeface="Calibri"/>
              </a:rPr>
              <a:t>Roles you can reach, and the skills you need to get there.</a:t>
            </a:r>
            <a:endParaRPr lang="en-US" sz="1500" b="0" u="none" strike="noStrike">
              <a:solidFill>
                <a:srgbClr val="000000"/>
              </a:solidFill>
              <a:effectLst/>
              <a:uFillTx/>
              <a:latin typeface="Arial"/>
            </a:endParaRPr>
          </a:p>
        </p:txBody>
      </p:sp>
      <p:sp>
        <p:nvSpPr>
          <p:cNvPr id="100" name="Arrow 3"/>
          <p:cNvSpPr/>
          <p:nvPr/>
        </p:nvSpPr>
        <p:spPr>
          <a:xfrm>
            <a:off x="8711640" y="3063240"/>
            <a:ext cx="347040" cy="347040"/>
          </a:xfrm>
          <a:prstGeom prst="ellipse">
            <a:avLst/>
          </a:prstGeom>
          <a:solidFill>
            <a:schemeClr val="accent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1" name="Arrow glyph 3"/>
          <p:cNvSpPr/>
          <p:nvPr/>
        </p:nvSpPr>
        <p:spPr>
          <a:xfrm>
            <a:off x="8711640" y="30632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dk1"/>
                </a:solidFill>
                <a:effectLst/>
                <a:uFillTx/>
                <a:latin typeface="Calibri"/>
                <a:ea typeface="Calibri"/>
              </a:rPr>
              <a:t>›</a:t>
            </a:r>
            <a:endParaRPr lang="en-US" sz="1800" b="0" u="none" strike="noStrike">
              <a:solidFill>
                <a:srgbClr val="000000"/>
              </a:solidFill>
              <a:effectLst/>
              <a:uFillTx/>
              <a:latin typeface="Arial"/>
            </a:endParaRPr>
          </a:p>
        </p:txBody>
      </p:sp>
      <p:sp>
        <p:nvSpPr>
          <p:cNvPr id="102" name="Plan frame"/>
          <p:cNvSpPr/>
          <p:nvPr/>
        </p:nvSpPr>
        <p:spPr>
          <a:xfrm>
            <a:off x="8976600" y="2011680"/>
            <a:ext cx="2605680" cy="2959560"/>
          </a:xfrm>
          <a:prstGeom prst="roundRect">
            <a:avLst>
              <a:gd name="adj" fmla="val 7719"/>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 name="Plan label"/>
          <p:cNvSpPr/>
          <p:nvPr/>
        </p:nvSpPr>
        <p:spPr>
          <a:xfrm>
            <a:off x="8976600" y="5108760"/>
            <a:ext cx="26056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800" b="0" u="none" strike="noStrike">
                <a:solidFill>
                  <a:schemeClr val="dk1"/>
                </a:solidFill>
                <a:effectLst/>
                <a:uFillTx/>
                <a:latin typeface="Cambria"/>
                <a:ea typeface="Cambria"/>
              </a:rPr>
              <a:t>Plan</a:t>
            </a:r>
            <a:endParaRPr lang="en-US" sz="2800" b="0" u="none" strike="noStrike">
              <a:solidFill>
                <a:srgbClr val="000000"/>
              </a:solidFill>
              <a:effectLst/>
              <a:uFillTx/>
              <a:latin typeface="Arial"/>
            </a:endParaRPr>
          </a:p>
        </p:txBody>
      </p:sp>
      <p:sp>
        <p:nvSpPr>
          <p:cNvPr id="104" name="Plan caption"/>
          <p:cNvSpPr/>
          <p:nvPr/>
        </p:nvSpPr>
        <p:spPr>
          <a:xfrm>
            <a:off x="8976600" y="5611680"/>
            <a:ext cx="271188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dk1"/>
                </a:solidFill>
                <a:effectLst/>
                <a:uFillTx/>
                <a:latin typeface="Calibri"/>
                <a:ea typeface="Calibri"/>
              </a:rPr>
              <a:t>Week by week, with free courses, culminating in a meeting with the advisor.</a:t>
            </a:r>
            <a:endParaRPr lang="en-US" sz="1500" b="0" u="none" strike="noStrike">
              <a:solidFill>
                <a:srgbClr val="000000"/>
              </a:solidFill>
              <a:effectLst/>
              <a:uFillTx/>
              <a:latin typeface="Arial"/>
            </a:endParaRPr>
          </a:p>
        </p:txBody>
      </p:sp>
      <p:pic>
        <p:nvPicPr>
          <p:cNvPr id="105" name="Picture 27"/>
          <p:cNvPicPr/>
          <p:nvPr/>
        </p:nvPicPr>
        <p:blipFill>
          <a:blip r:embed="rId1"/>
          <a:stretch/>
        </p:blipFill>
        <p:spPr>
          <a:xfrm>
            <a:off x="659880" y="1945080"/>
            <a:ext cx="2464200" cy="1852200"/>
          </a:xfrm>
          <a:prstGeom prst="rect">
            <a:avLst/>
          </a:prstGeom>
          <a:noFill/>
          <a:ln w="0">
            <a:noFill/>
          </a:ln>
        </p:spPr>
      </p:pic>
      <p:pic>
        <p:nvPicPr>
          <p:cNvPr id="106" name="Picture 31"/>
          <p:cNvPicPr/>
          <p:nvPr/>
        </p:nvPicPr>
        <p:blipFill>
          <a:blip r:embed="rId2"/>
          <a:stretch/>
        </p:blipFill>
        <p:spPr>
          <a:xfrm>
            <a:off x="3490200" y="2049480"/>
            <a:ext cx="2431800" cy="2026800"/>
          </a:xfrm>
          <a:prstGeom prst="rect">
            <a:avLst/>
          </a:prstGeom>
          <a:noFill/>
          <a:ln w="0">
            <a:noFill/>
          </a:ln>
        </p:spPr>
      </p:pic>
      <p:pic>
        <p:nvPicPr>
          <p:cNvPr id="107" name="Picture 33"/>
          <p:cNvPicPr/>
          <p:nvPr/>
        </p:nvPicPr>
        <p:blipFill>
          <a:blip r:embed="rId3"/>
          <a:stretch/>
        </p:blipFill>
        <p:spPr>
          <a:xfrm>
            <a:off x="6249960" y="2208600"/>
            <a:ext cx="2481480" cy="2199600"/>
          </a:xfrm>
          <a:prstGeom prst="rect">
            <a:avLst/>
          </a:prstGeom>
          <a:noFill/>
          <a:ln w="0">
            <a:noFill/>
          </a:ln>
        </p:spPr>
      </p:pic>
      <p:pic>
        <p:nvPicPr>
          <p:cNvPr id="108" name="Picture 35"/>
          <p:cNvPicPr/>
          <p:nvPr/>
        </p:nvPicPr>
        <p:blipFill>
          <a:blip r:embed="rId4"/>
          <a:stretch/>
        </p:blipFill>
        <p:spPr>
          <a:xfrm>
            <a:off x="9018360" y="2519640"/>
            <a:ext cx="2472480" cy="19436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Text 1"/>
          <p:cNvSpPr/>
          <p:nvPr/>
        </p:nvSpPr>
        <p:spPr>
          <a:xfrm>
            <a:off x="812880" y="1127880"/>
            <a:ext cx="10883160" cy="528120"/>
          </a:xfrm>
          <a:prstGeom prst="rect">
            <a:avLst/>
          </a:prstGeom>
          <a:noFill/>
          <a:ln w="0">
            <a:noFill/>
          </a:ln>
        </p:spPr>
        <p:style>
          <a:lnRef idx="0"/>
          <a:fillRef idx="0"/>
          <a:effectRef idx="0"/>
          <a:fontRef idx="minor"/>
        </p:style>
        <p:txBody>
          <a:bodyPr lIns="0" tIns="0" rIns="0" bIns="0" anchor="t">
            <a:normAutofit fontScale="85000" lnSpcReduction="9999"/>
          </a:bodyPr>
          <a:p>
            <a:pPr algn="just" defTabSz="914400">
              <a:lnSpc>
                <a:spcPts val="3960"/>
              </a:lnSpc>
            </a:pPr>
            <a:r>
              <a:rPr lang="en-US" sz="4000" b="1" u="none" spc="-99" strike="noStrike">
                <a:solidFill>
                  <a:schemeClr val="accent6">
                    <a:lumMod val="75000"/>
                  </a:schemeClr>
                </a:solidFill>
                <a:effectLst/>
                <a:uFillTx/>
                <a:latin typeface="Cambria"/>
              </a:rPr>
              <a:t>Mapping you to the places with the best job opportunities</a:t>
            </a:r>
            <a:endParaRPr lang="en-US" sz="4000" b="0" u="none" strike="noStrike">
              <a:solidFill>
                <a:srgbClr val="FFFFFF"/>
              </a:solidFill>
              <a:effectLst/>
              <a:uFillTx/>
              <a:latin typeface="Arial"/>
            </a:endParaRPr>
          </a:p>
        </p:txBody>
      </p:sp>
      <p:sp>
        <p:nvSpPr>
          <p:cNvPr id="110"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pc="150" strike="noStrike">
                <a:solidFill>
                  <a:schemeClr val="accent6">
                    <a:lumMod val="90000"/>
                  </a:schemeClr>
                </a:solidFill>
                <a:effectLst/>
                <a:uFillTx/>
                <a:latin typeface="Cambria"/>
              </a:rPr>
              <a:t>The Geographic Link</a:t>
            </a:r>
            <a:endParaRPr lang="en-US" sz="1400" b="0" u="none" strike="noStrike">
              <a:solidFill>
                <a:srgbClr val="FFFFFF"/>
              </a:solidFill>
              <a:effectLst/>
              <a:uFillTx/>
              <a:latin typeface="Arial"/>
            </a:endParaRPr>
          </a:p>
        </p:txBody>
      </p:sp>
      <p:sp>
        <p:nvSpPr>
          <p:cNvPr id="111" name="Text 3"/>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9BCB95"/>
                </a:solidFill>
                <a:effectLst/>
                <a:uFillTx/>
                <a:latin typeface="Instrument Sans"/>
                <a:ea typeface="Instrument Sans"/>
              </a:rPr>
              <a:t>Jobbery · Job map</a:t>
            </a:r>
            <a:endParaRPr lang="en-US" sz="1200" b="0" u="none" strike="noStrike">
              <a:solidFill>
                <a:srgbClr val="FFFFFF"/>
              </a:solidFill>
              <a:effectLst/>
              <a:uFillTx/>
              <a:latin typeface="Arial"/>
            </a:endParaRPr>
          </a:p>
        </p:txBody>
      </p:sp>
      <p:sp>
        <p:nvSpPr>
          <p:cNvPr id="112" name="Text 3"/>
          <p:cNvSpPr/>
          <p:nvPr/>
        </p:nvSpPr>
        <p:spPr>
          <a:xfrm>
            <a:off x="8102520" y="3108600"/>
            <a:ext cx="3374640" cy="695520"/>
          </a:xfrm>
          <a:prstGeom prst="rect">
            <a:avLst/>
          </a:prstGeom>
          <a:noFill/>
          <a:ln w="0">
            <a:noFill/>
          </a:ln>
        </p:spPr>
        <p:style>
          <a:lnRef idx="0"/>
          <a:fillRef idx="0"/>
          <a:effectRef idx="0"/>
          <a:fontRef idx="minor"/>
        </p:style>
        <p:txBody>
          <a:bodyPr lIns="0" tIns="0" rIns="0" bIns="0" anchor="t">
            <a:normAutofit/>
          </a:bodyPr>
          <a:p>
            <a:pPr defTabSz="914400">
              <a:lnSpc>
                <a:spcPts val="2639"/>
              </a:lnSpc>
              <a:tabLst>
                <a:tab pos="0" algn="l"/>
              </a:tabLst>
            </a:pPr>
            <a:r>
              <a:rPr lang="en-US" sz="2800" b="1" u="none" strike="noStrike">
                <a:solidFill>
                  <a:schemeClr val="lt1"/>
                </a:solidFill>
                <a:effectLst/>
                <a:uFillTx/>
                <a:latin typeface="Cambria"/>
                <a:ea typeface="Instrument Sans"/>
              </a:rPr>
              <a:t>Jobs distributed around Malaysia</a:t>
            </a:r>
            <a:endParaRPr lang="en-US" sz="2800" b="0" u="none" strike="noStrike">
              <a:solidFill>
                <a:srgbClr val="FFFFFF"/>
              </a:solidFill>
              <a:effectLst/>
              <a:uFillTx/>
              <a:latin typeface="Arial"/>
            </a:endParaRPr>
          </a:p>
        </p:txBody>
      </p:sp>
      <p:sp>
        <p:nvSpPr>
          <p:cNvPr id="113" name="Text 4"/>
          <p:cNvSpPr/>
          <p:nvPr/>
        </p:nvSpPr>
        <p:spPr>
          <a:xfrm>
            <a:off x="8102520" y="3880440"/>
            <a:ext cx="3374640" cy="878400"/>
          </a:xfrm>
          <a:prstGeom prst="rect">
            <a:avLst/>
          </a:prstGeom>
          <a:noFill/>
          <a:ln w="0">
            <a:noFill/>
          </a:ln>
        </p:spPr>
        <p:style>
          <a:lnRef idx="0"/>
          <a:fillRef idx="0"/>
          <a:effectRef idx="0"/>
          <a:fontRef idx="minor"/>
        </p:style>
        <p:txBody>
          <a:bodyPr lIns="0" tIns="0" rIns="0" bIns="0" anchor="t">
            <a:normAutofit/>
          </a:bodyPr>
          <a:p>
            <a:pPr algn="just" defTabSz="914400">
              <a:lnSpc>
                <a:spcPts val="2239"/>
              </a:lnSpc>
              <a:tabLst>
                <a:tab pos="0" algn="l"/>
              </a:tabLst>
            </a:pPr>
            <a:r>
              <a:rPr lang="en-US" sz="2000" b="0" u="none" strike="noStrike">
                <a:solidFill>
                  <a:schemeClr val="accent6"/>
                </a:solidFill>
                <a:effectLst/>
                <a:uFillTx/>
                <a:latin typeface="Cambria"/>
                <a:ea typeface="Instrument Sans"/>
              </a:rPr>
              <a:t>Those willing to relocate can make smart decisions based on job abundance.</a:t>
            </a:r>
            <a:endParaRPr lang="en-US" sz="2000" b="0" u="none" strike="noStrike">
              <a:solidFill>
                <a:srgbClr val="FFFFFF"/>
              </a:solidFill>
              <a:effectLst/>
              <a:uFillTx/>
              <a:latin typeface="Arial"/>
            </a:endParaRPr>
          </a:p>
        </p:txBody>
      </p:sp>
      <p:pic>
        <p:nvPicPr>
          <p:cNvPr id="114" name="Picture 4"/>
          <p:cNvPicPr/>
          <p:nvPr/>
        </p:nvPicPr>
        <p:blipFill>
          <a:blip r:embed="rId1"/>
          <a:srcRect l="0" t="0" r="1496" b="0"/>
          <a:stretch/>
        </p:blipFill>
        <p:spPr>
          <a:xfrm>
            <a:off x="1451160" y="2134440"/>
            <a:ext cx="5886000" cy="36248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Shape 2"/>
          <p:cNvSpPr/>
          <p:nvPr/>
        </p:nvSpPr>
        <p:spPr>
          <a:xfrm>
            <a:off x="816120" y="2879640"/>
            <a:ext cx="6978240" cy="2958840"/>
          </a:xfrm>
          <a:prstGeom prst="roundRect">
            <a:avLst>
              <a:gd name="adj" fmla="val 3326"/>
            </a:avLst>
          </a:prstGeom>
          <a:noFill/>
          <a:ln w="12700">
            <a:solidFill>
              <a:srgbClr val="D5E7D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 name="Text 3"/>
          <p:cNvSpPr/>
          <p:nvPr/>
        </p:nvSpPr>
        <p:spPr>
          <a:xfrm>
            <a:off x="8102520" y="3453840"/>
            <a:ext cx="3374640" cy="360360"/>
          </a:xfrm>
          <a:prstGeom prst="rect">
            <a:avLst/>
          </a:prstGeom>
          <a:noFill/>
          <a:ln w="0">
            <a:noFill/>
          </a:ln>
        </p:spPr>
        <p:style>
          <a:lnRef idx="0"/>
          <a:fillRef idx="0"/>
          <a:effectRef idx="0"/>
          <a:fontRef idx="minor"/>
        </p:style>
        <p:txBody>
          <a:bodyPr lIns="0" tIns="0" rIns="0" bIns="0" anchor="t">
            <a:noAutofit/>
          </a:bodyPr>
          <a:p>
            <a:pPr defTabSz="914400">
              <a:lnSpc>
                <a:spcPts val="2639"/>
              </a:lnSpc>
              <a:tabLst>
                <a:tab pos="0" algn="l"/>
              </a:tabLst>
            </a:pPr>
            <a:r>
              <a:rPr lang="en-US" sz="2800" b="1" u="none" strike="noStrike">
                <a:solidFill>
                  <a:schemeClr val="accent6">
                    <a:lumMod val="25000"/>
                  </a:schemeClr>
                </a:solidFill>
                <a:effectLst/>
                <a:uFillTx/>
                <a:latin typeface="Cambria"/>
                <a:ea typeface="Instrument Sans"/>
              </a:rPr>
              <a:t>Government-backed statistics</a:t>
            </a:r>
            <a:endParaRPr lang="en-US" sz="2800" b="0" u="none" strike="noStrike">
              <a:solidFill>
                <a:srgbClr val="000000"/>
              </a:solidFill>
              <a:effectLst/>
              <a:uFillTx/>
              <a:latin typeface="Arial"/>
            </a:endParaRPr>
          </a:p>
        </p:txBody>
      </p:sp>
      <p:sp>
        <p:nvSpPr>
          <p:cNvPr id="117" name="Text 4"/>
          <p:cNvSpPr/>
          <p:nvPr/>
        </p:nvSpPr>
        <p:spPr>
          <a:xfrm>
            <a:off x="8121240" y="4155840"/>
            <a:ext cx="3374640" cy="1162800"/>
          </a:xfrm>
          <a:prstGeom prst="rect">
            <a:avLst/>
          </a:prstGeom>
          <a:noFill/>
          <a:ln w="0">
            <a:noFill/>
          </a:ln>
        </p:spPr>
        <p:style>
          <a:lnRef idx="0"/>
          <a:fillRef idx="0"/>
          <a:effectRef idx="0"/>
          <a:fontRef idx="minor"/>
        </p:style>
        <p:txBody>
          <a:bodyPr lIns="0" tIns="0" rIns="0" bIns="0" anchor="t">
            <a:normAutofit/>
          </a:bodyPr>
          <a:p>
            <a:pPr defTabSz="914400">
              <a:lnSpc>
                <a:spcPct val="100000"/>
              </a:lnSpc>
            </a:pPr>
            <a:r>
              <a:rPr lang="en-MY" sz="2000" b="0" u="none" strike="noStrike">
                <a:solidFill>
                  <a:schemeClr val="dk1"/>
                </a:solidFill>
                <a:effectLst/>
                <a:uFillTx/>
                <a:latin typeface="Cambria"/>
              </a:rPr>
              <a:t>Which jobs are being hired more, which are being hired less.</a:t>
            </a:r>
            <a:endParaRPr lang="en-US" sz="2000" b="0" u="none" strike="noStrike">
              <a:solidFill>
                <a:srgbClr val="000000"/>
              </a:solidFill>
              <a:effectLst/>
              <a:uFillTx/>
              <a:latin typeface="Arial"/>
            </a:endParaRPr>
          </a:p>
        </p:txBody>
      </p:sp>
      <p:sp>
        <p:nvSpPr>
          <p:cNvPr id="118" name="Text 5"/>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pPr>
            <a:r>
              <a:rPr lang="en-US" sz="1200" b="0" u="none" strike="noStrike">
                <a:solidFill>
                  <a:srgbClr val="547451"/>
                </a:solidFill>
                <a:effectLst/>
                <a:uFillTx/>
                <a:latin typeface="Instrument Sans"/>
                <a:ea typeface="Instrument Sans"/>
              </a:rPr>
              <a:t>Jobbery · Statistics</a:t>
            </a:r>
            <a:endParaRPr lang="en-US" sz="1200" b="0" u="none" strike="noStrike">
              <a:solidFill>
                <a:srgbClr val="000000"/>
              </a:solidFill>
              <a:effectLst/>
              <a:uFillTx/>
              <a:latin typeface="Arial"/>
            </a:endParaRPr>
          </a:p>
        </p:txBody>
      </p:sp>
      <p:sp>
        <p:nvSpPr>
          <p:cNvPr id="119" name="Text 1"/>
          <p:cNvSpPr/>
          <p:nvPr/>
        </p:nvSpPr>
        <p:spPr>
          <a:xfrm>
            <a:off x="812880" y="112788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pPr>
            <a:r>
              <a:rPr lang="en-US" sz="4000" b="1" u="none" spc="-99" strike="noStrike">
                <a:solidFill>
                  <a:schemeClr val="dk1"/>
                </a:solidFill>
                <a:effectLst/>
                <a:uFillTx/>
                <a:latin typeface="Cambria"/>
              </a:rPr>
              <a:t>The Statistics:</a:t>
            </a:r>
            <a:endParaRPr lang="en-US" sz="4000" b="0" u="none" strike="noStrike">
              <a:solidFill>
                <a:srgbClr val="000000"/>
              </a:solidFill>
              <a:effectLst/>
              <a:uFillTx/>
              <a:latin typeface="Arial"/>
            </a:endParaRPr>
          </a:p>
        </p:txBody>
      </p:sp>
      <p:pic>
        <p:nvPicPr>
          <p:cNvPr id="120" name="Picture 5"/>
          <p:cNvPicPr/>
          <p:nvPr/>
        </p:nvPicPr>
        <p:blipFill>
          <a:blip r:embed="rId1"/>
          <a:stretch/>
        </p:blipFill>
        <p:spPr>
          <a:xfrm>
            <a:off x="1142640" y="2336760"/>
            <a:ext cx="6494040" cy="3637440"/>
          </a:xfrm>
          <a:prstGeom prst="rect">
            <a:avLst/>
          </a:prstGeom>
          <a:noFill/>
          <a:ln w="0">
            <a:noFill/>
          </a:ln>
        </p:spPr>
      </p:pic>
      <p:sp>
        <p:nvSpPr>
          <p:cNvPr id="121" name="Text 1"/>
          <p:cNvSpPr/>
          <p:nvPr/>
        </p:nvSpPr>
        <p:spPr>
          <a:xfrm>
            <a:off x="812880" y="1732320"/>
            <a:ext cx="10883160" cy="528120"/>
          </a:xfrm>
          <a:prstGeom prst="rect">
            <a:avLst/>
          </a:prstGeom>
          <a:noFill/>
          <a:ln w="0">
            <a:noFill/>
          </a:ln>
        </p:spPr>
        <p:style>
          <a:lnRef idx="0"/>
          <a:fillRef idx="0"/>
          <a:effectRef idx="0"/>
          <a:fontRef idx="minor"/>
        </p:style>
        <p:txBody>
          <a:bodyPr lIns="0" tIns="0" rIns="0" bIns="0" anchor="t">
            <a:noAutofit/>
          </a:bodyPr>
          <a:p>
            <a:pPr defTabSz="914400">
              <a:lnSpc>
                <a:spcPts val="3960"/>
              </a:lnSpc>
              <a:tabLst>
                <a:tab pos="0" algn="l"/>
              </a:tabLst>
            </a:pPr>
            <a:r>
              <a:rPr lang="en-US" sz="3600" b="1" u="none" spc="-99" strike="noStrike">
                <a:solidFill>
                  <a:srgbClr val="203B2B"/>
                </a:solidFill>
                <a:effectLst/>
                <a:uFillTx/>
                <a:latin typeface="Cambria"/>
                <a:ea typeface="Instrument Sans"/>
              </a:rPr>
              <a:t>See with Certainty How the Job Landscape is Changing </a:t>
            </a:r>
            <a:endParaRPr lang="en-US" sz="3600" b="0" u="none" strike="noStrike">
              <a:solidFill>
                <a:srgbClr val="000000"/>
              </a:solidFill>
              <a:effectLst/>
              <a:uFillTx/>
              <a:latin typeface="Arial"/>
            </a:endParaRPr>
          </a:p>
        </p:txBody>
      </p:sp>
      <p:pic>
        <p:nvPicPr>
          <p:cNvPr id="122" name="Advisor mascot" descr="Jobbery cockatiel mascot"/>
          <p:cNvPicPr/>
          <p:nvPr/>
        </p:nvPicPr>
        <p:blipFill>
          <a:blip r:embed="rId2"/>
          <a:stretch/>
        </p:blipFill>
        <p:spPr>
          <a:xfrm>
            <a:off x="204120" y="5007960"/>
            <a:ext cx="1226880" cy="1226880"/>
          </a:xfrm>
          <a:prstGeom prst="rect">
            <a:avLst/>
          </a:prstGeom>
          <a:noFill/>
          <a:ln w="0">
            <a:noFill/>
          </a:ln>
        </p:spPr>
      </p:pic>
      <p:sp>
        <p:nvSpPr>
          <p:cNvPr id="123" name="TextBox 3"/>
          <p:cNvSpPr/>
          <p:nvPr/>
        </p:nvSpPr>
        <p:spPr>
          <a:xfrm>
            <a:off x="775440" y="752400"/>
            <a:ext cx="6097320" cy="296280"/>
          </a:xfrm>
          <a:prstGeom prst="rect">
            <a:avLst/>
          </a:prstGeom>
          <a:noFill/>
          <a:ln w="0">
            <a:noFill/>
          </a:ln>
        </p:spPr>
        <p:style>
          <a:lnRef idx="0"/>
          <a:fillRef idx="0"/>
          <a:effectRef idx="0"/>
          <a:fontRef idx="minor"/>
        </p:style>
        <p:txBody>
          <a:bodyPr lIns="90000" tIns="45000" rIns="90000" bIns="45000" anchor="t">
            <a:spAutoFit/>
          </a:bodyPr>
          <a:p>
            <a:pPr defTabSz="914400">
              <a:lnSpc>
                <a:spcPts val="1681"/>
              </a:lnSpc>
              <a:tabLst>
                <a:tab pos="0" algn="l"/>
              </a:tabLst>
            </a:pPr>
            <a:r>
              <a:rPr lang="en-US" sz="1400" b="1" u="none" spc="150" strike="noStrike">
                <a:solidFill>
                  <a:schemeClr val="accent4">
                    <a:lumMod val="50000"/>
                  </a:schemeClr>
                </a:solidFill>
                <a:effectLst/>
                <a:uFillTx/>
                <a:latin typeface="Cambria"/>
              </a:rPr>
              <a:t>TRACKING THE INEVITABLE AI-CATALYSED CHANGE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Shape 2"/>
          <p:cNvSpPr/>
          <p:nvPr/>
        </p:nvSpPr>
        <p:spPr>
          <a:xfrm>
            <a:off x="816120" y="2879640"/>
            <a:ext cx="6978240" cy="2958840"/>
          </a:xfrm>
          <a:prstGeom prst="roundRect">
            <a:avLst>
              <a:gd name="adj" fmla="val 3326"/>
            </a:avLst>
          </a:prstGeom>
          <a:noFill/>
          <a:ln w="12700">
            <a:solidFill>
              <a:srgbClr val="D5E7D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5" name="Text 3"/>
          <p:cNvSpPr/>
          <p:nvPr/>
        </p:nvSpPr>
        <p:spPr>
          <a:xfrm>
            <a:off x="8102520" y="3348360"/>
            <a:ext cx="3374640" cy="360360"/>
          </a:xfrm>
          <a:prstGeom prst="rect">
            <a:avLst/>
          </a:prstGeom>
          <a:noFill/>
          <a:ln w="0">
            <a:noFill/>
          </a:ln>
        </p:spPr>
        <p:style>
          <a:lnRef idx="0"/>
          <a:fillRef idx="0"/>
          <a:effectRef idx="0"/>
          <a:fontRef idx="minor"/>
        </p:style>
        <p:txBody>
          <a:bodyPr lIns="0" tIns="0" rIns="0" bIns="0" anchor="t">
            <a:noAutofit/>
          </a:bodyPr>
          <a:p>
            <a:pPr defTabSz="914400">
              <a:lnSpc>
                <a:spcPts val="2639"/>
              </a:lnSpc>
              <a:tabLst>
                <a:tab pos="0" algn="l"/>
              </a:tabLst>
            </a:pPr>
            <a:r>
              <a:rPr lang="en-US" sz="2800" b="1" u="none" strike="noStrike">
                <a:solidFill>
                  <a:schemeClr val="accent6">
                    <a:lumMod val="25000"/>
                  </a:schemeClr>
                </a:solidFill>
                <a:effectLst/>
                <a:uFillTx/>
                <a:latin typeface="Cambria"/>
                <a:ea typeface="Instrument Sans"/>
              </a:rPr>
              <a:t>Government-backed statistics</a:t>
            </a:r>
            <a:endParaRPr lang="en-US" sz="2800" b="0" u="none" strike="noStrike">
              <a:solidFill>
                <a:srgbClr val="000000"/>
              </a:solidFill>
              <a:effectLst/>
              <a:uFillTx/>
              <a:latin typeface="Arial"/>
            </a:endParaRPr>
          </a:p>
        </p:txBody>
      </p:sp>
      <p:sp>
        <p:nvSpPr>
          <p:cNvPr id="126" name="Text 4"/>
          <p:cNvSpPr/>
          <p:nvPr/>
        </p:nvSpPr>
        <p:spPr>
          <a:xfrm>
            <a:off x="8102520" y="4008960"/>
            <a:ext cx="3374640" cy="1162800"/>
          </a:xfrm>
          <a:prstGeom prst="rect">
            <a:avLst/>
          </a:prstGeom>
          <a:noFill/>
          <a:ln w="0">
            <a:noFill/>
          </a:ln>
        </p:spPr>
        <p:style>
          <a:lnRef idx="0"/>
          <a:fillRef idx="0"/>
          <a:effectRef idx="0"/>
          <a:fontRef idx="minor"/>
        </p:style>
        <p:txBody>
          <a:bodyPr lIns="0" tIns="0" rIns="0" bIns="0" anchor="t">
            <a:normAutofit/>
          </a:bodyPr>
          <a:p>
            <a:pPr defTabSz="914400">
              <a:lnSpc>
                <a:spcPct val="100000"/>
              </a:lnSpc>
            </a:pPr>
            <a:r>
              <a:rPr lang="en-MY" sz="2000" b="0" u="none" strike="noStrike">
                <a:solidFill>
                  <a:schemeClr val="accent6">
                    <a:lumMod val="10000"/>
                  </a:schemeClr>
                </a:solidFill>
                <a:effectLst/>
                <a:uFillTx/>
                <a:latin typeface="Cambria"/>
              </a:rPr>
              <a:t>Shows how AI is progressing, with data from the last 2 years.</a:t>
            </a:r>
            <a:endParaRPr lang="en-US" sz="2000" b="0" u="none" strike="noStrike">
              <a:solidFill>
                <a:srgbClr val="000000"/>
              </a:solidFill>
              <a:effectLst/>
              <a:uFillTx/>
              <a:latin typeface="Arial"/>
            </a:endParaRPr>
          </a:p>
        </p:txBody>
      </p:sp>
      <p:sp>
        <p:nvSpPr>
          <p:cNvPr id="127" name="Text 5"/>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pPr>
            <a:r>
              <a:rPr lang="en-US" sz="1200" b="0" u="none" strike="noStrike">
                <a:solidFill>
                  <a:srgbClr val="547451"/>
                </a:solidFill>
                <a:effectLst/>
                <a:uFillTx/>
                <a:latin typeface="Instrument Sans"/>
                <a:ea typeface="Instrument Sans"/>
              </a:rPr>
              <a:t>Jobbery · Statistics</a:t>
            </a:r>
            <a:endParaRPr lang="en-US" sz="1200" b="0" u="none" strike="noStrike">
              <a:solidFill>
                <a:srgbClr val="000000"/>
              </a:solidFill>
              <a:effectLst/>
              <a:uFillTx/>
              <a:latin typeface="Arial"/>
            </a:endParaRPr>
          </a:p>
        </p:txBody>
      </p:sp>
      <p:pic>
        <p:nvPicPr>
          <p:cNvPr id="128" name="Picture 4"/>
          <p:cNvPicPr/>
          <p:nvPr/>
        </p:nvPicPr>
        <p:blipFill>
          <a:blip r:embed="rId1"/>
          <a:stretch/>
        </p:blipFill>
        <p:spPr>
          <a:xfrm>
            <a:off x="775440" y="2540880"/>
            <a:ext cx="7031160" cy="2858760"/>
          </a:xfrm>
          <a:prstGeom prst="rect">
            <a:avLst/>
          </a:prstGeom>
          <a:noFill/>
          <a:ln w="0">
            <a:noFill/>
          </a:ln>
        </p:spPr>
      </p:pic>
      <p:pic>
        <p:nvPicPr>
          <p:cNvPr id="129" name="Advisor mascot" descr="Jobbery cockatiel mascot"/>
          <p:cNvPicPr/>
          <p:nvPr/>
        </p:nvPicPr>
        <p:blipFill>
          <a:blip r:embed="rId2"/>
          <a:stretch/>
        </p:blipFill>
        <p:spPr>
          <a:xfrm>
            <a:off x="204120" y="5007960"/>
            <a:ext cx="1226880" cy="1226880"/>
          </a:xfrm>
          <a:prstGeom prst="rect">
            <a:avLst/>
          </a:prstGeom>
          <a:noFill/>
          <a:ln w="0">
            <a:noFill/>
          </a:ln>
        </p:spPr>
      </p:pic>
      <p:sp>
        <p:nvSpPr>
          <p:cNvPr id="130" name="TextBox 3"/>
          <p:cNvSpPr/>
          <p:nvPr/>
        </p:nvSpPr>
        <p:spPr>
          <a:xfrm>
            <a:off x="775440" y="752400"/>
            <a:ext cx="6097320" cy="296280"/>
          </a:xfrm>
          <a:prstGeom prst="rect">
            <a:avLst/>
          </a:prstGeom>
          <a:noFill/>
          <a:ln w="0">
            <a:noFill/>
          </a:ln>
        </p:spPr>
        <p:style>
          <a:lnRef idx="0"/>
          <a:fillRef idx="0"/>
          <a:effectRef idx="0"/>
          <a:fontRef idx="minor"/>
        </p:style>
        <p:txBody>
          <a:bodyPr lIns="90000" tIns="45000" rIns="90000" bIns="45000" anchor="t">
            <a:spAutoFit/>
          </a:bodyPr>
          <a:p>
            <a:pPr defTabSz="914400">
              <a:lnSpc>
                <a:spcPts val="1681"/>
              </a:lnSpc>
              <a:tabLst>
                <a:tab pos="0" algn="l"/>
              </a:tabLst>
            </a:pPr>
            <a:r>
              <a:rPr lang="en-US" sz="1400" b="1" u="none" spc="150" strike="noStrike">
                <a:solidFill>
                  <a:schemeClr val="accent4">
                    <a:lumMod val="50000"/>
                  </a:schemeClr>
                </a:solidFill>
                <a:effectLst/>
                <a:uFillTx/>
                <a:latin typeface="Cambria"/>
              </a:rPr>
              <a:t>TRACKING THE INEVITABLE AI-CATALYSED CHANGE</a:t>
            </a:r>
            <a:endParaRPr lang="en-US" sz="1400" b="0" u="none" strike="noStrike">
              <a:solidFill>
                <a:srgbClr val="000000"/>
              </a:solidFill>
              <a:effectLst/>
              <a:uFillTx/>
              <a:latin typeface="Arial"/>
            </a:endParaRPr>
          </a:p>
        </p:txBody>
      </p:sp>
      <p:sp>
        <p:nvSpPr>
          <p:cNvPr id="131" name="Text 1"/>
          <p:cNvSpPr/>
          <p:nvPr/>
        </p:nvSpPr>
        <p:spPr>
          <a:xfrm>
            <a:off x="812880" y="173232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tabLst>
                <a:tab pos="0" algn="l"/>
              </a:tabLst>
            </a:pPr>
            <a:r>
              <a:rPr lang="en-US" sz="3600" b="1" u="none" spc="-99" strike="noStrike">
                <a:solidFill>
                  <a:srgbClr val="203B2B"/>
                </a:solidFill>
                <a:effectLst/>
                <a:uFillTx/>
                <a:latin typeface="Cambria"/>
                <a:ea typeface="Instrument Sans"/>
              </a:rPr>
              <a:t>See with Certainty How the Job Landscape is Changing </a:t>
            </a:r>
            <a:endParaRPr lang="en-US" sz="3600" b="0" u="none" strike="noStrike">
              <a:solidFill>
                <a:srgbClr val="000000"/>
              </a:solidFill>
              <a:effectLst/>
              <a:uFillTx/>
              <a:latin typeface="Arial"/>
            </a:endParaRPr>
          </a:p>
        </p:txBody>
      </p:sp>
      <p:sp>
        <p:nvSpPr>
          <p:cNvPr id="132" name="Text 1"/>
          <p:cNvSpPr/>
          <p:nvPr/>
        </p:nvSpPr>
        <p:spPr>
          <a:xfrm>
            <a:off x="812880" y="112788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pPr>
            <a:r>
              <a:rPr lang="en-US" sz="4000" b="1" u="none" spc="-99" strike="noStrike">
                <a:solidFill>
                  <a:schemeClr val="dk1"/>
                </a:solidFill>
                <a:effectLst/>
                <a:uFillTx/>
                <a:latin typeface="Cambria"/>
              </a:rPr>
              <a:t>The Statistics:</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Shape 2"/>
          <p:cNvSpPr/>
          <p:nvPr/>
        </p:nvSpPr>
        <p:spPr>
          <a:xfrm>
            <a:off x="816120" y="2879640"/>
            <a:ext cx="6978240" cy="2958840"/>
          </a:xfrm>
          <a:prstGeom prst="roundRect">
            <a:avLst>
              <a:gd name="adj" fmla="val 3326"/>
            </a:avLst>
          </a:prstGeom>
          <a:noFill/>
          <a:ln w="12700">
            <a:solidFill>
              <a:srgbClr val="D5E7D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4" name="Text 3"/>
          <p:cNvSpPr/>
          <p:nvPr/>
        </p:nvSpPr>
        <p:spPr>
          <a:xfrm>
            <a:off x="8321400" y="3273480"/>
            <a:ext cx="3374640" cy="360360"/>
          </a:xfrm>
          <a:prstGeom prst="rect">
            <a:avLst/>
          </a:prstGeom>
          <a:noFill/>
          <a:ln w="0">
            <a:noFill/>
          </a:ln>
        </p:spPr>
        <p:style>
          <a:lnRef idx="0"/>
          <a:fillRef idx="0"/>
          <a:effectRef idx="0"/>
          <a:fontRef idx="minor"/>
        </p:style>
        <p:txBody>
          <a:bodyPr lIns="0" tIns="0" rIns="0" bIns="0" anchor="t">
            <a:noAutofit/>
          </a:bodyPr>
          <a:p>
            <a:pPr defTabSz="914400">
              <a:lnSpc>
                <a:spcPts val="2639"/>
              </a:lnSpc>
              <a:tabLst>
                <a:tab pos="0" algn="l"/>
              </a:tabLst>
            </a:pPr>
            <a:r>
              <a:rPr lang="en-US" sz="2800" b="1" u="none" strike="noStrike">
                <a:solidFill>
                  <a:schemeClr val="accent6">
                    <a:lumMod val="25000"/>
                  </a:schemeClr>
                </a:solidFill>
                <a:effectLst/>
                <a:uFillTx/>
                <a:latin typeface="Cambria"/>
                <a:ea typeface="Instrument Sans"/>
              </a:rPr>
              <a:t>Government-backed statistics</a:t>
            </a:r>
            <a:endParaRPr lang="en-US" sz="2800" b="0" u="none" strike="noStrike">
              <a:solidFill>
                <a:srgbClr val="000000"/>
              </a:solidFill>
              <a:effectLst/>
              <a:uFillTx/>
              <a:latin typeface="Arial"/>
            </a:endParaRPr>
          </a:p>
        </p:txBody>
      </p:sp>
      <p:sp>
        <p:nvSpPr>
          <p:cNvPr id="135" name="Text 4"/>
          <p:cNvSpPr/>
          <p:nvPr/>
        </p:nvSpPr>
        <p:spPr>
          <a:xfrm>
            <a:off x="8321400" y="4008960"/>
            <a:ext cx="3374640" cy="1162800"/>
          </a:xfrm>
          <a:prstGeom prst="rect">
            <a:avLst/>
          </a:prstGeom>
          <a:noFill/>
          <a:ln w="0">
            <a:noFill/>
          </a:ln>
        </p:spPr>
        <p:style>
          <a:lnRef idx="0"/>
          <a:fillRef idx="0"/>
          <a:effectRef idx="0"/>
          <a:fontRef idx="minor"/>
        </p:style>
        <p:txBody>
          <a:bodyPr lIns="0" tIns="0" rIns="0" bIns="0" anchor="t">
            <a:normAutofit/>
          </a:bodyPr>
          <a:p>
            <a:pPr defTabSz="914400">
              <a:lnSpc>
                <a:spcPct val="100000"/>
              </a:lnSpc>
            </a:pPr>
            <a:r>
              <a:rPr lang="en-MY" sz="2000" b="0" u="none" strike="noStrike">
                <a:solidFill>
                  <a:schemeClr val="accent6">
                    <a:lumMod val="10000"/>
                  </a:schemeClr>
                </a:solidFill>
                <a:effectLst/>
                <a:uFillTx/>
                <a:latin typeface="Cambria"/>
              </a:rPr>
              <a:t>The best and worst jobs, from a perspective of how future-proof a given job is.</a:t>
            </a:r>
            <a:endParaRPr lang="en-US" sz="2000" b="0" u="none" strike="noStrike">
              <a:solidFill>
                <a:srgbClr val="000000"/>
              </a:solidFill>
              <a:effectLst/>
              <a:uFillTx/>
              <a:latin typeface="Arial"/>
            </a:endParaRPr>
          </a:p>
        </p:txBody>
      </p:sp>
      <p:sp>
        <p:nvSpPr>
          <p:cNvPr id="136" name="Text 5"/>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pPr>
            <a:r>
              <a:rPr lang="en-US" sz="1200" b="0" u="none" strike="noStrike">
                <a:solidFill>
                  <a:srgbClr val="547451"/>
                </a:solidFill>
                <a:effectLst/>
                <a:uFillTx/>
                <a:latin typeface="Instrument Sans"/>
                <a:ea typeface="Instrument Sans"/>
              </a:rPr>
              <a:t>Jobbery · Statistics</a:t>
            </a:r>
            <a:endParaRPr lang="en-US" sz="1200" b="0" u="none" strike="noStrike">
              <a:solidFill>
                <a:srgbClr val="000000"/>
              </a:solidFill>
              <a:effectLst/>
              <a:uFillTx/>
              <a:latin typeface="Arial"/>
            </a:endParaRPr>
          </a:p>
        </p:txBody>
      </p:sp>
      <p:pic>
        <p:nvPicPr>
          <p:cNvPr id="137" name="Picture 5"/>
          <p:cNvPicPr/>
          <p:nvPr/>
        </p:nvPicPr>
        <p:blipFill>
          <a:blip r:embed="rId1"/>
          <a:stretch/>
        </p:blipFill>
        <p:spPr>
          <a:xfrm>
            <a:off x="1032480" y="2660040"/>
            <a:ext cx="7160400" cy="3158640"/>
          </a:xfrm>
          <a:prstGeom prst="rect">
            <a:avLst/>
          </a:prstGeom>
          <a:noFill/>
          <a:ln w="0">
            <a:noFill/>
          </a:ln>
        </p:spPr>
      </p:pic>
      <p:pic>
        <p:nvPicPr>
          <p:cNvPr id="138" name="Advisor mascot" descr="Jobbery cockatiel mascot"/>
          <p:cNvPicPr/>
          <p:nvPr/>
        </p:nvPicPr>
        <p:blipFill>
          <a:blip r:embed="rId2"/>
          <a:stretch/>
        </p:blipFill>
        <p:spPr>
          <a:xfrm>
            <a:off x="204120" y="5007960"/>
            <a:ext cx="1226880" cy="1226880"/>
          </a:xfrm>
          <a:prstGeom prst="rect">
            <a:avLst/>
          </a:prstGeom>
          <a:noFill/>
          <a:ln w="0">
            <a:noFill/>
          </a:ln>
        </p:spPr>
      </p:pic>
      <p:sp>
        <p:nvSpPr>
          <p:cNvPr id="139" name="TextBox 3"/>
          <p:cNvSpPr/>
          <p:nvPr/>
        </p:nvSpPr>
        <p:spPr>
          <a:xfrm>
            <a:off x="775440" y="752400"/>
            <a:ext cx="6097320" cy="296280"/>
          </a:xfrm>
          <a:prstGeom prst="rect">
            <a:avLst/>
          </a:prstGeom>
          <a:noFill/>
          <a:ln w="0">
            <a:noFill/>
          </a:ln>
        </p:spPr>
        <p:style>
          <a:lnRef idx="0"/>
          <a:fillRef idx="0"/>
          <a:effectRef idx="0"/>
          <a:fontRef idx="minor"/>
        </p:style>
        <p:txBody>
          <a:bodyPr lIns="90000" tIns="45000" rIns="90000" bIns="45000" anchor="t">
            <a:spAutoFit/>
          </a:bodyPr>
          <a:p>
            <a:pPr defTabSz="914400">
              <a:lnSpc>
                <a:spcPts val="1681"/>
              </a:lnSpc>
              <a:tabLst>
                <a:tab pos="0" algn="l"/>
              </a:tabLst>
            </a:pPr>
            <a:r>
              <a:rPr lang="en-US" sz="1400" b="1" u="none" spc="150" strike="noStrike">
                <a:solidFill>
                  <a:schemeClr val="accent4">
                    <a:lumMod val="50000"/>
                  </a:schemeClr>
                </a:solidFill>
                <a:effectLst/>
                <a:uFillTx/>
                <a:latin typeface="Cambria"/>
              </a:rPr>
              <a:t>TRACKING THE INEVITABLE AI-CATALYSED CHANGE</a:t>
            </a:r>
            <a:endParaRPr lang="en-US" sz="1400" b="0" u="none" strike="noStrike">
              <a:solidFill>
                <a:srgbClr val="000000"/>
              </a:solidFill>
              <a:effectLst/>
              <a:uFillTx/>
              <a:latin typeface="Arial"/>
            </a:endParaRPr>
          </a:p>
        </p:txBody>
      </p:sp>
      <p:sp>
        <p:nvSpPr>
          <p:cNvPr id="140" name="Text 1"/>
          <p:cNvSpPr/>
          <p:nvPr/>
        </p:nvSpPr>
        <p:spPr>
          <a:xfrm>
            <a:off x="812880" y="173232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tabLst>
                <a:tab pos="0" algn="l"/>
              </a:tabLst>
            </a:pPr>
            <a:r>
              <a:rPr lang="en-US" sz="3600" b="1" u="none" spc="-99" strike="noStrike">
                <a:solidFill>
                  <a:srgbClr val="203B2B"/>
                </a:solidFill>
                <a:effectLst/>
                <a:uFillTx/>
                <a:latin typeface="Cambria"/>
                <a:ea typeface="Instrument Sans"/>
              </a:rPr>
              <a:t>See with Certainty How the Job Landscape is Changing </a:t>
            </a:r>
            <a:endParaRPr lang="en-US" sz="3600" b="0" u="none" strike="noStrike">
              <a:solidFill>
                <a:srgbClr val="000000"/>
              </a:solidFill>
              <a:effectLst/>
              <a:uFillTx/>
              <a:latin typeface="Arial"/>
            </a:endParaRPr>
          </a:p>
        </p:txBody>
      </p:sp>
      <p:sp>
        <p:nvSpPr>
          <p:cNvPr id="141" name="Text 1"/>
          <p:cNvSpPr/>
          <p:nvPr/>
        </p:nvSpPr>
        <p:spPr>
          <a:xfrm>
            <a:off x="812880" y="112788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pPr>
            <a:r>
              <a:rPr lang="en-US" sz="4000" b="1" u="none" spc="-99" strike="noStrike">
                <a:solidFill>
                  <a:schemeClr val="dk1"/>
                </a:solidFill>
                <a:effectLst/>
                <a:uFillTx/>
                <a:latin typeface="Cambria"/>
              </a:rPr>
              <a:t>The Statistics:</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Shape 2"/>
          <p:cNvSpPr/>
          <p:nvPr/>
        </p:nvSpPr>
        <p:spPr>
          <a:xfrm>
            <a:off x="816120" y="2879640"/>
            <a:ext cx="6978240" cy="2958840"/>
          </a:xfrm>
          <a:prstGeom prst="roundRect">
            <a:avLst>
              <a:gd name="adj" fmla="val 3326"/>
            </a:avLst>
          </a:prstGeom>
          <a:noFill/>
          <a:ln w="12700">
            <a:solidFill>
              <a:srgbClr val="D5E7D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3" name="Text 3"/>
          <p:cNvSpPr/>
          <p:nvPr/>
        </p:nvSpPr>
        <p:spPr>
          <a:xfrm>
            <a:off x="8214120" y="3248640"/>
            <a:ext cx="3374640" cy="360360"/>
          </a:xfrm>
          <a:prstGeom prst="rect">
            <a:avLst/>
          </a:prstGeom>
          <a:noFill/>
          <a:ln w="0">
            <a:noFill/>
          </a:ln>
        </p:spPr>
        <p:style>
          <a:lnRef idx="0"/>
          <a:fillRef idx="0"/>
          <a:effectRef idx="0"/>
          <a:fontRef idx="minor"/>
        </p:style>
        <p:txBody>
          <a:bodyPr lIns="0" tIns="0" rIns="0" bIns="0" anchor="t">
            <a:noAutofit/>
          </a:bodyPr>
          <a:p>
            <a:pPr defTabSz="914400">
              <a:lnSpc>
                <a:spcPts val="2639"/>
              </a:lnSpc>
              <a:tabLst>
                <a:tab pos="0" algn="l"/>
              </a:tabLst>
            </a:pPr>
            <a:r>
              <a:rPr lang="en-US" sz="2800" b="1" u="none" strike="noStrike">
                <a:solidFill>
                  <a:schemeClr val="accent6">
                    <a:lumMod val="25000"/>
                  </a:schemeClr>
                </a:solidFill>
                <a:effectLst/>
                <a:uFillTx/>
                <a:latin typeface="Cambria"/>
                <a:ea typeface="Instrument Sans"/>
              </a:rPr>
              <a:t>Government-backed statistics</a:t>
            </a:r>
            <a:endParaRPr lang="en-US" sz="2800" b="0" u="none" strike="noStrike">
              <a:solidFill>
                <a:srgbClr val="000000"/>
              </a:solidFill>
              <a:effectLst/>
              <a:uFillTx/>
              <a:latin typeface="Arial"/>
            </a:endParaRPr>
          </a:p>
        </p:txBody>
      </p:sp>
      <p:sp>
        <p:nvSpPr>
          <p:cNvPr id="144" name="Text 4"/>
          <p:cNvSpPr/>
          <p:nvPr/>
        </p:nvSpPr>
        <p:spPr>
          <a:xfrm>
            <a:off x="8214120" y="3992040"/>
            <a:ext cx="3593160" cy="14958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MY" sz="2000" b="0" u="none" strike="noStrike">
                <a:solidFill>
                  <a:schemeClr val="accent6">
                    <a:lumMod val="10000"/>
                  </a:schemeClr>
                </a:solidFill>
                <a:effectLst/>
                <a:uFillTx/>
                <a:latin typeface="Cambria"/>
              </a:rPr>
              <a:t>A list of a skills that are worth learning, as well as the SDGs they are related to. </a:t>
            </a:r>
            <a:endParaRPr lang="en-US" sz="2000" b="0" u="none" strike="noStrike">
              <a:solidFill>
                <a:srgbClr val="000000"/>
              </a:solidFill>
              <a:effectLst/>
              <a:uFillTx/>
              <a:latin typeface="Arial"/>
            </a:endParaRPr>
          </a:p>
          <a:p>
            <a:pPr defTabSz="914400">
              <a:lnSpc>
                <a:spcPct val="100000"/>
              </a:lnSpc>
            </a:pPr>
            <a:r>
              <a:rPr lang="en-MY" sz="2000" b="0" u="none" strike="noStrike">
                <a:solidFill>
                  <a:schemeClr val="accent6">
                    <a:lumMod val="10000"/>
                  </a:schemeClr>
                </a:solidFill>
                <a:effectLst/>
                <a:uFillTx/>
                <a:latin typeface="Cambria"/>
              </a:rPr>
              <a:t>The skills most likely to be taken over by AI are also stated with their expected “deadlines”.</a:t>
            </a:r>
            <a:endParaRPr lang="en-US" sz="2000" b="0" u="none" strike="noStrike">
              <a:solidFill>
                <a:srgbClr val="000000"/>
              </a:solidFill>
              <a:effectLst/>
              <a:uFillTx/>
              <a:latin typeface="Arial"/>
            </a:endParaRPr>
          </a:p>
        </p:txBody>
      </p:sp>
      <p:sp>
        <p:nvSpPr>
          <p:cNvPr id="145" name="Text 5"/>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47451"/>
                </a:solidFill>
                <a:effectLst/>
                <a:uFillTx/>
                <a:latin typeface="Instrument Sans"/>
                <a:ea typeface="Instrument Sans"/>
              </a:rPr>
              <a:t>Jobbery · Statistics</a:t>
            </a:r>
            <a:endParaRPr lang="en-US" sz="1200" b="0" u="none" strike="noStrike">
              <a:solidFill>
                <a:srgbClr val="000000"/>
              </a:solidFill>
              <a:effectLst/>
              <a:uFillTx/>
              <a:latin typeface="Arial"/>
            </a:endParaRPr>
          </a:p>
        </p:txBody>
      </p:sp>
      <p:pic>
        <p:nvPicPr>
          <p:cNvPr id="146" name="Picture 4"/>
          <p:cNvPicPr/>
          <p:nvPr/>
        </p:nvPicPr>
        <p:blipFill>
          <a:blip r:embed="rId1"/>
          <a:stretch/>
        </p:blipFill>
        <p:spPr>
          <a:xfrm>
            <a:off x="775440" y="3177360"/>
            <a:ext cx="7126560" cy="2153880"/>
          </a:xfrm>
          <a:prstGeom prst="rect">
            <a:avLst/>
          </a:prstGeom>
          <a:noFill/>
          <a:ln w="0">
            <a:noFill/>
          </a:ln>
        </p:spPr>
      </p:pic>
      <p:pic>
        <p:nvPicPr>
          <p:cNvPr id="147" name="Advisor mascot" descr="Jobbery cockatiel mascot"/>
          <p:cNvPicPr/>
          <p:nvPr/>
        </p:nvPicPr>
        <p:blipFill>
          <a:blip r:embed="rId2"/>
          <a:stretch/>
        </p:blipFill>
        <p:spPr>
          <a:xfrm>
            <a:off x="204120" y="5007960"/>
            <a:ext cx="1226880" cy="1226880"/>
          </a:xfrm>
          <a:prstGeom prst="rect">
            <a:avLst/>
          </a:prstGeom>
          <a:noFill/>
          <a:ln w="0">
            <a:noFill/>
          </a:ln>
        </p:spPr>
      </p:pic>
      <p:sp>
        <p:nvSpPr>
          <p:cNvPr id="148" name="TextBox 3"/>
          <p:cNvSpPr/>
          <p:nvPr/>
        </p:nvSpPr>
        <p:spPr>
          <a:xfrm>
            <a:off x="775440" y="752400"/>
            <a:ext cx="6097320" cy="296280"/>
          </a:xfrm>
          <a:prstGeom prst="rect">
            <a:avLst/>
          </a:prstGeom>
          <a:noFill/>
          <a:ln w="0">
            <a:noFill/>
          </a:ln>
        </p:spPr>
        <p:style>
          <a:lnRef idx="0"/>
          <a:fillRef idx="0"/>
          <a:effectRef idx="0"/>
          <a:fontRef idx="minor"/>
        </p:style>
        <p:txBody>
          <a:bodyPr lIns="90000" tIns="45000" rIns="90000" bIns="45000" anchor="t">
            <a:spAutoFit/>
          </a:bodyPr>
          <a:p>
            <a:pPr defTabSz="914400">
              <a:lnSpc>
                <a:spcPts val="1681"/>
              </a:lnSpc>
              <a:tabLst>
                <a:tab pos="0" algn="l"/>
              </a:tabLst>
            </a:pPr>
            <a:r>
              <a:rPr lang="en-US" sz="1400" b="1" u="none" spc="150" strike="noStrike">
                <a:solidFill>
                  <a:schemeClr val="accent4">
                    <a:lumMod val="50000"/>
                  </a:schemeClr>
                </a:solidFill>
                <a:effectLst/>
                <a:uFillTx/>
                <a:latin typeface="Cambria"/>
              </a:rPr>
              <a:t>TRACKING THE INEVITABLE AI-CATALYSED CHANGE</a:t>
            </a:r>
            <a:endParaRPr lang="en-US" sz="1400" b="0" u="none" strike="noStrike">
              <a:solidFill>
                <a:srgbClr val="000000"/>
              </a:solidFill>
              <a:effectLst/>
              <a:uFillTx/>
              <a:latin typeface="Arial"/>
            </a:endParaRPr>
          </a:p>
        </p:txBody>
      </p:sp>
      <p:sp>
        <p:nvSpPr>
          <p:cNvPr id="149" name="Text 1"/>
          <p:cNvSpPr/>
          <p:nvPr/>
        </p:nvSpPr>
        <p:spPr>
          <a:xfrm>
            <a:off x="812880" y="1732320"/>
            <a:ext cx="10883160" cy="528120"/>
          </a:xfrm>
          <a:prstGeom prst="rect">
            <a:avLst/>
          </a:prstGeom>
          <a:noFill/>
          <a:ln w="0">
            <a:noFill/>
          </a:ln>
        </p:spPr>
        <p:style>
          <a:lnRef idx="0"/>
          <a:fillRef idx="0"/>
          <a:effectRef idx="0"/>
          <a:fontRef idx="minor"/>
        </p:style>
        <p:txBody>
          <a:bodyPr lIns="0" tIns="0" rIns="0" bIns="0" anchor="t">
            <a:noAutofit/>
          </a:bodyPr>
          <a:p>
            <a:pPr defTabSz="914400">
              <a:lnSpc>
                <a:spcPts val="3960"/>
              </a:lnSpc>
              <a:tabLst>
                <a:tab pos="0" algn="l"/>
              </a:tabLst>
            </a:pPr>
            <a:r>
              <a:rPr lang="en-US" sz="4000" b="1" u="none" spc="-99" strike="noStrike">
                <a:solidFill>
                  <a:srgbClr val="203B2B"/>
                </a:solidFill>
                <a:effectLst/>
                <a:uFillTx/>
                <a:latin typeface="Cambria"/>
                <a:ea typeface="Instrument Sans"/>
              </a:rPr>
              <a:t>See with Certainty How the Job Landscape is Changing </a:t>
            </a:r>
            <a:endParaRPr lang="en-US" sz="4000" b="0" u="none" strike="noStrike">
              <a:solidFill>
                <a:srgbClr val="000000"/>
              </a:solidFill>
              <a:effectLst/>
              <a:uFillTx/>
              <a:latin typeface="Arial"/>
            </a:endParaRPr>
          </a:p>
        </p:txBody>
      </p:sp>
      <p:sp>
        <p:nvSpPr>
          <p:cNvPr id="150" name="Text 1"/>
          <p:cNvSpPr/>
          <p:nvPr/>
        </p:nvSpPr>
        <p:spPr>
          <a:xfrm>
            <a:off x="812880" y="112788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pPr>
            <a:r>
              <a:rPr lang="en-US" sz="4000" b="1" u="none" spc="-99" strike="noStrike">
                <a:solidFill>
                  <a:schemeClr val="dk1"/>
                </a:solidFill>
                <a:effectLst/>
                <a:uFillTx/>
                <a:latin typeface="Cambria"/>
              </a:rPr>
              <a:t>The Statistics:</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Shape 2"/>
          <p:cNvSpPr/>
          <p:nvPr/>
        </p:nvSpPr>
        <p:spPr>
          <a:xfrm>
            <a:off x="816120" y="2879640"/>
            <a:ext cx="6978240" cy="2958840"/>
          </a:xfrm>
          <a:prstGeom prst="roundRect">
            <a:avLst>
              <a:gd name="adj" fmla="val 3326"/>
            </a:avLst>
          </a:prstGeom>
          <a:noFill/>
          <a:ln w="12700">
            <a:solidFill>
              <a:srgbClr val="D5E7D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2" name="Text 5"/>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47451"/>
                </a:solidFill>
                <a:effectLst/>
                <a:uFillTx/>
                <a:latin typeface="Instrument Sans"/>
                <a:ea typeface="Instrument Sans"/>
              </a:rPr>
              <a:t>Jobbery · Courses</a:t>
            </a:r>
            <a:endParaRPr lang="en-US" sz="1200" b="0" u="none" strike="noStrike">
              <a:solidFill>
                <a:srgbClr val="000000"/>
              </a:solidFill>
              <a:effectLst/>
              <a:uFillTx/>
              <a:latin typeface="Arial"/>
            </a:endParaRPr>
          </a:p>
        </p:txBody>
      </p:sp>
      <p:sp>
        <p:nvSpPr>
          <p:cNvPr id="153" name="Text 0"/>
          <p:cNvSpPr/>
          <p:nvPr/>
        </p:nvSpPr>
        <p:spPr>
          <a:xfrm>
            <a:off x="812880" y="80316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pc="150" strike="noStrike">
                <a:solidFill>
                  <a:schemeClr val="accent4">
                    <a:lumMod val="50000"/>
                  </a:schemeClr>
                </a:solidFill>
                <a:effectLst/>
                <a:uFillTx/>
                <a:latin typeface="Cambria"/>
              </a:rPr>
              <a:t>AI-SKILL LEARNING COURSES</a:t>
            </a:r>
            <a:endParaRPr lang="en-US" sz="1400" b="0" u="none" strike="noStrike">
              <a:solidFill>
                <a:srgbClr val="000000"/>
              </a:solidFill>
              <a:effectLst/>
              <a:uFillTx/>
              <a:latin typeface="Arial"/>
            </a:endParaRPr>
          </a:p>
        </p:txBody>
      </p:sp>
      <p:sp>
        <p:nvSpPr>
          <p:cNvPr id="154" name="Text 1"/>
          <p:cNvSpPr/>
          <p:nvPr/>
        </p:nvSpPr>
        <p:spPr>
          <a:xfrm>
            <a:off x="812880" y="110844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pPr>
            <a:r>
              <a:rPr lang="en-US" sz="4000" b="1" u="none" spc="-99" strike="noStrike">
                <a:solidFill>
                  <a:schemeClr val="dk1"/>
                </a:solidFill>
                <a:effectLst/>
                <a:uFillTx/>
                <a:latin typeface="Cambria"/>
              </a:rPr>
              <a:t>Courses:</a:t>
            </a:r>
            <a:endParaRPr lang="en-US" sz="4000" b="0" u="none" strike="noStrike">
              <a:solidFill>
                <a:srgbClr val="000000"/>
              </a:solidFill>
              <a:effectLst/>
              <a:uFillTx/>
              <a:latin typeface="Arial"/>
            </a:endParaRPr>
          </a:p>
        </p:txBody>
      </p:sp>
      <p:sp>
        <p:nvSpPr>
          <p:cNvPr id="155" name="Text 1"/>
          <p:cNvSpPr/>
          <p:nvPr/>
        </p:nvSpPr>
        <p:spPr>
          <a:xfrm>
            <a:off x="812880" y="173232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tabLst>
                <a:tab pos="0" algn="l"/>
              </a:tabLst>
            </a:pPr>
            <a:r>
              <a:rPr lang="en-US" sz="4000" b="1" u="none" strike="noStrike">
                <a:solidFill>
                  <a:srgbClr val="203B2B"/>
                </a:solidFill>
                <a:effectLst/>
                <a:uFillTx/>
                <a:latin typeface="Cambria"/>
                <a:ea typeface="Instrument Sans"/>
              </a:rPr>
              <a:t>Hand-Picked, Trusted Providers</a:t>
            </a:r>
            <a:endParaRPr lang="en-US" sz="4000" b="0" u="none" strike="noStrike">
              <a:solidFill>
                <a:srgbClr val="000000"/>
              </a:solidFill>
              <a:effectLst/>
              <a:uFillTx/>
              <a:latin typeface="Arial"/>
            </a:endParaRPr>
          </a:p>
        </p:txBody>
      </p:sp>
      <p:pic>
        <p:nvPicPr>
          <p:cNvPr id="156" name="Advisor mascot" descr="Jobbery cockatiel mascot"/>
          <p:cNvPicPr/>
          <p:nvPr/>
        </p:nvPicPr>
        <p:blipFill>
          <a:blip r:embed="rId1"/>
          <a:stretch/>
        </p:blipFill>
        <p:spPr>
          <a:xfrm>
            <a:off x="8408160" y="1132560"/>
            <a:ext cx="1226880" cy="1199160"/>
          </a:xfrm>
          <a:prstGeom prst="rect">
            <a:avLst/>
          </a:prstGeom>
          <a:noFill/>
          <a:ln w="0">
            <a:noFill/>
          </a:ln>
        </p:spPr>
      </p:pic>
      <p:sp>
        <p:nvSpPr>
          <p:cNvPr id="157" name="TextBox 3"/>
          <p:cNvSpPr/>
          <p:nvPr/>
        </p:nvSpPr>
        <p:spPr>
          <a:xfrm>
            <a:off x="8224200" y="3766320"/>
            <a:ext cx="3836880" cy="10152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MY" sz="2000" b="0" u="none" strike="noStrike">
                <a:solidFill>
                  <a:schemeClr val="dk1"/>
                </a:solidFill>
                <a:effectLst/>
                <a:uFillTx/>
                <a:latin typeface="Cambria"/>
              </a:rPr>
              <a:t>94 free and low-cost courses from trusted providers, plus Malaysian learning programmes.</a:t>
            </a:r>
            <a:endParaRPr lang="en-US" sz="2000" b="0" u="none" strike="noStrike">
              <a:solidFill>
                <a:srgbClr val="000000"/>
              </a:solidFill>
              <a:effectLst/>
              <a:uFillTx/>
              <a:latin typeface="Arial"/>
            </a:endParaRPr>
          </a:p>
        </p:txBody>
      </p:sp>
      <p:pic>
        <p:nvPicPr>
          <p:cNvPr id="158" name="Picture 7"/>
          <p:cNvPicPr/>
          <p:nvPr/>
        </p:nvPicPr>
        <p:blipFill>
          <a:blip r:embed="rId2"/>
          <a:stretch/>
        </p:blipFill>
        <p:spPr>
          <a:xfrm>
            <a:off x="812880" y="2332080"/>
            <a:ext cx="1915560" cy="3652920"/>
          </a:xfrm>
          <a:prstGeom prst="rect">
            <a:avLst/>
          </a:prstGeom>
          <a:noFill/>
          <a:ln w="0">
            <a:noFill/>
          </a:ln>
        </p:spPr>
      </p:pic>
      <p:pic>
        <p:nvPicPr>
          <p:cNvPr id="159" name="Picture 10"/>
          <p:cNvPicPr/>
          <p:nvPr/>
        </p:nvPicPr>
        <p:blipFill>
          <a:blip r:embed="rId3"/>
          <a:stretch/>
        </p:blipFill>
        <p:spPr>
          <a:xfrm>
            <a:off x="2928600" y="2332080"/>
            <a:ext cx="4691160" cy="3652920"/>
          </a:xfrm>
          <a:prstGeom prst="rect">
            <a:avLst/>
          </a:prstGeom>
          <a:noFill/>
          <a:ln w="0">
            <a:noFill/>
          </a:ln>
        </p:spPr>
      </p:pic>
      <p:sp>
        <p:nvSpPr>
          <p:cNvPr id="160" name="Text 3"/>
          <p:cNvSpPr/>
          <p:nvPr/>
        </p:nvSpPr>
        <p:spPr>
          <a:xfrm>
            <a:off x="8214120" y="3248640"/>
            <a:ext cx="3374640" cy="360360"/>
          </a:xfrm>
          <a:prstGeom prst="rect">
            <a:avLst/>
          </a:prstGeom>
          <a:noFill/>
          <a:ln w="0">
            <a:noFill/>
          </a:ln>
        </p:spPr>
        <p:style>
          <a:lnRef idx="0"/>
          <a:fillRef idx="0"/>
          <a:effectRef idx="0"/>
          <a:fontRef idx="minor"/>
        </p:style>
        <p:txBody>
          <a:bodyPr lIns="0" tIns="0" rIns="0" bIns="0" anchor="t">
            <a:normAutofit fontScale="92500" lnSpcReduction="9999"/>
          </a:bodyPr>
          <a:p>
            <a:endParaRPr lang="en-US" sz="2800" b="0" u="none" strike="noStrike">
              <a:solidFill>
                <a:schemeClr val="accent6">
                  <a:lumMod val="25000"/>
                </a:schemeClr>
              </a:solidFill>
              <a:effectLst/>
              <a:uFillTx/>
              <a:latin typeface="Cambria"/>
            </a:endParaRPr>
          </a:p>
        </p:txBody>
      </p:sp>
      <p:sp>
        <p:nvSpPr>
          <p:cNvPr id="161" name="Text 3"/>
          <p:cNvSpPr/>
          <p:nvPr/>
        </p:nvSpPr>
        <p:spPr>
          <a:xfrm>
            <a:off x="8321400" y="3091680"/>
            <a:ext cx="3556080" cy="360360"/>
          </a:xfrm>
          <a:prstGeom prst="rect">
            <a:avLst/>
          </a:prstGeom>
          <a:noFill/>
          <a:ln w="0">
            <a:noFill/>
          </a:ln>
        </p:spPr>
        <p:style>
          <a:lnRef idx="0"/>
          <a:fillRef idx="0"/>
          <a:effectRef idx="0"/>
          <a:fontRef idx="minor"/>
        </p:style>
        <p:txBody>
          <a:bodyPr lIns="0" tIns="0" rIns="0" bIns="0" anchor="t">
            <a:noAutofit/>
          </a:bodyPr>
          <a:p>
            <a:pPr defTabSz="914400">
              <a:lnSpc>
                <a:spcPts val="2639"/>
              </a:lnSpc>
              <a:tabLst>
                <a:tab pos="0" algn="l"/>
              </a:tabLst>
            </a:pPr>
            <a:r>
              <a:rPr lang="en-US" sz="2800" b="1" u="none" strike="noStrike">
                <a:solidFill>
                  <a:schemeClr val="accent6">
                    <a:lumMod val="25000"/>
                  </a:schemeClr>
                </a:solidFill>
                <a:effectLst/>
                <a:uFillTx/>
                <a:latin typeface="Cambria"/>
                <a:ea typeface="Instrument Sans"/>
              </a:rPr>
              <a:t>Embark on a journey of learning</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Image 0" descr="The AI outlook card: slow AI progress 45%, medium 50%, fast 5%, updated with the Apr to Jun 2026 numbers, with a Think we’re wrong prompt below"/>
          <p:cNvSpPr/>
          <p:nvPr/>
        </p:nvSpPr>
        <p:spPr>
          <a:xfrm>
            <a:off x="819000" y="2006640"/>
            <a:ext cx="6972120" cy="3828600"/>
          </a:xfrm>
          <a:prstGeom prst="roundRect">
            <a:avLst>
              <a:gd name="adj" fmla="val 2488"/>
            </a:avLst>
          </a:prstGeom>
          <a:blipFill rotWithShape="0">
            <a:blip r:embed="rId1"/>
            <a:srcRect/>
            <a:stretch/>
          </a:blipFill>
          <a:ln w="12700">
            <a:solidFill>
              <a:srgbClr val="203B2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3" name="Text 1"/>
          <p:cNvSpPr/>
          <p:nvPr/>
        </p:nvSpPr>
        <p:spPr>
          <a:xfrm>
            <a:off x="812880" y="112788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pPr>
            <a:r>
              <a:rPr lang="en-US" sz="4000" b="1" u="none" spc="-99" strike="noStrike">
                <a:solidFill>
                  <a:schemeClr val="accent6">
                    <a:lumMod val="75000"/>
                  </a:schemeClr>
                </a:solidFill>
                <a:effectLst/>
                <a:uFillTx/>
                <a:latin typeface="Cambria"/>
              </a:rPr>
              <a:t>Predicting the Future Livelihoods of Millions</a:t>
            </a:r>
            <a:endParaRPr lang="en-US" sz="4000" b="0" u="none" strike="noStrike">
              <a:solidFill>
                <a:srgbClr val="FFFFFF"/>
              </a:solidFill>
              <a:effectLst/>
              <a:uFillTx/>
              <a:latin typeface="Arial"/>
            </a:endParaRPr>
          </a:p>
        </p:txBody>
      </p:sp>
      <p:sp>
        <p:nvSpPr>
          <p:cNvPr id="164"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pc="150" strike="noStrike">
                <a:solidFill>
                  <a:schemeClr val="accent6">
                    <a:lumMod val="90000"/>
                  </a:schemeClr>
                </a:solidFill>
                <a:effectLst/>
                <a:uFillTx/>
                <a:latin typeface="Cambria"/>
              </a:rPr>
              <a:t>AI-SKILL FORECASTING PAGE</a:t>
            </a:r>
            <a:endParaRPr lang="en-US" sz="1400" b="0" u="none" strike="noStrike">
              <a:solidFill>
                <a:srgbClr val="FFFFFF"/>
              </a:solidFill>
              <a:effectLst/>
              <a:uFillTx/>
              <a:latin typeface="Arial"/>
            </a:endParaRPr>
          </a:p>
        </p:txBody>
      </p:sp>
      <p:sp>
        <p:nvSpPr>
          <p:cNvPr id="165" name="Text 3"/>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9BCB95"/>
                </a:solidFill>
                <a:effectLst/>
                <a:uFillTx/>
                <a:latin typeface="Instrument Sans"/>
                <a:ea typeface="Instrument Sans"/>
              </a:rPr>
              <a:t>Jobbery · Forecast</a:t>
            </a:r>
            <a:endParaRPr lang="en-US" sz="1200" b="0" u="none" strike="noStrike">
              <a:solidFill>
                <a:srgbClr val="FFFFFF"/>
              </a:solidFill>
              <a:effectLst/>
              <a:uFillTx/>
              <a:latin typeface="Arial"/>
            </a:endParaRPr>
          </a:p>
        </p:txBody>
      </p:sp>
      <p:sp>
        <p:nvSpPr>
          <p:cNvPr id="166" name="Text 3"/>
          <p:cNvSpPr/>
          <p:nvPr/>
        </p:nvSpPr>
        <p:spPr>
          <a:xfrm>
            <a:off x="8102520" y="3108600"/>
            <a:ext cx="3374640" cy="695520"/>
          </a:xfrm>
          <a:prstGeom prst="rect">
            <a:avLst/>
          </a:prstGeom>
          <a:noFill/>
          <a:ln w="0">
            <a:noFill/>
          </a:ln>
        </p:spPr>
        <p:style>
          <a:lnRef idx="0"/>
          <a:fillRef idx="0"/>
          <a:effectRef idx="0"/>
          <a:fontRef idx="minor"/>
        </p:style>
        <p:txBody>
          <a:bodyPr lIns="0" tIns="0" rIns="0" bIns="0" anchor="t">
            <a:normAutofit/>
          </a:bodyPr>
          <a:p>
            <a:pPr defTabSz="914400">
              <a:lnSpc>
                <a:spcPts val="2639"/>
              </a:lnSpc>
              <a:tabLst>
                <a:tab pos="0" algn="l"/>
              </a:tabLst>
            </a:pPr>
            <a:r>
              <a:rPr lang="en-US" sz="2800" b="1" u="none" strike="noStrike">
                <a:solidFill>
                  <a:schemeClr val="lt1"/>
                </a:solidFill>
                <a:effectLst/>
                <a:uFillTx/>
                <a:latin typeface="Cambria"/>
                <a:ea typeface="Instrument Sans"/>
              </a:rPr>
              <a:t>The three futures, with odds</a:t>
            </a:r>
            <a:endParaRPr lang="en-US" sz="2800" b="0" u="none" strike="noStrike">
              <a:solidFill>
                <a:srgbClr val="FFFFFF"/>
              </a:solidFill>
              <a:effectLst/>
              <a:uFillTx/>
              <a:latin typeface="Arial"/>
            </a:endParaRPr>
          </a:p>
        </p:txBody>
      </p:sp>
      <p:sp>
        <p:nvSpPr>
          <p:cNvPr id="167" name="Text 4"/>
          <p:cNvSpPr/>
          <p:nvPr/>
        </p:nvSpPr>
        <p:spPr>
          <a:xfrm>
            <a:off x="8102520" y="3880440"/>
            <a:ext cx="3692880" cy="115668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2000" b="0" u="none" strike="noStrike">
                <a:solidFill>
                  <a:schemeClr val="accent6"/>
                </a:solidFill>
                <a:effectLst/>
                <a:uFillTx/>
                <a:latin typeface="Cambria"/>
                <a:ea typeface="Instrument Sans"/>
              </a:rPr>
              <a:t>Slow, medium, and fast AI progress. Votes of the forecasters create estimates, not certainties.</a:t>
            </a:r>
            <a:endParaRPr lang="en-US" sz="2000" b="0" u="none" strike="noStrike">
              <a:solidFill>
                <a:srgbClr val="FFFFFF"/>
              </a:solidFill>
              <a:effectLst/>
              <a:uFillTx/>
              <a:latin typeface="Arial"/>
            </a:endParaRPr>
          </a:p>
        </p:txBody>
      </p:sp>
      <p:pic>
        <p:nvPicPr>
          <p:cNvPr id="168" name="Worker mascot" descr="Jobbery cockatiel mascot"/>
          <p:cNvPicPr/>
          <p:nvPr/>
        </p:nvPicPr>
        <p:blipFill>
          <a:blip r:embed="rId2"/>
          <a:stretch/>
        </p:blipFill>
        <p:spPr>
          <a:xfrm>
            <a:off x="7126200" y="5081400"/>
            <a:ext cx="1156680" cy="11566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Image 0" descr="The Forecast page: three steps to forecast (choose a question, back your prediction, see the result) and a points panel reading 1000 points, vote counts 1.0×"/>
          <p:cNvSpPr/>
          <p:nvPr/>
        </p:nvSpPr>
        <p:spPr>
          <a:xfrm>
            <a:off x="819000" y="2882880"/>
            <a:ext cx="6972120" cy="2952360"/>
          </a:xfrm>
          <a:prstGeom prst="roundRect">
            <a:avLst>
              <a:gd name="adj" fmla="val 3226"/>
            </a:avLst>
          </a:prstGeom>
          <a:blipFill rotWithShape="0">
            <a:blip r:embed="rId1"/>
            <a:srcRect/>
            <a:stretch/>
          </a:blipFill>
          <a:ln w="12700">
            <a:solidFill>
              <a:srgbClr val="CBE4C6">
                <a:lumMod val="2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0" name="Shape 2"/>
          <p:cNvSpPr/>
          <p:nvPr/>
        </p:nvSpPr>
        <p:spPr>
          <a:xfrm>
            <a:off x="816120" y="2879640"/>
            <a:ext cx="6978240" cy="2958840"/>
          </a:xfrm>
          <a:prstGeom prst="roundRect">
            <a:avLst>
              <a:gd name="adj" fmla="val 3326"/>
            </a:avLst>
          </a:prstGeom>
          <a:noFill/>
          <a:ln w="12700">
            <a:solidFill>
              <a:srgbClr val="D5E7D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1" name="Text 3"/>
          <p:cNvSpPr/>
          <p:nvPr/>
        </p:nvSpPr>
        <p:spPr>
          <a:xfrm>
            <a:off x="8102520" y="3571920"/>
            <a:ext cx="3374640" cy="360360"/>
          </a:xfrm>
          <a:prstGeom prst="rect">
            <a:avLst/>
          </a:prstGeom>
          <a:noFill/>
          <a:ln w="0">
            <a:noFill/>
          </a:ln>
        </p:spPr>
        <p:style>
          <a:lnRef idx="0"/>
          <a:fillRef idx="0"/>
          <a:effectRef idx="0"/>
          <a:fontRef idx="minor"/>
        </p:style>
        <p:txBody>
          <a:bodyPr lIns="0" tIns="0" rIns="0" bIns="0" anchor="t">
            <a:normAutofit/>
          </a:bodyPr>
          <a:p>
            <a:pPr defTabSz="914400">
              <a:lnSpc>
                <a:spcPts val="2639"/>
              </a:lnSpc>
              <a:tabLst>
                <a:tab pos="0" algn="l"/>
              </a:tabLst>
            </a:pPr>
            <a:r>
              <a:rPr lang="en-US" sz="2800" b="1" u="none" strike="noStrike">
                <a:solidFill>
                  <a:schemeClr val="accent6">
                    <a:lumMod val="25000"/>
                  </a:schemeClr>
                </a:solidFill>
                <a:effectLst/>
                <a:uFillTx/>
                <a:latin typeface="Cambria"/>
                <a:ea typeface="Instrument Sans"/>
              </a:rPr>
              <a:t>Three steps</a:t>
            </a:r>
            <a:endParaRPr lang="en-US" sz="2800" b="0" u="none" strike="noStrike">
              <a:solidFill>
                <a:srgbClr val="000000"/>
              </a:solidFill>
              <a:effectLst/>
              <a:uFillTx/>
              <a:latin typeface="Arial"/>
            </a:endParaRPr>
          </a:p>
        </p:txBody>
      </p:sp>
      <p:sp>
        <p:nvSpPr>
          <p:cNvPr id="172" name="Text 4"/>
          <p:cNvSpPr/>
          <p:nvPr/>
        </p:nvSpPr>
        <p:spPr>
          <a:xfrm>
            <a:off x="8102520" y="4008960"/>
            <a:ext cx="3374640" cy="1234800"/>
          </a:xfrm>
          <a:prstGeom prst="rect">
            <a:avLst/>
          </a:prstGeom>
          <a:noFill/>
          <a:ln w="0">
            <a:noFill/>
          </a:ln>
        </p:spPr>
        <p:style>
          <a:lnRef idx="0"/>
          <a:fillRef idx="0"/>
          <a:effectRef idx="0"/>
          <a:fontRef idx="minor"/>
        </p:style>
        <p:txBody>
          <a:bodyPr lIns="0" tIns="0" rIns="0" bIns="0" anchor="t">
            <a:normAutofit fontScale="92500" lnSpcReduction="9999"/>
          </a:bodyPr>
          <a:p>
            <a:pPr defTabSz="914400">
              <a:lnSpc>
                <a:spcPts val="2239"/>
              </a:lnSpc>
              <a:tabLst>
                <a:tab pos="0" algn="l"/>
              </a:tabLst>
            </a:pPr>
            <a:r>
              <a:rPr lang="en-US" sz="2000" b="0" u="none" strike="noStrike">
                <a:solidFill>
                  <a:schemeClr val="accent6">
                    <a:lumMod val="10000"/>
                  </a:schemeClr>
                </a:solidFill>
                <a:effectLst/>
                <a:uFillTx/>
                <a:latin typeface="Cambria"/>
                <a:ea typeface="Instrument Sans"/>
              </a:rPr>
              <a:t>Choose a question, spend the free points, then see the result. Correct predictions earn points and improve voting credibility.</a:t>
            </a:r>
            <a:endParaRPr lang="en-US" sz="2000" b="0" u="none" strike="noStrike">
              <a:solidFill>
                <a:srgbClr val="000000"/>
              </a:solidFill>
              <a:effectLst/>
              <a:uFillTx/>
              <a:latin typeface="Arial"/>
            </a:endParaRPr>
          </a:p>
        </p:txBody>
      </p:sp>
      <p:sp>
        <p:nvSpPr>
          <p:cNvPr id="173" name="Text 5"/>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47451"/>
                </a:solidFill>
                <a:effectLst/>
                <a:uFillTx/>
                <a:latin typeface="Instrument Sans"/>
                <a:ea typeface="Instrument Sans"/>
              </a:rPr>
              <a:t>Jobbery · Forecast</a:t>
            </a:r>
            <a:endParaRPr lang="en-US" sz="1200" b="0" u="none" strike="noStrike">
              <a:solidFill>
                <a:srgbClr val="000000"/>
              </a:solidFill>
              <a:effectLst/>
              <a:uFillTx/>
              <a:latin typeface="Arial"/>
            </a:endParaRPr>
          </a:p>
        </p:txBody>
      </p:sp>
      <p:sp>
        <p:nvSpPr>
          <p:cNvPr id="174" name="Text 0"/>
          <p:cNvSpPr/>
          <p:nvPr/>
        </p:nvSpPr>
        <p:spPr>
          <a:xfrm>
            <a:off x="812880" y="80316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pc="150" strike="noStrike">
                <a:solidFill>
                  <a:schemeClr val="accent4">
                    <a:lumMod val="50000"/>
                  </a:schemeClr>
                </a:solidFill>
                <a:effectLst/>
                <a:uFillTx/>
                <a:latin typeface="Cambria"/>
              </a:rPr>
              <a:t>AI-SKILL FORECASTING PAGE</a:t>
            </a:r>
            <a:endParaRPr lang="en-US" sz="1400" b="0" u="none" strike="noStrike">
              <a:solidFill>
                <a:srgbClr val="000000"/>
              </a:solidFill>
              <a:effectLst/>
              <a:uFillTx/>
              <a:latin typeface="Arial"/>
            </a:endParaRPr>
          </a:p>
        </p:txBody>
      </p:sp>
      <p:sp>
        <p:nvSpPr>
          <p:cNvPr id="175" name="Text 1"/>
          <p:cNvSpPr/>
          <p:nvPr/>
        </p:nvSpPr>
        <p:spPr>
          <a:xfrm>
            <a:off x="812880" y="112788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pPr>
            <a:r>
              <a:rPr lang="en-US" sz="4000" b="1" u="none" spc="-99" strike="noStrike">
                <a:solidFill>
                  <a:schemeClr val="dk1"/>
                </a:solidFill>
                <a:effectLst/>
                <a:uFillTx/>
                <a:latin typeface="Cambria"/>
              </a:rPr>
              <a:t>The Forecast:</a:t>
            </a:r>
            <a:endParaRPr lang="en-US" sz="4000" b="0" u="none" strike="noStrike">
              <a:solidFill>
                <a:srgbClr val="000000"/>
              </a:solidFill>
              <a:effectLst/>
              <a:uFillTx/>
              <a:latin typeface="Arial"/>
            </a:endParaRPr>
          </a:p>
        </p:txBody>
      </p:sp>
      <p:sp>
        <p:nvSpPr>
          <p:cNvPr id="176" name="Text 1"/>
          <p:cNvSpPr/>
          <p:nvPr/>
        </p:nvSpPr>
        <p:spPr>
          <a:xfrm>
            <a:off x="812880" y="173232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tabLst>
                <a:tab pos="0" algn="l"/>
              </a:tabLst>
            </a:pPr>
            <a:r>
              <a:rPr lang="en-US" sz="4000" b="1" u="none" spc="-99" strike="noStrike">
                <a:solidFill>
                  <a:srgbClr val="203B2B"/>
                </a:solidFill>
                <a:effectLst/>
                <a:uFillTx/>
                <a:latin typeface="Cambria"/>
                <a:ea typeface="Instrument Sans"/>
              </a:rPr>
              <a:t>Don’t Just Think Your Thoughts. Share Them.</a:t>
            </a:r>
            <a:endParaRPr lang="en-US" sz="4000" b="0" u="none" strike="noStrike">
              <a:solidFill>
                <a:srgbClr val="000000"/>
              </a:solidFill>
              <a:effectLst/>
              <a:uFillTx/>
              <a:latin typeface="Arial"/>
            </a:endParaRPr>
          </a:p>
        </p:txBody>
      </p:sp>
      <p:pic>
        <p:nvPicPr>
          <p:cNvPr id="177" name="Advisor mascot" descr="Jobbery cockatiel mascot"/>
          <p:cNvPicPr/>
          <p:nvPr/>
        </p:nvPicPr>
        <p:blipFill>
          <a:blip r:embed="rId2"/>
          <a:stretch/>
        </p:blipFill>
        <p:spPr>
          <a:xfrm>
            <a:off x="204120" y="5007960"/>
            <a:ext cx="1226880" cy="122688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pc="150" strike="noStrike">
                <a:solidFill>
                  <a:schemeClr val="accent6">
                    <a:lumMod val="90000"/>
                  </a:schemeClr>
                </a:solidFill>
                <a:effectLst/>
                <a:uFillTx/>
                <a:latin typeface="Cambria"/>
              </a:rPr>
              <a:t>AI-SKILL FORECASTING PAGE</a:t>
            </a:r>
            <a:endParaRPr lang="en-US" sz="1400" b="0" u="none" strike="noStrike">
              <a:solidFill>
                <a:srgbClr val="FFFFFF"/>
              </a:solidFill>
              <a:effectLst/>
              <a:uFillTx/>
              <a:latin typeface="Arial"/>
            </a:endParaRPr>
          </a:p>
        </p:txBody>
      </p:sp>
      <p:sp>
        <p:nvSpPr>
          <p:cNvPr id="179" name="Text 3"/>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9BCB95"/>
                </a:solidFill>
                <a:effectLst/>
                <a:uFillTx/>
                <a:latin typeface="Instrument Sans"/>
                <a:ea typeface="Instrument Sans"/>
              </a:rPr>
              <a:t>Jobbery · Forecast</a:t>
            </a:r>
            <a:endParaRPr lang="en-US" sz="1200" b="0" u="none" strike="noStrike">
              <a:solidFill>
                <a:srgbClr val="FFFFFF"/>
              </a:solidFill>
              <a:effectLst/>
              <a:uFillTx/>
              <a:latin typeface="Arial"/>
            </a:endParaRPr>
          </a:p>
        </p:txBody>
      </p:sp>
      <p:sp>
        <p:nvSpPr>
          <p:cNvPr id="180" name="Text 1"/>
          <p:cNvSpPr/>
          <p:nvPr/>
        </p:nvSpPr>
        <p:spPr>
          <a:xfrm>
            <a:off x="812880" y="112788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pPr>
            <a:r>
              <a:rPr lang="en-US" sz="4000" b="1" u="none" spc="-99" strike="noStrike">
                <a:solidFill>
                  <a:schemeClr val="accent6">
                    <a:lumMod val="75000"/>
                  </a:schemeClr>
                </a:solidFill>
                <a:effectLst/>
                <a:uFillTx/>
                <a:latin typeface="Cambria"/>
              </a:rPr>
              <a:t>The Forecast:</a:t>
            </a:r>
            <a:endParaRPr lang="en-US" sz="4000" b="0" u="none" strike="noStrike">
              <a:solidFill>
                <a:srgbClr val="FFFFFF"/>
              </a:solidFill>
              <a:effectLst/>
              <a:uFillTx/>
              <a:latin typeface="Arial"/>
            </a:endParaRPr>
          </a:p>
        </p:txBody>
      </p:sp>
      <p:sp>
        <p:nvSpPr>
          <p:cNvPr id="181" name="Text 1"/>
          <p:cNvSpPr/>
          <p:nvPr/>
        </p:nvSpPr>
        <p:spPr>
          <a:xfrm>
            <a:off x="812880" y="173232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tabLst>
                <a:tab pos="0" algn="l"/>
              </a:tabLst>
            </a:pPr>
            <a:r>
              <a:rPr lang="en-US" sz="4000" b="1" u="none" spc="-99" strike="noStrike">
                <a:solidFill>
                  <a:schemeClr val="accent6">
                    <a:lumMod val="75000"/>
                  </a:schemeClr>
                </a:solidFill>
                <a:effectLst/>
                <a:uFillTx/>
                <a:latin typeface="Cambria"/>
                <a:ea typeface="Instrument Sans"/>
              </a:rPr>
              <a:t>Don’t Just Think Your Thoughts. Share Them.</a:t>
            </a:r>
            <a:endParaRPr lang="en-US" sz="4000" b="0" u="none" strike="noStrike">
              <a:solidFill>
                <a:srgbClr val="FFFFFF"/>
              </a:solidFill>
              <a:effectLst/>
              <a:uFillTx/>
              <a:latin typeface="Arial"/>
            </a:endParaRPr>
          </a:p>
        </p:txBody>
      </p:sp>
      <p:sp>
        <p:nvSpPr>
          <p:cNvPr id="182" name="Image 0" descr="Two open question cards outlined in amber: office admin jobs in Malaysian job ads, Jul to Sep 2026 (57% think Yes), and Humanity’s Last Exam, Oct to Dec 2026 (35% think Yes)"/>
          <p:cNvSpPr/>
          <p:nvPr/>
        </p:nvSpPr>
        <p:spPr>
          <a:xfrm>
            <a:off x="822240" y="2842560"/>
            <a:ext cx="6972120" cy="2698560"/>
          </a:xfrm>
          <a:prstGeom prst="roundRect">
            <a:avLst>
              <a:gd name="adj" fmla="val 3529"/>
            </a:avLst>
          </a:prstGeom>
          <a:blipFill rotWithShape="0">
            <a:blip r:embed="rId1"/>
            <a:srcRect/>
            <a:stretch/>
          </a:blipFill>
          <a:ln w="12700">
            <a:solidFill>
              <a:srgbClr val="203B2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3" name="Shape 2"/>
          <p:cNvSpPr/>
          <p:nvPr/>
        </p:nvSpPr>
        <p:spPr>
          <a:xfrm>
            <a:off x="822240" y="2842560"/>
            <a:ext cx="6978240" cy="2704680"/>
          </a:xfrm>
          <a:prstGeom prst="roundRect">
            <a:avLst>
              <a:gd name="adj" fmla="val 3638"/>
            </a:avLst>
          </a:prstGeom>
          <a:noFill/>
          <a:ln w="6350">
            <a:solidFill>
              <a:srgbClr val="D5E7D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4" name="Text 3"/>
          <p:cNvSpPr/>
          <p:nvPr/>
        </p:nvSpPr>
        <p:spPr>
          <a:xfrm>
            <a:off x="8102520" y="3464640"/>
            <a:ext cx="3374640" cy="360360"/>
          </a:xfrm>
          <a:prstGeom prst="rect">
            <a:avLst/>
          </a:prstGeom>
          <a:noFill/>
          <a:ln w="0">
            <a:noFill/>
          </a:ln>
        </p:spPr>
        <p:style>
          <a:lnRef idx="0"/>
          <a:fillRef idx="0"/>
          <a:effectRef idx="0"/>
          <a:fontRef idx="minor"/>
        </p:style>
        <p:txBody>
          <a:bodyPr lIns="0" tIns="0" rIns="0" bIns="0" anchor="t">
            <a:noAutofit/>
          </a:bodyPr>
          <a:p>
            <a:pPr defTabSz="914400">
              <a:lnSpc>
                <a:spcPts val="2639"/>
              </a:lnSpc>
              <a:tabLst>
                <a:tab pos="0" algn="l"/>
              </a:tabLst>
            </a:pPr>
            <a:r>
              <a:rPr lang="en-US" sz="2800" b="1" u="none" strike="noStrike">
                <a:solidFill>
                  <a:schemeClr val="lt1"/>
                </a:solidFill>
                <a:effectLst/>
                <a:uFillTx/>
                <a:latin typeface="Cambria"/>
                <a:ea typeface="Instrument Sans"/>
              </a:rPr>
              <a:t>Checkable questions</a:t>
            </a:r>
            <a:endParaRPr lang="en-US" sz="2800" b="0" u="none" strike="noStrike">
              <a:solidFill>
                <a:srgbClr val="FFFFFF"/>
              </a:solidFill>
              <a:effectLst/>
              <a:uFillTx/>
              <a:latin typeface="Arial"/>
            </a:endParaRPr>
          </a:p>
        </p:txBody>
      </p:sp>
      <p:sp>
        <p:nvSpPr>
          <p:cNvPr id="185" name="Text 4"/>
          <p:cNvSpPr/>
          <p:nvPr/>
        </p:nvSpPr>
        <p:spPr>
          <a:xfrm>
            <a:off x="8102520" y="3902040"/>
            <a:ext cx="3593160" cy="128232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2000" b="0" u="none" strike="noStrike">
                <a:solidFill>
                  <a:schemeClr val="accent6"/>
                </a:solidFill>
                <a:effectLst/>
                <a:uFillTx/>
                <a:latin typeface="Cambria"/>
                <a:ea typeface="Instrument Sans"/>
              </a:rPr>
              <a:t>Each card shows the forecasters’ current % and which official news will settle. Amber outlines wait for a prediction.</a:t>
            </a:r>
            <a:endParaRPr lang="en-US" sz="2000" b="0" u="none" strike="noStrike">
              <a:solidFill>
                <a:srgbClr val="FFFFFF"/>
              </a:solidFill>
              <a:effectLst/>
              <a:uFillTx/>
              <a:latin typeface="Arial"/>
            </a:endParaRPr>
          </a:p>
        </p:txBody>
      </p:sp>
      <p:pic>
        <p:nvPicPr>
          <p:cNvPr id="186" name="Worker mascot" descr="Jobbery cockatiel mascot"/>
          <p:cNvPicPr/>
          <p:nvPr/>
        </p:nvPicPr>
        <p:blipFill>
          <a:blip r:embed="rId2"/>
          <a:stretch/>
        </p:blipFill>
        <p:spPr>
          <a:xfrm>
            <a:off x="7126200" y="5081400"/>
            <a:ext cx="1156680" cy="115668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Shape 2"/>
          <p:cNvSpPr/>
          <p:nvPr/>
        </p:nvSpPr>
        <p:spPr>
          <a:xfrm>
            <a:off x="816120" y="2879640"/>
            <a:ext cx="6978240" cy="2958840"/>
          </a:xfrm>
          <a:prstGeom prst="roundRect">
            <a:avLst>
              <a:gd name="adj" fmla="val 3326"/>
            </a:avLst>
          </a:prstGeom>
          <a:noFill/>
          <a:ln w="12700">
            <a:solidFill>
              <a:srgbClr val="D5E7D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8" name="Text 5"/>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47451"/>
                </a:solidFill>
                <a:effectLst/>
                <a:uFillTx/>
                <a:latin typeface="Instrument Sans"/>
                <a:ea typeface="Instrument Sans"/>
              </a:rPr>
              <a:t>Jobbery · Forecast</a:t>
            </a:r>
            <a:endParaRPr lang="en-US" sz="1200" b="0" u="none" strike="noStrike">
              <a:solidFill>
                <a:srgbClr val="000000"/>
              </a:solidFill>
              <a:effectLst/>
              <a:uFillTx/>
              <a:latin typeface="Arial"/>
            </a:endParaRPr>
          </a:p>
        </p:txBody>
      </p:sp>
      <p:sp>
        <p:nvSpPr>
          <p:cNvPr id="189" name="Text 6"/>
          <p:cNvSpPr/>
          <p:nvPr/>
        </p:nvSpPr>
        <p:spPr>
          <a:xfrm>
            <a:off x="10058400" y="6238440"/>
            <a:ext cx="13204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47451"/>
                </a:solidFill>
                <a:effectLst/>
                <a:uFillTx/>
                <a:latin typeface="Instrument Sans"/>
                <a:ea typeface="Instrument Sans"/>
              </a:rPr>
              <a:t>8 / 16</a:t>
            </a:r>
            <a:endParaRPr lang="en-US" sz="1200" b="0" u="none" strike="noStrike">
              <a:solidFill>
                <a:srgbClr val="000000"/>
              </a:solidFill>
              <a:effectLst/>
              <a:uFillTx/>
              <a:latin typeface="Arial"/>
            </a:endParaRPr>
          </a:p>
        </p:txBody>
      </p:sp>
      <p:sp>
        <p:nvSpPr>
          <p:cNvPr id="190" name="Text 0"/>
          <p:cNvSpPr/>
          <p:nvPr/>
        </p:nvSpPr>
        <p:spPr>
          <a:xfrm>
            <a:off x="812880" y="80316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pc="150" strike="noStrike">
                <a:solidFill>
                  <a:schemeClr val="accent4">
                    <a:lumMod val="50000"/>
                  </a:schemeClr>
                </a:solidFill>
                <a:effectLst/>
                <a:uFillTx/>
                <a:latin typeface="Cambria"/>
              </a:rPr>
              <a:t>AI-SKILL FORECASTING PAGE</a:t>
            </a:r>
            <a:endParaRPr lang="en-US" sz="1400" b="0" u="none" strike="noStrike">
              <a:solidFill>
                <a:srgbClr val="000000"/>
              </a:solidFill>
              <a:effectLst/>
              <a:uFillTx/>
              <a:latin typeface="Arial"/>
            </a:endParaRPr>
          </a:p>
        </p:txBody>
      </p:sp>
      <p:sp>
        <p:nvSpPr>
          <p:cNvPr id="191" name="Text 1"/>
          <p:cNvSpPr/>
          <p:nvPr/>
        </p:nvSpPr>
        <p:spPr>
          <a:xfrm>
            <a:off x="812880" y="110844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pPr>
            <a:r>
              <a:rPr lang="en-US" sz="4000" b="1" u="none" spc="-99" strike="noStrike">
                <a:solidFill>
                  <a:schemeClr val="dk1"/>
                </a:solidFill>
                <a:effectLst/>
                <a:uFillTx/>
                <a:latin typeface="Cambria"/>
              </a:rPr>
              <a:t>The Forecast:</a:t>
            </a:r>
            <a:endParaRPr lang="en-US" sz="4000" b="0" u="none" strike="noStrike">
              <a:solidFill>
                <a:srgbClr val="000000"/>
              </a:solidFill>
              <a:effectLst/>
              <a:uFillTx/>
              <a:latin typeface="Arial"/>
            </a:endParaRPr>
          </a:p>
        </p:txBody>
      </p:sp>
      <p:sp>
        <p:nvSpPr>
          <p:cNvPr id="192" name="Text 1"/>
          <p:cNvSpPr/>
          <p:nvPr/>
        </p:nvSpPr>
        <p:spPr>
          <a:xfrm>
            <a:off x="812880" y="173232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tabLst>
                <a:tab pos="0" algn="l"/>
              </a:tabLst>
            </a:pPr>
            <a:r>
              <a:rPr lang="en-US" sz="4000" b="1" u="none" spc="-99" strike="noStrike">
                <a:solidFill>
                  <a:srgbClr val="203B2B"/>
                </a:solidFill>
                <a:effectLst/>
                <a:uFillTx/>
                <a:latin typeface="Cambria"/>
                <a:ea typeface="Instrument Sans"/>
              </a:rPr>
              <a:t>Don’t Just Think Your Thoughts. Share Them.</a:t>
            </a:r>
            <a:endParaRPr lang="en-US" sz="4000" b="0" u="none" strike="noStrike">
              <a:solidFill>
                <a:srgbClr val="000000"/>
              </a:solidFill>
              <a:effectLst/>
              <a:uFillTx/>
              <a:latin typeface="Arial"/>
            </a:endParaRPr>
          </a:p>
        </p:txBody>
      </p:sp>
      <p:sp>
        <p:nvSpPr>
          <p:cNvPr id="193" name="Image 0" descr="Two answered question cards for Apr to Jun 2026: office admin jobs dropped, the answer was Yes (7.8 to 7.3 in every 100 job ads); the AI exam score did not rise, the answer was No"/>
          <p:cNvSpPr/>
          <p:nvPr/>
        </p:nvSpPr>
        <p:spPr>
          <a:xfrm>
            <a:off x="812880" y="2989800"/>
            <a:ext cx="7082640" cy="2386440"/>
          </a:xfrm>
          <a:prstGeom prst="roundRect">
            <a:avLst>
              <a:gd name="adj" fmla="val 4054"/>
            </a:avLst>
          </a:prstGeom>
          <a:blipFill rotWithShape="0">
            <a:blip r:embed="rId1"/>
            <a:srcRect/>
            <a:stretch/>
          </a:blipFill>
          <a:ln w="12700">
            <a:solidFill>
              <a:srgbClr val="203B2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4" name="Text 3"/>
          <p:cNvSpPr/>
          <p:nvPr/>
        </p:nvSpPr>
        <p:spPr>
          <a:xfrm>
            <a:off x="8102520" y="3559320"/>
            <a:ext cx="3374640" cy="360360"/>
          </a:xfrm>
          <a:prstGeom prst="rect">
            <a:avLst/>
          </a:prstGeom>
          <a:noFill/>
          <a:ln w="0">
            <a:noFill/>
          </a:ln>
        </p:spPr>
        <p:style>
          <a:lnRef idx="0"/>
          <a:fillRef idx="0"/>
          <a:effectRef idx="0"/>
          <a:fontRef idx="minor"/>
        </p:style>
        <p:txBody>
          <a:bodyPr lIns="0" tIns="0" rIns="0" bIns="0" anchor="t">
            <a:normAutofit/>
          </a:bodyPr>
          <a:p>
            <a:pPr defTabSz="914400">
              <a:lnSpc>
                <a:spcPts val="2639"/>
              </a:lnSpc>
              <a:tabLst>
                <a:tab pos="0" algn="l"/>
              </a:tabLst>
            </a:pPr>
            <a:r>
              <a:rPr lang="en-US" sz="2800" b="1" u="none" strike="noStrike">
                <a:solidFill>
                  <a:schemeClr val="accent6">
                    <a:lumMod val="25000"/>
                  </a:schemeClr>
                </a:solidFill>
                <a:effectLst/>
                <a:uFillTx/>
                <a:latin typeface="Cambria"/>
                <a:ea typeface="Instrument Sans"/>
              </a:rPr>
              <a:t>Settled by the data</a:t>
            </a:r>
            <a:endParaRPr lang="en-US" sz="2800" b="0" u="none" strike="noStrike">
              <a:solidFill>
                <a:srgbClr val="000000"/>
              </a:solidFill>
              <a:effectLst/>
              <a:uFillTx/>
              <a:latin typeface="Arial"/>
            </a:endParaRPr>
          </a:p>
        </p:txBody>
      </p:sp>
      <p:sp>
        <p:nvSpPr>
          <p:cNvPr id="195" name="Text 4"/>
          <p:cNvSpPr/>
          <p:nvPr/>
        </p:nvSpPr>
        <p:spPr>
          <a:xfrm>
            <a:off x="8102520" y="3920040"/>
            <a:ext cx="3593160" cy="116280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2000" b="0" u="none" strike="noStrike">
                <a:solidFill>
                  <a:schemeClr val="accent6">
                    <a:lumMod val="10000"/>
                  </a:schemeClr>
                </a:solidFill>
                <a:effectLst/>
                <a:uFillTx/>
                <a:latin typeface="Cambria"/>
                <a:ea typeface="Instrument Sans"/>
              </a:rPr>
              <a:t>Past prediction results are showcased below. For example, office admin ads fell from 7.8 to 7.3 per 100.</a:t>
            </a:r>
            <a:endParaRPr lang="en-US" sz="2000" b="0" u="none" strike="noStrike">
              <a:solidFill>
                <a:srgbClr val="000000"/>
              </a:solidFill>
              <a:effectLst/>
              <a:uFillTx/>
              <a:latin typeface="Arial"/>
            </a:endParaRPr>
          </a:p>
        </p:txBody>
      </p:sp>
      <p:pic>
        <p:nvPicPr>
          <p:cNvPr id="196" name="Advisor mascot" descr="Jobbery cockatiel mascot"/>
          <p:cNvPicPr/>
          <p:nvPr/>
        </p:nvPicPr>
        <p:blipFill>
          <a:blip r:embed="rId2"/>
          <a:stretch/>
        </p:blipFill>
        <p:spPr>
          <a:xfrm>
            <a:off x="200880" y="4827600"/>
            <a:ext cx="1226880" cy="122688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pc="150" strike="noStrike">
                <a:solidFill>
                  <a:schemeClr val="accent6">
                    <a:lumMod val="90000"/>
                  </a:schemeClr>
                </a:solidFill>
                <a:effectLst/>
                <a:uFillTx/>
                <a:latin typeface="Cambria"/>
              </a:rPr>
              <a:t>AI-SKILL FORECASTING PAGE</a:t>
            </a:r>
            <a:endParaRPr lang="en-US" sz="1400" b="0" u="none" strike="noStrike">
              <a:solidFill>
                <a:srgbClr val="FFFFFF"/>
              </a:solidFill>
              <a:effectLst/>
              <a:uFillTx/>
              <a:latin typeface="Arial"/>
            </a:endParaRPr>
          </a:p>
        </p:txBody>
      </p:sp>
      <p:sp>
        <p:nvSpPr>
          <p:cNvPr id="198" name="Text 3"/>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9BCB95"/>
                </a:solidFill>
                <a:effectLst/>
                <a:uFillTx/>
                <a:latin typeface="Instrument Sans"/>
                <a:ea typeface="Instrument Sans"/>
              </a:rPr>
              <a:t>Jobbery · Forecast</a:t>
            </a:r>
            <a:endParaRPr lang="en-US" sz="1200" b="0" u="none" strike="noStrike">
              <a:solidFill>
                <a:srgbClr val="FFFFFF"/>
              </a:solidFill>
              <a:effectLst/>
              <a:uFillTx/>
              <a:latin typeface="Arial"/>
            </a:endParaRPr>
          </a:p>
        </p:txBody>
      </p:sp>
      <p:sp>
        <p:nvSpPr>
          <p:cNvPr id="199" name="Text 1"/>
          <p:cNvSpPr/>
          <p:nvPr/>
        </p:nvSpPr>
        <p:spPr>
          <a:xfrm>
            <a:off x="812880" y="112788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pPr>
            <a:r>
              <a:rPr lang="en-US" sz="4000" b="1" u="none" spc="-99" strike="noStrike">
                <a:solidFill>
                  <a:schemeClr val="accent6">
                    <a:lumMod val="75000"/>
                  </a:schemeClr>
                </a:solidFill>
                <a:effectLst/>
                <a:uFillTx/>
                <a:latin typeface="Cambria"/>
              </a:rPr>
              <a:t>The Forecast:</a:t>
            </a:r>
            <a:endParaRPr lang="en-US" sz="4000" b="0" u="none" strike="noStrike">
              <a:solidFill>
                <a:srgbClr val="FFFFFF"/>
              </a:solidFill>
              <a:effectLst/>
              <a:uFillTx/>
              <a:latin typeface="Arial"/>
            </a:endParaRPr>
          </a:p>
        </p:txBody>
      </p:sp>
      <p:sp>
        <p:nvSpPr>
          <p:cNvPr id="200" name="Text 1"/>
          <p:cNvSpPr/>
          <p:nvPr/>
        </p:nvSpPr>
        <p:spPr>
          <a:xfrm>
            <a:off x="812880" y="173232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tabLst>
                <a:tab pos="0" algn="l"/>
              </a:tabLst>
            </a:pPr>
            <a:r>
              <a:rPr lang="en-US" sz="4000" b="1" u="none" spc="-99" strike="noStrike">
                <a:solidFill>
                  <a:schemeClr val="accent6">
                    <a:lumMod val="75000"/>
                  </a:schemeClr>
                </a:solidFill>
                <a:effectLst/>
                <a:uFillTx/>
                <a:latin typeface="Cambria"/>
                <a:ea typeface="Instrument Sans"/>
              </a:rPr>
              <a:t>The Leaderboard</a:t>
            </a:r>
            <a:endParaRPr lang="en-US" sz="4000" b="0" u="none" strike="noStrike">
              <a:solidFill>
                <a:srgbClr val="FFFFFF"/>
              </a:solidFill>
              <a:effectLst/>
              <a:uFillTx/>
              <a:latin typeface="Arial"/>
            </a:endParaRPr>
          </a:p>
        </p:txBody>
      </p:sp>
      <p:sp>
        <p:nvSpPr>
          <p:cNvPr id="201" name="Image 0" descr="Line chart “Which kind of player wins”: after 21 quarters of real releases, careful experts count 4.19×, AI sceptics 0.46×, noisy predictors 0.15×, trend chasers 0.08× and AI optimists 0.05×"/>
          <p:cNvSpPr/>
          <p:nvPr/>
        </p:nvSpPr>
        <p:spPr>
          <a:xfrm>
            <a:off x="812880" y="2438640"/>
            <a:ext cx="5600520" cy="2158560"/>
          </a:xfrm>
          <a:prstGeom prst="roundRect">
            <a:avLst>
              <a:gd name="adj" fmla="val 4412"/>
            </a:avLst>
          </a:prstGeom>
          <a:blipFill rotWithShape="0">
            <a:blip r:embed="rId1"/>
            <a:srcRect/>
            <a:stretch/>
          </a:blipFill>
          <a:ln w="12700">
            <a:solidFill>
              <a:srgbClr val="203B2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2" name="Image 1" descr="Leaderboard page: a Not scored yet panel for the user and a Top 3 podium, with Player 115 first, Player 095 second and Player 086 third; other players are computer-made (demo)"/>
          <p:cNvSpPr/>
          <p:nvPr/>
        </p:nvSpPr>
        <p:spPr>
          <a:xfrm>
            <a:off x="6686640" y="1945080"/>
            <a:ext cx="4686120" cy="1936440"/>
          </a:xfrm>
          <a:prstGeom prst="roundRect">
            <a:avLst>
              <a:gd name="adj" fmla="val 4918"/>
            </a:avLst>
          </a:prstGeom>
          <a:blipFill rotWithShape="0">
            <a:blip r:embed="rId2"/>
            <a:srcRect/>
            <a:stretch/>
          </a:blipFill>
          <a:ln w="12700">
            <a:solidFill>
              <a:srgbClr val="203B2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3" name="Image 2" descr="Top 10 table of players ranked by error score, with their vote counts and rank change"/>
          <p:cNvSpPr/>
          <p:nvPr/>
        </p:nvSpPr>
        <p:spPr>
          <a:xfrm>
            <a:off x="6686640" y="4057560"/>
            <a:ext cx="4686120" cy="1777680"/>
          </a:xfrm>
          <a:prstGeom prst="roundRect">
            <a:avLst>
              <a:gd name="adj" fmla="val 5357"/>
            </a:avLst>
          </a:prstGeom>
          <a:blipFill rotWithShape="0">
            <a:blip r:embed="rId3"/>
            <a:srcRect/>
            <a:stretch/>
          </a:blipFill>
          <a:ln w="12700">
            <a:solidFill>
              <a:srgbClr val="203B2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4" name="Text 3"/>
          <p:cNvSpPr/>
          <p:nvPr/>
        </p:nvSpPr>
        <p:spPr>
          <a:xfrm>
            <a:off x="806400" y="4775040"/>
            <a:ext cx="5606640" cy="1261440"/>
          </a:xfrm>
          <a:prstGeom prst="roundRect">
            <a:avLst>
              <a:gd name="adj" fmla="val 7800"/>
            </a:avLst>
          </a:prstGeom>
          <a:solidFill>
            <a:schemeClr val="accent6">
              <a:lumMod val="75000"/>
            </a:schemeClr>
          </a:solidFill>
          <a:ln w="12700">
            <a:solidFill>
              <a:srgbClr val="FFF0D8">
                <a:lumMod val="10000"/>
              </a:srgbClr>
            </a:solidFill>
            <a:round/>
          </a:ln>
        </p:spPr>
        <p:style>
          <a:lnRef idx="0"/>
          <a:fillRef idx="0"/>
          <a:effectRef idx="0"/>
          <a:fontRef idx="minor"/>
        </p:style>
        <p:txBody>
          <a:bodyPr lIns="175320" tIns="175320" rIns="19440" bIns="150120" anchor="t">
            <a:normAutofit/>
          </a:bodyPr>
          <a:p>
            <a:pPr defTabSz="914400">
              <a:lnSpc>
                <a:spcPts val="2239"/>
              </a:lnSpc>
              <a:tabLst>
                <a:tab pos="0" algn="l"/>
              </a:tabLst>
            </a:pPr>
            <a:r>
              <a:rPr lang="en-US" sz="1600" b="1" u="none" strike="noStrike">
                <a:solidFill>
                  <a:srgbClr val="203B2B"/>
                </a:solidFill>
                <a:effectLst/>
                <a:uFillTx/>
                <a:latin typeface="Cambria"/>
                <a:ea typeface="Instrument Sans"/>
              </a:rPr>
              <a:t>Accuracy earns influence.</a:t>
            </a:r>
            <a:r>
              <a:rPr lang="en-US" sz="1600" b="0" u="none" strike="noStrike">
                <a:solidFill>
                  <a:srgbClr val="203B2B"/>
                </a:solidFill>
                <a:effectLst/>
                <a:uFillTx/>
                <a:latin typeface="Cambria"/>
                <a:ea typeface="Instrument Sans"/>
              </a:rPr>
              <a:t> Making accurate predictions gives you the credibility that amplifies votes and sways future predictions.</a:t>
            </a:r>
            <a:endParaRPr lang="en-US" sz="1600" b="0" u="none" strike="noStrike">
              <a:solidFill>
                <a:srgbClr val="000000"/>
              </a:solidFill>
              <a:effectLst/>
              <a:uFillTx/>
              <a:latin typeface="Arial"/>
            </a:endParaRPr>
          </a:p>
        </p:txBody>
      </p:sp>
      <p:pic>
        <p:nvPicPr>
          <p:cNvPr id="205" name="Worker mascot" descr="Jobbery cockatiel mascot"/>
          <p:cNvPicPr/>
          <p:nvPr/>
        </p:nvPicPr>
        <p:blipFill>
          <a:blip r:embed="rId4"/>
          <a:stretch/>
        </p:blipFill>
        <p:spPr>
          <a:xfrm>
            <a:off x="10122480" y="853920"/>
            <a:ext cx="1156680" cy="1156680"/>
          </a:xfrm>
          <a:prstGeom prst="rect">
            <a:avLst/>
          </a:prstGeom>
          <a:noFill/>
          <a:ln w="0">
            <a:noFill/>
          </a:ln>
        </p:spPr>
      </p:pic>
      <p:pic>
        <p:nvPicPr>
          <p:cNvPr id="206" name="Mascot, welcoming" descr="Jobbery's cockatiel mascot with open wings"/>
          <p:cNvPicPr/>
          <p:nvPr/>
        </p:nvPicPr>
        <p:blipFill>
          <a:blip r:embed="rId5"/>
          <a:stretch/>
        </p:blipFill>
        <p:spPr>
          <a:xfrm>
            <a:off x="5418360" y="1352880"/>
            <a:ext cx="1156680" cy="11566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Shape 2"/>
          <p:cNvSpPr/>
          <p:nvPr/>
        </p:nvSpPr>
        <p:spPr>
          <a:xfrm>
            <a:off x="816120" y="2879640"/>
            <a:ext cx="6978240" cy="2958840"/>
          </a:xfrm>
          <a:prstGeom prst="roundRect">
            <a:avLst>
              <a:gd name="adj" fmla="val 3326"/>
            </a:avLst>
          </a:prstGeom>
          <a:noFill/>
          <a:ln w="12700">
            <a:solidFill>
              <a:srgbClr val="D5E7D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8" name="Text 5"/>
          <p:cNvSpPr/>
          <p:nvPr/>
        </p:nvSpPr>
        <p:spPr>
          <a:xfrm>
            <a:off x="812880" y="6238440"/>
            <a:ext cx="58860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47451"/>
                </a:solidFill>
                <a:effectLst/>
                <a:uFillTx/>
                <a:latin typeface="Instrument Sans"/>
                <a:ea typeface="Instrument Sans"/>
              </a:rPr>
              <a:t>Jobbery · Forecast</a:t>
            </a:r>
            <a:endParaRPr lang="en-US" sz="1200" b="0" u="none" strike="noStrike">
              <a:solidFill>
                <a:srgbClr val="000000"/>
              </a:solidFill>
              <a:effectLst/>
              <a:uFillTx/>
              <a:latin typeface="Arial"/>
            </a:endParaRPr>
          </a:p>
        </p:txBody>
      </p:sp>
      <p:sp>
        <p:nvSpPr>
          <p:cNvPr id="209" name="Text 0"/>
          <p:cNvSpPr/>
          <p:nvPr/>
        </p:nvSpPr>
        <p:spPr>
          <a:xfrm>
            <a:off x="812880" y="80316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pc="150" strike="noStrike">
                <a:solidFill>
                  <a:schemeClr val="accent4">
                    <a:lumMod val="50000"/>
                  </a:schemeClr>
                </a:solidFill>
                <a:effectLst/>
                <a:uFillTx/>
                <a:latin typeface="Cambria"/>
              </a:rPr>
              <a:t>AI-SKILL FORECASTING PAGE</a:t>
            </a:r>
            <a:endParaRPr lang="en-US" sz="1400" b="0" u="none" strike="noStrike">
              <a:solidFill>
                <a:srgbClr val="000000"/>
              </a:solidFill>
              <a:effectLst/>
              <a:uFillTx/>
              <a:latin typeface="Arial"/>
            </a:endParaRPr>
          </a:p>
        </p:txBody>
      </p:sp>
      <p:sp>
        <p:nvSpPr>
          <p:cNvPr id="210" name="Text 1"/>
          <p:cNvSpPr/>
          <p:nvPr/>
        </p:nvSpPr>
        <p:spPr>
          <a:xfrm>
            <a:off x="812880" y="110844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pPr>
            <a:r>
              <a:rPr lang="en-US" sz="4000" b="1" u="none" spc="-99" strike="noStrike">
                <a:solidFill>
                  <a:schemeClr val="dk1"/>
                </a:solidFill>
                <a:effectLst/>
                <a:uFillTx/>
                <a:latin typeface="Cambria"/>
              </a:rPr>
              <a:t>The Forecast:</a:t>
            </a:r>
            <a:endParaRPr lang="en-US" sz="4000" b="0" u="none" strike="noStrike">
              <a:solidFill>
                <a:srgbClr val="000000"/>
              </a:solidFill>
              <a:effectLst/>
              <a:uFillTx/>
              <a:latin typeface="Arial"/>
            </a:endParaRPr>
          </a:p>
        </p:txBody>
      </p:sp>
      <p:sp>
        <p:nvSpPr>
          <p:cNvPr id="211" name="Text 1"/>
          <p:cNvSpPr/>
          <p:nvPr/>
        </p:nvSpPr>
        <p:spPr>
          <a:xfrm>
            <a:off x="812880" y="1732320"/>
            <a:ext cx="10883160" cy="528120"/>
          </a:xfrm>
          <a:prstGeom prst="rect">
            <a:avLst/>
          </a:prstGeom>
          <a:noFill/>
          <a:ln w="0">
            <a:noFill/>
          </a:ln>
        </p:spPr>
        <p:style>
          <a:lnRef idx="0"/>
          <a:fillRef idx="0"/>
          <a:effectRef idx="0"/>
          <a:fontRef idx="minor"/>
        </p:style>
        <p:txBody>
          <a:bodyPr lIns="0" tIns="0" rIns="0" bIns="0" anchor="t">
            <a:normAutofit/>
          </a:bodyPr>
          <a:p>
            <a:pPr defTabSz="914400">
              <a:lnSpc>
                <a:spcPts val="3960"/>
              </a:lnSpc>
              <a:tabLst>
                <a:tab pos="0" algn="l"/>
              </a:tabLst>
            </a:pPr>
            <a:r>
              <a:rPr lang="en-US" sz="4000" b="1" u="none" strike="noStrike">
                <a:solidFill>
                  <a:srgbClr val="203B2B"/>
                </a:solidFill>
                <a:effectLst/>
                <a:uFillTx/>
                <a:latin typeface="Cambria"/>
                <a:ea typeface="Instrument Sans"/>
              </a:rPr>
              <a:t>Hand-Picked, Trusted Sources</a:t>
            </a:r>
            <a:endParaRPr lang="en-US" sz="4000" b="0" u="none" strike="noStrike">
              <a:solidFill>
                <a:srgbClr val="000000"/>
              </a:solidFill>
              <a:effectLst/>
              <a:uFillTx/>
              <a:latin typeface="Arial"/>
            </a:endParaRPr>
          </a:p>
        </p:txBody>
      </p:sp>
      <p:sp>
        <p:nvSpPr>
          <p:cNvPr id="212" name="Image 0" descr="Two source cards: Department of Statistics Malaysia, with office admin jobs at 7.3 in every 100 job ads and a next release on 17 Nov 2026; and Epoch AI, with the Humanity’s Last Exam and METR time horizon benchmarks"/>
          <p:cNvSpPr/>
          <p:nvPr/>
        </p:nvSpPr>
        <p:spPr>
          <a:xfrm>
            <a:off x="819000" y="2330640"/>
            <a:ext cx="4812840" cy="2323800"/>
          </a:xfrm>
          <a:prstGeom prst="roundRect">
            <a:avLst>
              <a:gd name="adj" fmla="val 4098"/>
            </a:avLst>
          </a:prstGeom>
          <a:blipFill rotWithShape="0">
            <a:blip r:embed="rId1"/>
            <a:srcRect/>
            <a:stretch/>
          </a:blipFill>
          <a:ln w="12700">
            <a:solidFill>
              <a:srgbClr val="203B2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3" name="Image 1" descr="Data sources page: the next releases, Malaysia jobs from DOSM on 17 Nov 2026 settling 1 question, and AI ability from Epoch AI on 30 Jan 2027 settling 4 questions"/>
          <p:cNvSpPr/>
          <p:nvPr/>
        </p:nvSpPr>
        <p:spPr>
          <a:xfrm>
            <a:off x="5902200" y="2342160"/>
            <a:ext cx="5473440" cy="1618920"/>
          </a:xfrm>
          <a:prstGeom prst="roundRect">
            <a:avLst>
              <a:gd name="adj" fmla="val 5882"/>
            </a:avLst>
          </a:prstGeom>
          <a:blipFill rotWithShape="0">
            <a:blip r:embed="rId2"/>
            <a:srcRect/>
            <a:stretch/>
          </a:blipFill>
          <a:ln w="12700">
            <a:solidFill>
              <a:srgbClr val="203B2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4" name="Text 3"/>
          <p:cNvSpPr/>
          <p:nvPr/>
        </p:nvSpPr>
        <p:spPr>
          <a:xfrm>
            <a:off x="812880" y="4933440"/>
            <a:ext cx="4819320" cy="970920"/>
          </a:xfrm>
          <a:prstGeom prst="roundRect">
            <a:avLst>
              <a:gd name="adj" fmla="val 7243"/>
            </a:avLst>
          </a:prstGeom>
          <a:solidFill>
            <a:schemeClr val="accent5">
              <a:lumMod val="40000"/>
              <a:lumOff val="60000"/>
            </a:schemeClr>
          </a:solidFill>
          <a:ln w="12700">
            <a:solidFill>
              <a:srgbClr val="FFF0D8">
                <a:lumMod val="25000"/>
              </a:srgbClr>
            </a:solidFill>
            <a:round/>
          </a:ln>
        </p:spPr>
        <p:style>
          <a:lnRef idx="0"/>
          <a:fillRef idx="0"/>
          <a:effectRef idx="0"/>
          <a:fontRef idx="minor"/>
        </p:style>
        <p:txBody>
          <a:bodyPr lIns="175320" tIns="175320" rIns="43200" bIns="175320" anchor="t">
            <a:normAutofit/>
          </a:bodyPr>
          <a:p>
            <a:pPr defTabSz="914400">
              <a:lnSpc>
                <a:spcPts val="2239"/>
              </a:lnSpc>
              <a:tabLst>
                <a:tab pos="0" algn="l"/>
              </a:tabLst>
            </a:pPr>
            <a:r>
              <a:rPr lang="en-US" sz="1600" b="1" u="none" strike="noStrike">
                <a:solidFill>
                  <a:srgbClr val="203B2B"/>
                </a:solidFill>
                <a:effectLst/>
                <a:uFillTx/>
                <a:latin typeface="Cambria"/>
                <a:ea typeface="Instrument Sans"/>
              </a:rPr>
              <a:t>Official news settles every question.</a:t>
            </a:r>
            <a:r>
              <a:rPr lang="en-US" sz="1600" b="0" u="none" strike="noStrike">
                <a:solidFill>
                  <a:srgbClr val="203B2B"/>
                </a:solidFill>
                <a:effectLst/>
                <a:uFillTx/>
                <a:latin typeface="Cambria"/>
                <a:ea typeface="Instrument Sans"/>
              </a:rPr>
              <a:t> New numbers go live only after passing credibility checks.</a:t>
            </a:r>
            <a:endParaRPr lang="en-US" sz="1600" b="0" u="none" strike="noStrike">
              <a:solidFill>
                <a:srgbClr val="000000"/>
              </a:solidFill>
              <a:effectLst/>
              <a:uFillTx/>
              <a:latin typeface="Arial"/>
            </a:endParaRPr>
          </a:p>
        </p:txBody>
      </p:sp>
      <p:pic>
        <p:nvPicPr>
          <p:cNvPr id="215" name="Advisor mascot" descr="Jobbery cockatiel mascot"/>
          <p:cNvPicPr/>
          <p:nvPr/>
        </p:nvPicPr>
        <p:blipFill>
          <a:blip r:embed="rId3"/>
          <a:stretch/>
        </p:blipFill>
        <p:spPr>
          <a:xfrm>
            <a:off x="7794720" y="1142640"/>
            <a:ext cx="1226880" cy="1199160"/>
          </a:xfrm>
          <a:prstGeom prst="rect">
            <a:avLst/>
          </a:prstGeom>
          <a:noFill/>
          <a:ln w="0">
            <a:noFill/>
          </a:ln>
        </p:spPr>
      </p:pic>
      <p:sp>
        <p:nvSpPr>
          <p:cNvPr id="216" name="Image 2" descr="Automatic updates panel: the app checks DOSM, Epoch AI and OpenDOSM every day and every hour on DOSM’s release day, and flags a new Anthropic Economic Index version for a person to review"/>
          <p:cNvSpPr/>
          <p:nvPr/>
        </p:nvSpPr>
        <p:spPr>
          <a:xfrm>
            <a:off x="5902200" y="4181040"/>
            <a:ext cx="5473440" cy="2057040"/>
          </a:xfrm>
          <a:prstGeom prst="roundRect">
            <a:avLst>
              <a:gd name="adj" fmla="val 4630"/>
            </a:avLst>
          </a:prstGeom>
          <a:blipFill rotWithShape="0">
            <a:blip r:embed="rId4"/>
            <a:srcRect/>
            <a:stretch/>
          </a:blipFill>
          <a:ln w="12700">
            <a:solidFill>
              <a:srgbClr val="203B2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hasCustomPrompt="1"/>
          </p:nvPr>
        </p:nvSpPr>
        <p:spPr>
          <a:xfrm>
            <a:off x="609840" y="502920"/>
            <a:ext cx="10972440" cy="914040"/>
          </a:xfrm>
          <a:prstGeom prst="rect">
            <a:avLst/>
          </a:prstGeom>
          <a:noFill/>
          <a:ln w="0">
            <a:noFill/>
          </a:ln>
        </p:spPr>
        <p:txBody>
          <a:bodyPr lIns="0" tIns="0" rIns="0" bIns="0" anchor="t">
            <a:noAutofit/>
          </a:bodyPr>
          <a:p>
            <a:pPr indent="0" algn="l" defTabSz="914400">
              <a:lnSpc>
                <a:spcPct val="100000"/>
              </a:lnSpc>
              <a:buNone/>
              <a:tabLst>
                <a:tab pos="0" algn="l"/>
              </a:tabLst>
            </a:pPr>
            <a:r>
              <a:rPr lang="en-US" sz="4000" b="1" u="none" strike="noStrike">
                <a:solidFill>
                  <a:schemeClr val="dk1"/>
                </a:solidFill>
                <a:effectLst/>
                <a:uFillTx/>
                <a:latin typeface="Cambria"/>
                <a:ea typeface="Cambria"/>
              </a:rPr>
              <a:t>Trust: Every Source is Dated and Credible</a:t>
            </a:r>
            <a:endParaRPr lang="en-US" sz="4000" b="0" u="none" strike="noStrike">
              <a:solidFill>
                <a:schemeClr val="dk1"/>
              </a:solidFill>
              <a:effectLst/>
              <a:uFillTx/>
              <a:latin typeface="Calibri"/>
            </a:endParaRPr>
          </a:p>
        </p:txBody>
      </p:sp>
      <p:graphicFrame>
        <p:nvGraphicFramePr>
          <p:cNvPr id="218" name="Sources table"/>
          <p:cNvGraphicFramePr/>
          <p:nvPr/>
        </p:nvGraphicFramePr>
        <p:xfrm>
          <a:off x="609840" y="1508760"/>
          <a:ext cx="10972440" cy="3721320"/>
        </p:xfrm>
        <a:graphic>
          <a:graphicData uri="http://schemas.openxmlformats.org/drawingml/2006/table">
            <a:tbl>
              <a:tblPr/>
              <a:tblGrid>
                <a:gridCol w="2377440"/>
                <a:gridCol w="3474720"/>
                <a:gridCol w="2743200"/>
                <a:gridCol w="2377440"/>
              </a:tblGrid>
              <a:tr h="320040">
                <a:tc>
                  <a:txBody>
                    <a:bodyPr lIns="182880" tIns="0" rIns="137160" bIns="0" anchor="t">
                      <a:noAutofit/>
                    </a:bodyPr>
                    <a:p>
                      <a:pPr defTabSz="914400">
                        <a:lnSpc>
                          <a:spcPct val="100000"/>
                        </a:lnSpc>
                        <a:tabLst>
                          <a:tab pos="0" algn="l"/>
                        </a:tabLst>
                      </a:pPr>
                      <a:r>
                        <a:rPr lang="en-US" sz="1200" b="0" u="none" strike="noStrike">
                          <a:solidFill>
                            <a:srgbClr val="547451"/>
                          </a:solidFill>
                          <a:effectLst/>
                          <a:uFillTx/>
                          <a:latin typeface="Cambria"/>
                          <a:ea typeface="Calibri"/>
                        </a:rPr>
                        <a:t>Source</a:t>
                      </a:r>
                      <a:endParaRPr lang="en-US" sz="1200" b="0" u="none" strike="noStrike">
                        <a:solidFill>
                          <a:srgbClr val="000000"/>
                        </a:solidFill>
                        <a:effectLst/>
                        <a:uFillTx/>
                        <a:latin typeface="Arial"/>
                      </a:endParaRPr>
                    </a:p>
                  </a:txBody>
                  <a:tcPr anchor="t" marL="182880" marR="137160" marT="0" marB="0">
                    <a:lnL>
                      <a:noFill/>
                    </a:lnL>
                    <a:lnR>
                      <a:noFill/>
                    </a:lnR>
                    <a:lnT>
                      <a:noFill/>
                    </a:lnT>
                    <a:lnB>
                      <a:noFill/>
                    </a:lnB>
                    <a:solidFill>
                      <a:srgbClr val="CBE4C6"/>
                    </a:solidFill>
                  </a:tcPr>
                </a:tc>
                <a:tc>
                  <a:txBody>
                    <a:bodyPr lIns="182880" tIns="0" rIns="137160" bIns="0" anchor="t">
                      <a:noAutofit/>
                    </a:bodyPr>
                    <a:p>
                      <a:pPr defTabSz="914400">
                        <a:lnSpc>
                          <a:spcPct val="100000"/>
                        </a:lnSpc>
                        <a:tabLst>
                          <a:tab pos="0" algn="l"/>
                        </a:tabLst>
                      </a:pPr>
                      <a:r>
                        <a:rPr lang="en-US" sz="1200" b="0" u="none" strike="noStrike">
                          <a:solidFill>
                            <a:srgbClr val="547451"/>
                          </a:solidFill>
                          <a:effectLst/>
                          <a:uFillTx/>
                          <a:latin typeface="Cambria"/>
                          <a:ea typeface="Calibri"/>
                        </a:rPr>
                        <a:t>What it feeds</a:t>
                      </a:r>
                      <a:endParaRPr lang="en-US" sz="1200" b="0" u="none" strike="noStrike">
                        <a:solidFill>
                          <a:srgbClr val="000000"/>
                        </a:solidFill>
                        <a:effectLst/>
                        <a:uFillTx/>
                        <a:latin typeface="Arial"/>
                      </a:endParaRPr>
                    </a:p>
                  </a:txBody>
                  <a:tcPr anchor="t" marL="182880" marR="137160" marT="0" marB="0">
                    <a:lnL>
                      <a:noFill/>
                    </a:lnL>
                    <a:lnR>
                      <a:noFill/>
                    </a:lnR>
                    <a:lnT>
                      <a:noFill/>
                    </a:lnT>
                    <a:lnB>
                      <a:noFill/>
                    </a:lnB>
                    <a:solidFill>
                      <a:srgbClr val="CBE4C6"/>
                    </a:solidFill>
                  </a:tcPr>
                </a:tc>
                <a:tc>
                  <a:txBody>
                    <a:bodyPr lIns="182880" tIns="0" rIns="137160" bIns="0" anchor="t">
                      <a:noAutofit/>
                    </a:bodyPr>
                    <a:p>
                      <a:pPr defTabSz="914400">
                        <a:lnSpc>
                          <a:spcPct val="100000"/>
                        </a:lnSpc>
                        <a:tabLst>
                          <a:tab pos="0" algn="l"/>
                        </a:tabLst>
                      </a:pPr>
                      <a:r>
                        <a:rPr lang="en-US" sz="1200" b="0" u="none" strike="noStrike">
                          <a:solidFill>
                            <a:srgbClr val="547451"/>
                          </a:solidFill>
                          <a:effectLst/>
                          <a:uFillTx/>
                          <a:latin typeface="Cambria"/>
                          <a:ea typeface="Calibri"/>
                        </a:rPr>
                        <a:t>Latest release in the app</a:t>
                      </a:r>
                      <a:endParaRPr lang="en-US" sz="1200" b="0" u="none" strike="noStrike">
                        <a:solidFill>
                          <a:srgbClr val="000000"/>
                        </a:solidFill>
                        <a:effectLst/>
                        <a:uFillTx/>
                        <a:latin typeface="Arial"/>
                      </a:endParaRPr>
                    </a:p>
                  </a:txBody>
                  <a:tcPr anchor="t" marL="182880" marR="137160" marT="0" marB="0">
                    <a:lnL>
                      <a:noFill/>
                    </a:lnL>
                    <a:lnR>
                      <a:noFill/>
                    </a:lnR>
                    <a:lnT>
                      <a:noFill/>
                    </a:lnT>
                    <a:lnB>
                      <a:noFill/>
                    </a:lnB>
                    <a:solidFill>
                      <a:srgbClr val="CBE4C6"/>
                    </a:solidFill>
                  </a:tcPr>
                </a:tc>
                <a:tc>
                  <a:txBody>
                    <a:bodyPr lIns="182880" tIns="0" rIns="137160" bIns="0" anchor="t">
                      <a:noAutofit/>
                    </a:bodyPr>
                    <a:p>
                      <a:pPr defTabSz="914400">
                        <a:lnSpc>
                          <a:spcPct val="100000"/>
                        </a:lnSpc>
                        <a:tabLst>
                          <a:tab pos="0" algn="l"/>
                        </a:tabLst>
                      </a:pPr>
                      <a:r>
                        <a:rPr lang="en-US" sz="1200" b="0" u="none" strike="noStrike">
                          <a:solidFill>
                            <a:srgbClr val="547451"/>
                          </a:solidFill>
                          <a:effectLst/>
                          <a:uFillTx/>
                          <a:latin typeface="Cambria"/>
                          <a:ea typeface="Calibri"/>
                        </a:rPr>
                        <a:t>Next</a:t>
                      </a:r>
                      <a:endParaRPr lang="en-US" sz="1200" b="0" u="none" strike="noStrike">
                        <a:solidFill>
                          <a:srgbClr val="000000"/>
                        </a:solidFill>
                        <a:effectLst/>
                        <a:uFillTx/>
                        <a:latin typeface="Arial"/>
                      </a:endParaRPr>
                    </a:p>
                  </a:txBody>
                  <a:tcPr anchor="t" marL="182880" marR="137160" marT="0" marB="0">
                    <a:lnL>
                      <a:noFill/>
                    </a:lnL>
                    <a:lnR>
                      <a:noFill/>
                    </a:lnR>
                    <a:lnT>
                      <a:noFill/>
                    </a:lnT>
                    <a:lnB>
                      <a:noFill/>
                    </a:lnB>
                    <a:solidFill>
                      <a:srgbClr val="CBE4C6"/>
                    </a:solidFill>
                  </a:tcPr>
                </a:tc>
              </a:tr>
              <a:tr h="566640">
                <a:tc>
                  <a:txBody>
                    <a:bodyPr lIns="182880" tIns="0" rIns="137160" bIns="0" anchor="ctr">
                      <a:noAutofit/>
                    </a:bodyPr>
                    <a:p>
                      <a:pPr defTabSz="914400">
                        <a:lnSpc>
                          <a:spcPct val="100000"/>
                        </a:lnSpc>
                        <a:tabLst>
                          <a:tab pos="0" algn="l"/>
                        </a:tabLst>
                      </a:pPr>
                      <a:r>
                        <a:rPr lang="en-US" sz="1600" b="1" u="none" strike="noStrike">
                          <a:solidFill>
                            <a:srgbClr val="203B2B"/>
                          </a:solidFill>
                          <a:effectLst/>
                          <a:uFillTx/>
                          <a:latin typeface="Cambria"/>
                          <a:ea typeface="Calibri"/>
                        </a:rPr>
                        <a:t>ILO</a:t>
                      </a:r>
                      <a:endParaRPr lang="en-US" sz="1600" b="0" u="none" strike="noStrike">
                        <a:solidFill>
                          <a:srgbClr val="000000"/>
                        </a:solidFill>
                        <a:effectLst/>
                        <a:uFillTx/>
                        <a:latin typeface="Arial"/>
                      </a:endParaRPr>
                    </a:p>
                  </a:txBody>
                  <a:tcPr anchor="ctr" marL="182880" marR="137160" marT="0" marB="0">
                    <a:lnL>
                      <a:noFill/>
                    </a:lnL>
                    <a:lnR>
                      <a:noFill/>
                    </a:lnR>
                    <a:lnT>
                      <a:noFill/>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How much of each job generative AI could do</a:t>
                      </a:r>
                      <a:endParaRPr lang="en-US" sz="1400" b="0" u="none" strike="noStrike">
                        <a:solidFill>
                          <a:srgbClr val="000000"/>
                        </a:solidFill>
                        <a:effectLst/>
                        <a:uFillTx/>
                        <a:latin typeface="Arial"/>
                      </a:endParaRPr>
                    </a:p>
                  </a:txBody>
                  <a:tcPr anchor="ctr" marL="182880" marR="137160" marT="0" marB="0">
                    <a:lnL>
                      <a:noFill/>
                    </a:lnL>
                    <a:lnR>
                      <a:noFill/>
                    </a:lnR>
                    <a:lnT>
                      <a:noFill/>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1" u="none" strike="noStrike">
                          <a:solidFill>
                            <a:srgbClr val="203B2B"/>
                          </a:solidFill>
                          <a:effectLst/>
                          <a:uFillTx/>
                          <a:latin typeface="Cambria"/>
                          <a:ea typeface="Calibri"/>
                        </a:rPr>
                        <a:t>2025 exposure scores (WP 140)</a:t>
                      </a:r>
                      <a:endParaRPr lang="en-US" sz="1400" b="0" u="none" strike="noStrike">
                        <a:solidFill>
                          <a:srgbClr val="000000"/>
                        </a:solidFill>
                        <a:effectLst/>
                        <a:uFillTx/>
                        <a:latin typeface="Arial"/>
                      </a:endParaRPr>
                    </a:p>
                  </a:txBody>
                  <a:tcPr anchor="ctr" marL="182880" marR="137160" marT="0" marB="0">
                    <a:lnL>
                      <a:noFill/>
                    </a:lnL>
                    <a:lnR>
                      <a:noFill/>
                    </a:lnR>
                    <a:lnT>
                      <a:noFill/>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Next edition</a:t>
                      </a:r>
                      <a:endParaRPr lang="en-US" sz="1400" b="0" u="none" strike="noStrike">
                        <a:solidFill>
                          <a:srgbClr val="000000"/>
                        </a:solidFill>
                        <a:effectLst/>
                        <a:uFillTx/>
                        <a:latin typeface="Arial"/>
                      </a:endParaRPr>
                    </a:p>
                  </a:txBody>
                  <a:tcPr anchor="ctr" marL="182880" marR="137160" marT="0" marB="0">
                    <a:lnL>
                      <a:noFill/>
                    </a:lnL>
                    <a:lnR>
                      <a:noFill/>
                    </a:lnR>
                    <a:lnT>
                      <a:noFill/>
                    </a:lnT>
                    <a:lnB w="63360">
                      <a:solidFill>
                        <a:srgbClr val="CBE4C6"/>
                      </a:solidFill>
                      <a:prstDash val="solid"/>
                    </a:lnB>
                    <a:solidFill>
                      <a:srgbClr val="FFFDF8"/>
                    </a:solidFill>
                  </a:tcPr>
                </a:tc>
              </a:tr>
              <a:tr h="566640">
                <a:tc>
                  <a:txBody>
                    <a:bodyPr lIns="182880" tIns="0" rIns="137160" bIns="0" anchor="ctr">
                      <a:noAutofit/>
                    </a:bodyPr>
                    <a:p>
                      <a:pPr defTabSz="914400">
                        <a:lnSpc>
                          <a:spcPct val="100000"/>
                        </a:lnSpc>
                        <a:tabLst>
                          <a:tab pos="0" algn="l"/>
                        </a:tabLst>
                      </a:pPr>
                      <a:r>
                        <a:rPr lang="en-US" sz="1600" b="1" u="none" strike="noStrike">
                          <a:solidFill>
                            <a:srgbClr val="203B2B"/>
                          </a:solidFill>
                          <a:effectLst/>
                          <a:uFillTx/>
                          <a:latin typeface="Cambria"/>
                          <a:ea typeface="Calibri"/>
                        </a:rPr>
                        <a:t>Anthropic Economic Index</a:t>
                      </a:r>
                      <a:endParaRPr lang="en-US" sz="16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Which Economic Tasks are Performed by AI</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1" u="none" strike="noStrike">
                          <a:solidFill>
                            <a:srgbClr val="203B2B"/>
                          </a:solidFill>
                          <a:effectLst/>
                          <a:uFillTx/>
                          <a:latin typeface="Cambria"/>
                          <a:ea typeface="Calibri"/>
                        </a:rPr>
                        <a:t>Release of 10 Feb 2025</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Newer release queued</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r>
              <a:tr h="566640">
                <a:tc>
                  <a:txBody>
                    <a:bodyPr lIns="182880" tIns="0" rIns="137160" bIns="0" anchor="ctr">
                      <a:noAutofit/>
                    </a:bodyPr>
                    <a:p>
                      <a:pPr defTabSz="914400">
                        <a:lnSpc>
                          <a:spcPct val="100000"/>
                        </a:lnSpc>
                        <a:tabLst>
                          <a:tab pos="0" algn="l"/>
                        </a:tabLst>
                      </a:pPr>
                      <a:r>
                        <a:rPr lang="en-US" sz="1600" b="1" u="none" strike="noStrike">
                          <a:solidFill>
                            <a:srgbClr val="203B2B"/>
                          </a:solidFill>
                          <a:effectLst/>
                          <a:uFillTx/>
                          <a:latin typeface="Cambria"/>
                          <a:ea typeface="Calibri"/>
                        </a:rPr>
                        <a:t>METR / Epoch AI</a:t>
                      </a:r>
                      <a:endParaRPr lang="en-US" sz="16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How fast AI is improving</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1" u="none" strike="noStrike">
                          <a:solidFill>
                            <a:srgbClr val="203B2B"/>
                          </a:solidFill>
                          <a:effectLst/>
                          <a:uFillTx/>
                          <a:latin typeface="Cambria"/>
                          <a:ea typeface="Calibri"/>
                        </a:rPr>
                        <a:t>Models to 15 Oct 2026</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Jan 2027</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r>
              <a:tr h="566640">
                <a:tc>
                  <a:txBody>
                    <a:bodyPr lIns="182880" tIns="0" rIns="137160" bIns="0" anchor="ctr">
                      <a:noAutofit/>
                    </a:bodyPr>
                    <a:p>
                      <a:pPr defTabSz="914400">
                        <a:lnSpc>
                          <a:spcPct val="100000"/>
                        </a:lnSpc>
                        <a:tabLst>
                          <a:tab pos="0" algn="l"/>
                        </a:tabLst>
                      </a:pPr>
                      <a:r>
                        <a:rPr lang="en-US" sz="1600" b="1" u="none" strike="noStrike">
                          <a:solidFill>
                            <a:srgbClr val="203B2B"/>
                          </a:solidFill>
                          <a:effectLst/>
                          <a:uFillTx/>
                          <a:latin typeface="Cambria"/>
                          <a:ea typeface="Calibri"/>
                        </a:rPr>
                        <a:t>DOSM</a:t>
                      </a:r>
                      <a:endParaRPr lang="en-US" sz="16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Job ads by occupation, every quarter</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1" u="none" strike="noStrike">
                          <a:solidFill>
                            <a:srgbClr val="203B2B"/>
                          </a:solidFill>
                          <a:effectLst/>
                          <a:uFillTx/>
                          <a:latin typeface="Cambria"/>
                          <a:ea typeface="Calibri"/>
                        </a:rPr>
                        <a:t>2026 Q2, published 18 Aug 2026</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17 Nov 2026</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r>
              <a:tr h="566640">
                <a:tc>
                  <a:txBody>
                    <a:bodyPr lIns="182880" tIns="0" rIns="137160" bIns="0" anchor="ctr">
                      <a:noAutofit/>
                    </a:bodyPr>
                    <a:p>
                      <a:pPr defTabSz="914400">
                        <a:lnSpc>
                          <a:spcPct val="100000"/>
                        </a:lnSpc>
                        <a:tabLst>
                          <a:tab pos="0" algn="l"/>
                        </a:tabLst>
                      </a:pPr>
                      <a:r>
                        <a:rPr lang="en-US" sz="1600" b="1" u="none" strike="noStrike">
                          <a:solidFill>
                            <a:srgbClr val="203B2B"/>
                          </a:solidFill>
                          <a:effectLst/>
                          <a:uFillTx/>
                          <a:latin typeface="Cambria"/>
                          <a:ea typeface="Calibri"/>
                        </a:rPr>
                        <a:t>MyCOL</a:t>
                      </a:r>
                      <a:endParaRPr lang="en-US" sz="16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Hard-to-fill occupations in Malaysia</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1" u="none" strike="noStrike">
                          <a:solidFill>
                            <a:srgbClr val="203B2B"/>
                          </a:solidFill>
                          <a:effectLst/>
                          <a:uFillTx/>
                          <a:latin typeface="Cambria"/>
                          <a:ea typeface="Calibri"/>
                        </a:rPr>
                        <a:t>2024/2025 list</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Queued, not loaded yet</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r>
              <a:tr h="566640">
                <a:tc>
                  <a:txBody>
                    <a:bodyPr lIns="182880" tIns="0" rIns="137160" bIns="0" anchor="ctr">
                      <a:noAutofit/>
                    </a:bodyPr>
                    <a:p>
                      <a:pPr defTabSz="914400">
                        <a:lnSpc>
                          <a:spcPct val="100000"/>
                        </a:lnSpc>
                        <a:tabLst>
                          <a:tab pos="0" algn="l"/>
                        </a:tabLst>
                      </a:pPr>
                      <a:r>
                        <a:rPr lang="en-US" sz="1600" b="1" u="none" strike="noStrike">
                          <a:solidFill>
                            <a:srgbClr val="203B2B"/>
                          </a:solidFill>
                          <a:effectLst/>
                          <a:uFillTx/>
                          <a:latin typeface="Cambria"/>
                          <a:ea typeface="Calibri"/>
                        </a:rPr>
                        <a:t>O*NET</a:t>
                      </a:r>
                      <a:endParaRPr lang="en-US" sz="16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Role codes and task lists for 89 roles</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1" u="none" strike="noStrike">
                          <a:solidFill>
                            <a:srgbClr val="203B2B"/>
                          </a:solidFill>
                          <a:effectLst/>
                          <a:uFillTx/>
                          <a:latin typeface="Cambria"/>
                          <a:ea typeface="Calibri"/>
                        </a:rPr>
                        <a:t>As bundled in the Feb 2025 Index</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c>
                  <a:txBody>
                    <a:bodyPr lIns="182880" tIns="0" rIns="137160" bIns="0" anchor="ctr">
                      <a:noAutofit/>
                    </a:bodyPr>
                    <a:p>
                      <a:pPr defTabSz="914400">
                        <a:lnSpc>
                          <a:spcPct val="100000"/>
                        </a:lnSpc>
                        <a:tabLst>
                          <a:tab pos="0" algn="l"/>
                        </a:tabLst>
                      </a:pPr>
                      <a:r>
                        <a:rPr lang="en-US" sz="1400" b="0" u="none" strike="noStrike">
                          <a:solidFill>
                            <a:srgbClr val="203B2B"/>
                          </a:solidFill>
                          <a:effectLst/>
                          <a:uFillTx/>
                          <a:latin typeface="Cambria"/>
                          <a:ea typeface="Calibri"/>
                        </a:rPr>
                        <a:t>With the next Index</a:t>
                      </a:r>
                      <a:endParaRPr lang="en-US" sz="1400" b="0" u="none" strike="noStrike">
                        <a:solidFill>
                          <a:srgbClr val="000000"/>
                        </a:solidFill>
                        <a:effectLst/>
                        <a:uFillTx/>
                        <a:latin typeface="Arial"/>
                      </a:endParaRPr>
                    </a:p>
                  </a:txBody>
                  <a:tcPr anchor="ctr" marL="182880" marR="137160" marT="0" marB="0">
                    <a:lnL>
                      <a:noFill/>
                    </a:lnL>
                    <a:lnR>
                      <a:noFill/>
                    </a:lnR>
                    <a:lnT w="63360">
                      <a:solidFill>
                        <a:srgbClr val="CBE4C6"/>
                      </a:solidFill>
                      <a:prstDash val="solid"/>
                    </a:lnT>
                    <a:lnB w="63360">
                      <a:solidFill>
                        <a:srgbClr val="CBE4C6"/>
                      </a:solidFill>
                      <a:prstDash val="solid"/>
                    </a:lnB>
                    <a:solidFill>
                      <a:srgbClr val="FFFDF8"/>
                    </a:solidFill>
                  </a:tcPr>
                </a:tc>
              </a:tr>
            </a:tbl>
          </a:graphicData>
        </a:graphic>
      </p:graphicFrame>
      <p:sp>
        <p:nvSpPr>
          <p:cNvPr id="219" name="One command pill shape"/>
          <p:cNvSpPr/>
          <p:nvPr/>
        </p:nvSpPr>
        <p:spPr>
          <a:xfrm>
            <a:off x="609840" y="5760720"/>
            <a:ext cx="1737000" cy="456840"/>
          </a:xfrm>
          <a:prstGeom prst="roundRect">
            <a:avLst>
              <a:gd name="adj" fmla="val 50000"/>
            </a:avLst>
          </a:prstGeom>
          <a:solidFill>
            <a:schemeClr val="accent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0" name="One command pill"/>
          <p:cNvSpPr/>
          <p:nvPr/>
        </p:nvSpPr>
        <p:spPr>
          <a:xfrm>
            <a:off x="609840" y="5760720"/>
            <a:ext cx="173700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chemeClr val="lt1"/>
                </a:solidFill>
                <a:effectLst/>
                <a:uFillTx/>
                <a:latin typeface="Cambria"/>
                <a:ea typeface="Calibri"/>
              </a:rPr>
              <a:t>One command</a:t>
            </a:r>
            <a:endParaRPr lang="en-US" sz="1500" b="0" u="none" strike="noStrike">
              <a:solidFill>
                <a:srgbClr val="000000"/>
              </a:solidFill>
              <a:effectLst/>
              <a:uFillTx/>
              <a:latin typeface="Arial"/>
            </a:endParaRPr>
          </a:p>
        </p:txBody>
      </p:sp>
      <p:sp>
        <p:nvSpPr>
          <p:cNvPr id="221" name="Update note"/>
          <p:cNvSpPr/>
          <p:nvPr/>
        </p:nvSpPr>
        <p:spPr>
          <a:xfrm>
            <a:off x="2575800" y="5669280"/>
            <a:ext cx="90064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mbria"/>
                <a:ea typeface="Calibri"/>
              </a:rPr>
              <a:t>Drop in the next workbook and run the build. Open questions settle, the futures re-weight, and every plan recomputes.</a:t>
            </a:r>
            <a:endParaRPr lang="en-US" sz="1600" b="0" u="none" strike="noStrike">
              <a:solidFill>
                <a:srgbClr val="000000"/>
              </a:solidFill>
              <a:effectLst/>
              <a:uFillTx/>
              <a:latin typeface="Arial"/>
            </a:endParaRPr>
          </a:p>
        </p:txBody>
      </p:sp>
      <p:pic>
        <p:nvPicPr>
          <p:cNvPr id="222" name="Worker mascot" descr="Jobbery cockatiel mascot"/>
          <p:cNvPicPr/>
          <p:nvPr/>
        </p:nvPicPr>
        <p:blipFill>
          <a:blip r:embed="rId1"/>
          <a:stretch/>
        </p:blipFill>
        <p:spPr>
          <a:xfrm>
            <a:off x="1190160" y="4743360"/>
            <a:ext cx="1156680" cy="115668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609840" y="502920"/>
            <a:ext cx="10972080" cy="913680"/>
          </a:xfrm>
          <a:prstGeom prst="rect">
            <a:avLst/>
          </a:prstGeom>
          <a:noFill/>
          <a:ln w="0">
            <a:noFill/>
          </a:ln>
        </p:spPr>
        <p:txBody>
          <a:bodyPr lIns="0" tIns="0" rIns="0" bIns="0" anchor="t">
            <a:noAutofit/>
          </a:bodyPr>
          <a:p>
            <a:pPr indent="0" algn="l" defTabSz="914400">
              <a:lnSpc>
                <a:spcPct val="100000"/>
              </a:lnSpc>
              <a:buNone/>
              <a:tabLst>
                <a:tab pos="0" algn="l"/>
              </a:tabLst>
            </a:pPr>
            <a:r>
              <a:rPr lang="en-US" sz="3600" b="0" u="none" strike="noStrike">
                <a:solidFill>
                  <a:schemeClr val="dk1"/>
                </a:solidFill>
                <a:effectLst/>
                <a:uFillTx/>
                <a:latin typeface="Cambria"/>
                <a:ea typeface="Cambria"/>
              </a:rPr>
              <a:t>Tech stack</a:t>
            </a:r>
            <a:endParaRPr lang="en-US" sz="3600" b="0" u="none" strike="noStrike">
              <a:solidFill>
                <a:schemeClr val="dk1"/>
              </a:solidFill>
              <a:effectLst/>
              <a:uFillTx/>
              <a:latin typeface="Calibri"/>
            </a:endParaRPr>
          </a:p>
        </p:txBody>
      </p:sp>
      <p:sp>
        <p:nvSpPr>
          <p:cNvPr id="224" name="Frontend row 2"/>
          <p:cNvSpPr/>
          <p:nvPr/>
        </p:nvSpPr>
        <p:spPr>
          <a:xfrm>
            <a:off x="609840" y="1600200"/>
            <a:ext cx="10972080" cy="1462320"/>
          </a:xfrm>
          <a:prstGeom prst="roundRect">
            <a:avLst>
              <a:gd name="adj" fmla="val 17500"/>
            </a:avLst>
          </a:prstGeom>
          <a:solidFill>
            <a:schemeClr val="bg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5" name="Frontend heading 2"/>
          <p:cNvSpPr/>
          <p:nvPr/>
        </p:nvSpPr>
        <p:spPr>
          <a:xfrm>
            <a:off x="1021320" y="1600200"/>
            <a:ext cx="2102400" cy="146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u="none" strike="noStrike">
                <a:solidFill>
                  <a:schemeClr val="dk1"/>
                </a:solidFill>
                <a:effectLst/>
                <a:uFillTx/>
                <a:latin typeface="Cambria"/>
                <a:ea typeface="Cambria"/>
              </a:rPr>
              <a:t>Frontend</a:t>
            </a:r>
            <a:endParaRPr lang="en-US" sz="2600" b="0" u="none" strike="noStrike">
              <a:solidFill>
                <a:srgbClr val="000000"/>
              </a:solidFill>
              <a:effectLst/>
              <a:uFillTx/>
              <a:latin typeface="Arial"/>
            </a:endParaRPr>
          </a:p>
        </p:txBody>
      </p:sp>
      <p:sp>
        <p:nvSpPr>
          <p:cNvPr id="226" name="Next.js tile 2"/>
          <p:cNvSpPr/>
          <p:nvPr/>
        </p:nvSpPr>
        <p:spPr>
          <a:xfrm>
            <a:off x="3353040" y="1737360"/>
            <a:ext cx="1462320" cy="1188000"/>
          </a:xfrm>
          <a:prstGeom prst="roundRect">
            <a:avLst>
              <a:gd name="adj" fmla="val 15385"/>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27" name="Next.js logo 2" descr="Next.js logo"/>
          <p:cNvPicPr/>
          <p:nvPr/>
        </p:nvPicPr>
        <p:blipFill>
          <a:blip r:embed="rId1"/>
          <a:stretch/>
        </p:blipFill>
        <p:spPr>
          <a:xfrm>
            <a:off x="3855960" y="1874520"/>
            <a:ext cx="456480" cy="456480"/>
          </a:xfrm>
          <a:prstGeom prst="rect">
            <a:avLst/>
          </a:prstGeom>
          <a:noFill/>
          <a:ln w="0">
            <a:noFill/>
          </a:ln>
        </p:spPr>
      </p:pic>
      <p:sp>
        <p:nvSpPr>
          <p:cNvPr id="228" name="Next.js name 2"/>
          <p:cNvSpPr/>
          <p:nvPr/>
        </p:nvSpPr>
        <p:spPr>
          <a:xfrm>
            <a:off x="3398760" y="2423160"/>
            <a:ext cx="13708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ea typeface="Calibri"/>
              </a:rPr>
              <a:t>Next.js</a:t>
            </a:r>
            <a:endParaRPr lang="en-US" sz="1300" b="0" u="none" strike="noStrike">
              <a:solidFill>
                <a:srgbClr val="000000"/>
              </a:solidFill>
              <a:effectLst/>
              <a:uFillTx/>
              <a:latin typeface="Arial"/>
            </a:endParaRPr>
          </a:p>
        </p:txBody>
      </p:sp>
      <p:sp>
        <p:nvSpPr>
          <p:cNvPr id="229" name="React tile 2"/>
          <p:cNvSpPr/>
          <p:nvPr/>
        </p:nvSpPr>
        <p:spPr>
          <a:xfrm>
            <a:off x="4944240" y="1737360"/>
            <a:ext cx="1462320" cy="1188000"/>
          </a:xfrm>
          <a:prstGeom prst="roundRect">
            <a:avLst>
              <a:gd name="adj" fmla="val 15385"/>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30" name="React logo 2" descr="React logo"/>
          <p:cNvPicPr/>
          <p:nvPr/>
        </p:nvPicPr>
        <p:blipFill>
          <a:blip r:embed="rId2"/>
          <a:stretch/>
        </p:blipFill>
        <p:spPr>
          <a:xfrm>
            <a:off x="5447160" y="1874520"/>
            <a:ext cx="456480" cy="456480"/>
          </a:xfrm>
          <a:prstGeom prst="rect">
            <a:avLst/>
          </a:prstGeom>
          <a:noFill/>
          <a:ln w="0">
            <a:noFill/>
          </a:ln>
        </p:spPr>
      </p:pic>
      <p:sp>
        <p:nvSpPr>
          <p:cNvPr id="231" name="React name 2"/>
          <p:cNvSpPr/>
          <p:nvPr/>
        </p:nvSpPr>
        <p:spPr>
          <a:xfrm>
            <a:off x="4989960" y="2423160"/>
            <a:ext cx="13708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ea typeface="Calibri"/>
              </a:rPr>
              <a:t>React</a:t>
            </a:r>
            <a:endParaRPr lang="en-US" sz="1300" b="0" u="none" strike="noStrike">
              <a:solidFill>
                <a:srgbClr val="000000"/>
              </a:solidFill>
              <a:effectLst/>
              <a:uFillTx/>
              <a:latin typeface="Arial"/>
            </a:endParaRPr>
          </a:p>
        </p:txBody>
      </p:sp>
      <p:sp>
        <p:nvSpPr>
          <p:cNvPr id="232" name="TypeScript tile 2"/>
          <p:cNvSpPr/>
          <p:nvPr/>
        </p:nvSpPr>
        <p:spPr>
          <a:xfrm>
            <a:off x="6535080" y="1737360"/>
            <a:ext cx="1462320" cy="1188000"/>
          </a:xfrm>
          <a:prstGeom prst="roundRect">
            <a:avLst>
              <a:gd name="adj" fmla="val 15385"/>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33" name="TypeScript logo 2" descr="TypeScript logo"/>
          <p:cNvPicPr/>
          <p:nvPr/>
        </p:nvPicPr>
        <p:blipFill>
          <a:blip r:embed="rId3"/>
          <a:stretch/>
        </p:blipFill>
        <p:spPr>
          <a:xfrm>
            <a:off x="7038000" y="1874520"/>
            <a:ext cx="456480" cy="456480"/>
          </a:xfrm>
          <a:prstGeom prst="rect">
            <a:avLst/>
          </a:prstGeom>
          <a:noFill/>
          <a:ln w="0">
            <a:noFill/>
          </a:ln>
        </p:spPr>
      </p:pic>
      <p:sp>
        <p:nvSpPr>
          <p:cNvPr id="234" name="TypeScript name 2"/>
          <p:cNvSpPr/>
          <p:nvPr/>
        </p:nvSpPr>
        <p:spPr>
          <a:xfrm>
            <a:off x="6580800" y="2423160"/>
            <a:ext cx="13708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ea typeface="Calibri"/>
              </a:rPr>
              <a:t>TypeScript</a:t>
            </a:r>
            <a:endParaRPr lang="en-US" sz="1300" b="0" u="none" strike="noStrike">
              <a:solidFill>
                <a:srgbClr val="000000"/>
              </a:solidFill>
              <a:effectLst/>
              <a:uFillTx/>
              <a:latin typeface="Arial"/>
            </a:endParaRPr>
          </a:p>
        </p:txBody>
      </p:sp>
      <p:sp>
        <p:nvSpPr>
          <p:cNvPr id="235" name="Tailwind CSS tile 2"/>
          <p:cNvSpPr/>
          <p:nvPr/>
        </p:nvSpPr>
        <p:spPr>
          <a:xfrm>
            <a:off x="8126280" y="1737360"/>
            <a:ext cx="1462320" cy="1188000"/>
          </a:xfrm>
          <a:prstGeom prst="roundRect">
            <a:avLst>
              <a:gd name="adj" fmla="val 15385"/>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36" name="Tailwind CSS logo 2" descr="Tailwind CSS logo"/>
          <p:cNvPicPr/>
          <p:nvPr/>
        </p:nvPicPr>
        <p:blipFill>
          <a:blip r:embed="rId4"/>
          <a:stretch/>
        </p:blipFill>
        <p:spPr>
          <a:xfrm>
            <a:off x="8629200" y="1874520"/>
            <a:ext cx="456480" cy="456480"/>
          </a:xfrm>
          <a:prstGeom prst="rect">
            <a:avLst/>
          </a:prstGeom>
          <a:noFill/>
          <a:ln w="0">
            <a:noFill/>
          </a:ln>
        </p:spPr>
      </p:pic>
      <p:sp>
        <p:nvSpPr>
          <p:cNvPr id="237" name="Tailwind CSS name 2"/>
          <p:cNvSpPr/>
          <p:nvPr/>
        </p:nvSpPr>
        <p:spPr>
          <a:xfrm>
            <a:off x="8172000" y="2423160"/>
            <a:ext cx="13708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ea typeface="Calibri"/>
              </a:rPr>
              <a:t>Tailwind CSS</a:t>
            </a:r>
            <a:endParaRPr lang="en-US" sz="1300" b="0" u="none" strike="noStrike">
              <a:solidFill>
                <a:srgbClr val="000000"/>
              </a:solidFill>
              <a:effectLst/>
              <a:uFillTx/>
              <a:latin typeface="Arial"/>
            </a:endParaRPr>
          </a:p>
        </p:txBody>
      </p:sp>
      <p:sp>
        <p:nvSpPr>
          <p:cNvPr id="238" name="Framer Motion tile 2"/>
          <p:cNvSpPr/>
          <p:nvPr/>
        </p:nvSpPr>
        <p:spPr>
          <a:xfrm>
            <a:off x="9717480" y="1737360"/>
            <a:ext cx="1462320" cy="1188000"/>
          </a:xfrm>
          <a:prstGeom prst="roundRect">
            <a:avLst>
              <a:gd name="adj" fmla="val 15385"/>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39" name="Framer Motion logo 2" descr="Framer Motion logo"/>
          <p:cNvPicPr/>
          <p:nvPr/>
        </p:nvPicPr>
        <p:blipFill>
          <a:blip r:embed="rId5"/>
          <a:stretch/>
        </p:blipFill>
        <p:spPr>
          <a:xfrm>
            <a:off x="10220400" y="1874520"/>
            <a:ext cx="456480" cy="456480"/>
          </a:xfrm>
          <a:prstGeom prst="rect">
            <a:avLst/>
          </a:prstGeom>
          <a:noFill/>
          <a:ln w="0">
            <a:noFill/>
          </a:ln>
        </p:spPr>
      </p:pic>
      <p:sp>
        <p:nvSpPr>
          <p:cNvPr id="240" name="Framer Motion name 2"/>
          <p:cNvSpPr/>
          <p:nvPr/>
        </p:nvSpPr>
        <p:spPr>
          <a:xfrm>
            <a:off x="9763200" y="2423160"/>
            <a:ext cx="13708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ea typeface="Calibri"/>
              </a:rPr>
              <a:t>Framer Motion</a:t>
            </a:r>
            <a:endParaRPr lang="en-US" sz="1300" b="0" u="none" strike="noStrike">
              <a:solidFill>
                <a:srgbClr val="000000"/>
              </a:solidFill>
              <a:effectLst/>
              <a:uFillTx/>
              <a:latin typeface="Arial"/>
            </a:endParaRPr>
          </a:p>
        </p:txBody>
      </p:sp>
      <p:sp>
        <p:nvSpPr>
          <p:cNvPr id="241" name="LLM API row 2"/>
          <p:cNvSpPr/>
          <p:nvPr/>
        </p:nvSpPr>
        <p:spPr>
          <a:xfrm>
            <a:off x="609840" y="3246120"/>
            <a:ext cx="10972080" cy="1462320"/>
          </a:xfrm>
          <a:prstGeom prst="roundRect">
            <a:avLst>
              <a:gd name="adj" fmla="val 17500"/>
            </a:avLst>
          </a:prstGeom>
          <a:solidFill>
            <a:schemeClr val="accent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2" name="LLM API heading 2"/>
          <p:cNvSpPr/>
          <p:nvPr/>
        </p:nvSpPr>
        <p:spPr>
          <a:xfrm>
            <a:off x="1021320" y="3246120"/>
            <a:ext cx="2102400" cy="146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u="none" strike="noStrike">
                <a:solidFill>
                  <a:schemeClr val="dk1"/>
                </a:solidFill>
                <a:effectLst/>
                <a:uFillTx/>
                <a:latin typeface="Cambria"/>
                <a:ea typeface="Cambria"/>
              </a:rPr>
              <a:t>LLM API</a:t>
            </a:r>
            <a:endParaRPr lang="en-US" sz="2600" b="0" u="none" strike="noStrike">
              <a:solidFill>
                <a:srgbClr val="000000"/>
              </a:solidFill>
              <a:effectLst/>
              <a:uFillTx/>
              <a:latin typeface="Arial"/>
            </a:endParaRPr>
          </a:p>
        </p:txBody>
      </p:sp>
      <p:sp>
        <p:nvSpPr>
          <p:cNvPr id="243" name="Groq tile 2"/>
          <p:cNvSpPr/>
          <p:nvPr/>
        </p:nvSpPr>
        <p:spPr>
          <a:xfrm>
            <a:off x="3353040" y="3383280"/>
            <a:ext cx="1462320" cy="1188000"/>
          </a:xfrm>
          <a:prstGeom prst="roundRect">
            <a:avLst>
              <a:gd name="adj" fmla="val 15385"/>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44" name="Groq logo 2" descr="Groq logo"/>
          <p:cNvPicPr/>
          <p:nvPr/>
        </p:nvPicPr>
        <p:blipFill>
          <a:blip r:embed="rId6"/>
          <a:stretch/>
        </p:blipFill>
        <p:spPr>
          <a:xfrm>
            <a:off x="3855960" y="3520440"/>
            <a:ext cx="456480" cy="456480"/>
          </a:xfrm>
          <a:prstGeom prst="rect">
            <a:avLst/>
          </a:prstGeom>
          <a:noFill/>
          <a:ln w="0">
            <a:noFill/>
          </a:ln>
        </p:spPr>
      </p:pic>
      <p:sp>
        <p:nvSpPr>
          <p:cNvPr id="245" name="Groq name 2"/>
          <p:cNvSpPr/>
          <p:nvPr/>
        </p:nvSpPr>
        <p:spPr>
          <a:xfrm>
            <a:off x="3398760" y="4069080"/>
            <a:ext cx="13708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ea typeface="Calibri"/>
              </a:rPr>
              <a:t>Groq</a:t>
            </a:r>
            <a:endParaRPr lang="en-US" sz="1300" b="0" u="none" strike="noStrike">
              <a:solidFill>
                <a:srgbClr val="000000"/>
              </a:solidFill>
              <a:effectLst/>
              <a:uFillTx/>
              <a:latin typeface="Arial"/>
            </a:endParaRPr>
          </a:p>
        </p:txBody>
      </p:sp>
      <p:sp>
        <p:nvSpPr>
          <p:cNvPr id="246" name="Backend row 2"/>
          <p:cNvSpPr/>
          <p:nvPr/>
        </p:nvSpPr>
        <p:spPr>
          <a:xfrm>
            <a:off x="609840" y="4892040"/>
            <a:ext cx="10972080" cy="1462320"/>
          </a:xfrm>
          <a:prstGeom prst="roundRect">
            <a:avLst>
              <a:gd name="adj" fmla="val 17500"/>
            </a:avLst>
          </a:prstGeom>
          <a:solidFill>
            <a:schemeClr val="accent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7" name="Backend heading 2"/>
          <p:cNvSpPr/>
          <p:nvPr/>
        </p:nvSpPr>
        <p:spPr>
          <a:xfrm>
            <a:off x="1021320" y="4892040"/>
            <a:ext cx="2102400" cy="146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u="none" strike="noStrike">
                <a:solidFill>
                  <a:schemeClr val="dk1"/>
                </a:solidFill>
                <a:effectLst/>
                <a:uFillTx/>
                <a:latin typeface="Cambria"/>
                <a:ea typeface="Cambria"/>
              </a:rPr>
              <a:t>Backend</a:t>
            </a:r>
            <a:endParaRPr lang="en-US" sz="2600" b="0" u="none" strike="noStrike">
              <a:solidFill>
                <a:srgbClr val="000000"/>
              </a:solidFill>
              <a:effectLst/>
              <a:uFillTx/>
              <a:latin typeface="Arial"/>
            </a:endParaRPr>
          </a:p>
        </p:txBody>
      </p:sp>
      <p:sp>
        <p:nvSpPr>
          <p:cNvPr id="248" name="Node.js tile 2"/>
          <p:cNvSpPr/>
          <p:nvPr/>
        </p:nvSpPr>
        <p:spPr>
          <a:xfrm>
            <a:off x="3353040" y="5029200"/>
            <a:ext cx="1462320" cy="1188000"/>
          </a:xfrm>
          <a:prstGeom prst="roundRect">
            <a:avLst>
              <a:gd name="adj" fmla="val 15385"/>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49" name="Node.js logo 2" descr="Node.js logo"/>
          <p:cNvPicPr/>
          <p:nvPr/>
        </p:nvPicPr>
        <p:blipFill>
          <a:blip r:embed="rId7"/>
          <a:stretch/>
        </p:blipFill>
        <p:spPr>
          <a:xfrm>
            <a:off x="3855960" y="5166360"/>
            <a:ext cx="456480" cy="456480"/>
          </a:xfrm>
          <a:prstGeom prst="rect">
            <a:avLst/>
          </a:prstGeom>
          <a:noFill/>
          <a:ln w="0">
            <a:noFill/>
          </a:ln>
        </p:spPr>
      </p:pic>
      <p:sp>
        <p:nvSpPr>
          <p:cNvPr id="250" name="Node.js name 2"/>
          <p:cNvSpPr/>
          <p:nvPr/>
        </p:nvSpPr>
        <p:spPr>
          <a:xfrm>
            <a:off x="3398760" y="5715000"/>
            <a:ext cx="13708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ea typeface="Calibri"/>
              </a:rPr>
              <a:t>Node.js</a:t>
            </a:r>
            <a:endParaRPr lang="en-US" sz="1300" b="0" u="none" strike="noStrike">
              <a:solidFill>
                <a:srgbClr val="000000"/>
              </a:solidFill>
              <a:effectLst/>
              <a:uFillTx/>
              <a:latin typeface="Arial"/>
            </a:endParaRPr>
          </a:p>
        </p:txBody>
      </p:sp>
      <p:sp>
        <p:nvSpPr>
          <p:cNvPr id="251" name="PostgreSQL tile 2"/>
          <p:cNvSpPr/>
          <p:nvPr/>
        </p:nvSpPr>
        <p:spPr>
          <a:xfrm>
            <a:off x="4944240" y="5029200"/>
            <a:ext cx="1462320" cy="1188000"/>
          </a:xfrm>
          <a:prstGeom prst="roundRect">
            <a:avLst>
              <a:gd name="adj" fmla="val 15385"/>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52" name="PostgreSQL logo 2" descr="PostgreSQL logo"/>
          <p:cNvPicPr/>
          <p:nvPr/>
        </p:nvPicPr>
        <p:blipFill>
          <a:blip r:embed="rId8"/>
          <a:stretch/>
        </p:blipFill>
        <p:spPr>
          <a:xfrm>
            <a:off x="5447160" y="5166360"/>
            <a:ext cx="456480" cy="456480"/>
          </a:xfrm>
          <a:prstGeom prst="rect">
            <a:avLst/>
          </a:prstGeom>
          <a:noFill/>
          <a:ln w="0">
            <a:noFill/>
          </a:ln>
        </p:spPr>
      </p:pic>
      <p:sp>
        <p:nvSpPr>
          <p:cNvPr id="253" name="PostgreSQL name 2"/>
          <p:cNvSpPr/>
          <p:nvPr/>
        </p:nvSpPr>
        <p:spPr>
          <a:xfrm>
            <a:off x="4989960" y="5715000"/>
            <a:ext cx="13708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ea typeface="Calibri"/>
              </a:rPr>
              <a:t>PostgreSQL</a:t>
            </a:r>
            <a:endParaRPr lang="en-US" sz="1300" b="0" u="none" strike="noStrike">
              <a:solidFill>
                <a:srgbClr val="000000"/>
              </a:solidFill>
              <a:effectLst/>
              <a:uFillTx/>
              <a:latin typeface="Arial"/>
            </a:endParaRPr>
          </a:p>
        </p:txBody>
      </p:sp>
      <p:sp>
        <p:nvSpPr>
          <p:cNvPr id="254" name="SQLite tile 2"/>
          <p:cNvSpPr/>
          <p:nvPr/>
        </p:nvSpPr>
        <p:spPr>
          <a:xfrm>
            <a:off x="6535080" y="5029200"/>
            <a:ext cx="1462320" cy="1188000"/>
          </a:xfrm>
          <a:prstGeom prst="roundRect">
            <a:avLst>
              <a:gd name="adj" fmla="val 15385"/>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55" name="SQLite logo 2" descr="SQLite logo"/>
          <p:cNvPicPr/>
          <p:nvPr/>
        </p:nvPicPr>
        <p:blipFill>
          <a:blip r:embed="rId9"/>
          <a:stretch/>
        </p:blipFill>
        <p:spPr>
          <a:xfrm>
            <a:off x="7038000" y="5166360"/>
            <a:ext cx="456480" cy="456480"/>
          </a:xfrm>
          <a:prstGeom prst="rect">
            <a:avLst/>
          </a:prstGeom>
          <a:noFill/>
          <a:ln w="0">
            <a:noFill/>
          </a:ln>
        </p:spPr>
      </p:pic>
      <p:sp>
        <p:nvSpPr>
          <p:cNvPr id="256" name="SQLite name 2"/>
          <p:cNvSpPr/>
          <p:nvPr/>
        </p:nvSpPr>
        <p:spPr>
          <a:xfrm>
            <a:off x="6580800" y="5715000"/>
            <a:ext cx="13708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ea typeface="Calibri"/>
              </a:rPr>
              <a:t>SQLite</a:t>
            </a:r>
            <a:endParaRPr lang="en-US" sz="1300" b="0" u="none" strike="noStrike">
              <a:solidFill>
                <a:srgbClr val="000000"/>
              </a:solidFill>
              <a:effectLst/>
              <a:uFillTx/>
              <a:latin typeface="Arial"/>
            </a:endParaRPr>
          </a:p>
        </p:txBody>
      </p:sp>
      <p:sp>
        <p:nvSpPr>
          <p:cNvPr id="257" name="TextBox 2"/>
          <p:cNvSpPr/>
          <p:nvPr/>
        </p:nvSpPr>
        <p:spPr>
          <a:xfrm>
            <a:off x="6537600" y="424800"/>
            <a:ext cx="5096520" cy="643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800" b="0" u="none" strike="noStrike">
                <a:solidFill>
                  <a:schemeClr val="dk1"/>
                </a:solidFill>
                <a:effectLst/>
                <a:uFillTx/>
                <a:latin typeface="Calibri"/>
              </a:rPr>
              <a:t>GitHub:</a:t>
            </a:r>
            <a:endParaRPr lang="en-US" sz="1800" b="0" u="none" strike="noStrike">
              <a:solidFill>
                <a:srgbClr val="000000"/>
              </a:solidFill>
              <a:effectLst/>
              <a:uFillTx/>
              <a:latin typeface="Arial"/>
            </a:endParaRPr>
          </a:p>
          <a:p>
            <a:pPr defTabSz="914400">
              <a:lnSpc>
                <a:spcPct val="100000"/>
              </a:lnSpc>
            </a:pPr>
            <a:r>
              <a:rPr lang="en-US" sz="1800" b="0" u="sng" strike="noStrike">
                <a:solidFill>
                  <a:schemeClr val="dk1"/>
                </a:solidFill>
                <a:effectLst/>
                <a:uFillTx/>
                <a:latin typeface="Calibri"/>
                <a:hlinkClick r:id="rId10"/>
              </a:rPr>
              <a:t>https://github.com/yabgzichien/SDCHack-slaynergy</a:t>
            </a:r>
            <a:endParaRPr lang="en-US" sz="1800" b="0" u="none" strike="noStrike">
              <a:solidFill>
                <a:srgbClr val="000000"/>
              </a:solidFill>
              <a:effectLst/>
              <a:uFillTx/>
              <a:latin typeface="Arial"/>
            </a:endParaRPr>
          </a:p>
        </p:txBody>
      </p:sp>
      <p:pic>
        <p:nvPicPr>
          <p:cNvPr id="258" name="Picture 2"/>
          <p:cNvPicPr/>
          <p:nvPr/>
        </p:nvPicPr>
        <p:blipFill>
          <a:blip r:embed="rId11"/>
          <a:stretch/>
        </p:blipFill>
        <p:spPr>
          <a:xfrm>
            <a:off x="5934600" y="424800"/>
            <a:ext cx="645840" cy="64584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hasCustomPrompt="1"/>
          </p:nvPr>
        </p:nvSpPr>
        <p:spPr>
          <a:xfrm>
            <a:off x="609840" y="502920"/>
            <a:ext cx="10972440" cy="914040"/>
          </a:xfrm>
          <a:prstGeom prst="rect">
            <a:avLst/>
          </a:prstGeom>
          <a:noFill/>
          <a:ln w="0">
            <a:noFill/>
          </a:ln>
        </p:spPr>
        <p:txBody>
          <a:bodyPr lIns="0" tIns="0" rIns="0" bIns="0" anchor="t">
            <a:noAutofit/>
          </a:bodyPr>
          <a:p>
            <a:pPr indent="0" algn="l" defTabSz="914400">
              <a:lnSpc>
                <a:spcPct val="100000"/>
              </a:lnSpc>
              <a:buNone/>
              <a:tabLst>
                <a:tab pos="0" algn="l"/>
              </a:tabLst>
            </a:pPr>
            <a:r>
              <a:rPr lang="en-US" sz="4000" b="1" u="none" strike="noStrike">
                <a:solidFill>
                  <a:schemeClr val="lt1"/>
                </a:solidFill>
                <a:effectLst/>
                <a:uFillTx/>
                <a:latin typeface="Cambria"/>
                <a:ea typeface="Cambria"/>
              </a:rPr>
              <a:t>Trust: People Stay in Control at Every Step</a:t>
            </a:r>
            <a:endParaRPr lang="en-US" sz="4000" b="0" u="none" strike="noStrike">
              <a:solidFill>
                <a:schemeClr val="dk1"/>
              </a:solidFill>
              <a:effectLst/>
              <a:uFillTx/>
              <a:latin typeface="Calibri"/>
            </a:endParaRPr>
          </a:p>
        </p:txBody>
      </p:sp>
      <p:sp>
        <p:nvSpPr>
          <p:cNvPr id="260" name="You choose your path card"/>
          <p:cNvSpPr/>
          <p:nvPr/>
        </p:nvSpPr>
        <p:spPr>
          <a:xfrm>
            <a:off x="609840" y="1600200"/>
            <a:ext cx="5394600" cy="2239920"/>
          </a:xfrm>
          <a:prstGeom prst="roundRect">
            <a:avLst>
              <a:gd name="adj" fmla="val 11429"/>
            </a:avLst>
          </a:prstGeom>
          <a:solidFill>
            <a:schemeClr val="bg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1" name="You choose your path heading"/>
          <p:cNvSpPr/>
          <p:nvPr/>
        </p:nvSpPr>
        <p:spPr>
          <a:xfrm>
            <a:off x="975600" y="1828800"/>
            <a:ext cx="46630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chemeClr val="dk1"/>
                </a:solidFill>
                <a:effectLst/>
                <a:uFillTx/>
                <a:latin typeface="Cambria"/>
                <a:ea typeface="Cambria"/>
              </a:rPr>
              <a:t>You choose your path</a:t>
            </a:r>
            <a:endParaRPr lang="en-US" sz="2400" b="0" u="none" strike="noStrike">
              <a:solidFill>
                <a:srgbClr val="FFFFFF"/>
              </a:solidFill>
              <a:effectLst/>
              <a:uFillTx/>
              <a:latin typeface="Arial"/>
            </a:endParaRPr>
          </a:p>
        </p:txBody>
      </p:sp>
      <p:sp>
        <p:nvSpPr>
          <p:cNvPr id="262" name="You choose your path detail"/>
          <p:cNvSpPr/>
          <p:nvPr/>
        </p:nvSpPr>
        <p:spPr>
          <a:xfrm>
            <a:off x="975600" y="2258640"/>
            <a:ext cx="466308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00" b="0" u="none" strike="noStrike">
                <a:solidFill>
                  <a:schemeClr val="dk1"/>
                </a:solidFill>
                <a:effectLst/>
                <a:uFillTx/>
                <a:latin typeface="Cambria"/>
              </a:rPr>
              <a:t>Jobbery ranks opportunities and provides personalised recommendations for your next career move</a:t>
            </a:r>
            <a:r>
              <a:rPr lang="en-US" sz="1600" b="0" u="none" strike="noStrike">
                <a:solidFill>
                  <a:schemeClr val="dk1"/>
                </a:solidFill>
                <a:effectLst/>
                <a:uFillTx/>
                <a:latin typeface="Cambria"/>
                <a:ea typeface="Calibri"/>
              </a:rPr>
              <a:t>. Style the courses, weigh your options, and choose the future you want.</a:t>
            </a:r>
            <a:endParaRPr lang="en-US" sz="1600" b="0" u="none" strike="noStrike">
              <a:solidFill>
                <a:srgbClr val="FFFFFF"/>
              </a:solidFill>
              <a:effectLst/>
              <a:uFillTx/>
              <a:latin typeface="Arial"/>
            </a:endParaRPr>
          </a:p>
        </p:txBody>
      </p:sp>
      <p:sp>
        <p:nvSpPr>
          <p:cNvPr id="263" name="You choose your path tag shape"/>
          <p:cNvSpPr/>
          <p:nvPr/>
        </p:nvSpPr>
        <p:spPr>
          <a:xfrm>
            <a:off x="975600" y="3310200"/>
            <a:ext cx="1147320" cy="347040"/>
          </a:xfrm>
          <a:prstGeom prst="roundRect">
            <a:avLst>
              <a:gd name="adj" fmla="val 50000"/>
            </a:avLst>
          </a:prstGeom>
          <a:solidFill>
            <a:schemeClr val="accent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4" name="You choose your path tag"/>
          <p:cNvSpPr/>
          <p:nvPr/>
        </p:nvSpPr>
        <p:spPr>
          <a:xfrm>
            <a:off x="975600" y="3310200"/>
            <a:ext cx="114732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ea typeface="Calibri"/>
              </a:rPr>
              <a:t>Your call</a:t>
            </a:r>
            <a:endParaRPr lang="en-US" sz="1200" b="0" u="none" strike="noStrike">
              <a:solidFill>
                <a:srgbClr val="FFFFFF"/>
              </a:solidFill>
              <a:effectLst/>
              <a:uFillTx/>
              <a:latin typeface="Arial"/>
            </a:endParaRPr>
          </a:p>
        </p:txBody>
      </p:sp>
      <p:sp>
        <p:nvSpPr>
          <p:cNvPr id="265" name="An advisor, on your terms card"/>
          <p:cNvSpPr/>
          <p:nvPr/>
        </p:nvSpPr>
        <p:spPr>
          <a:xfrm>
            <a:off x="6187680" y="1600200"/>
            <a:ext cx="5394600" cy="2239920"/>
          </a:xfrm>
          <a:prstGeom prst="roundRect">
            <a:avLst>
              <a:gd name="adj" fmla="val 11429"/>
            </a:avLst>
          </a:prstGeom>
          <a:solidFill>
            <a:schemeClr val="bg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6" name="An advisor, on your terms heading"/>
          <p:cNvSpPr/>
          <p:nvPr/>
        </p:nvSpPr>
        <p:spPr>
          <a:xfrm>
            <a:off x="6553440" y="1828800"/>
            <a:ext cx="46630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chemeClr val="dk1"/>
                </a:solidFill>
                <a:effectLst/>
                <a:uFillTx/>
                <a:latin typeface="Cambria"/>
                <a:ea typeface="Cambria"/>
              </a:rPr>
              <a:t>An advisor, on your terms</a:t>
            </a:r>
            <a:endParaRPr lang="en-US" sz="2400" b="0" u="none" strike="noStrike">
              <a:solidFill>
                <a:srgbClr val="FFFFFF"/>
              </a:solidFill>
              <a:effectLst/>
              <a:uFillTx/>
              <a:latin typeface="Arial"/>
            </a:endParaRPr>
          </a:p>
        </p:txBody>
      </p:sp>
      <p:sp>
        <p:nvSpPr>
          <p:cNvPr id="267" name="An advisor, on your terms detail"/>
          <p:cNvSpPr/>
          <p:nvPr/>
        </p:nvSpPr>
        <p:spPr>
          <a:xfrm>
            <a:off x="6553440" y="2377440"/>
            <a:ext cx="466308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mbria"/>
                <a:ea typeface="Calibri"/>
              </a:rPr>
              <a:t>Book a 30-minute meeting anytime. The advisors are present to help you reach your learning goals and career success.</a:t>
            </a:r>
            <a:endParaRPr lang="en-US" sz="1600" b="0" u="none" strike="noStrike">
              <a:solidFill>
                <a:srgbClr val="FFFFFF"/>
              </a:solidFill>
              <a:effectLst/>
              <a:uFillTx/>
              <a:latin typeface="Arial"/>
            </a:endParaRPr>
          </a:p>
        </p:txBody>
      </p:sp>
      <p:sp>
        <p:nvSpPr>
          <p:cNvPr id="268" name="An advisor, on your terms tag shape"/>
          <p:cNvSpPr/>
          <p:nvPr/>
        </p:nvSpPr>
        <p:spPr>
          <a:xfrm>
            <a:off x="6553440" y="3310200"/>
            <a:ext cx="1668600" cy="347040"/>
          </a:xfrm>
          <a:prstGeom prst="roundRect">
            <a:avLst>
              <a:gd name="adj" fmla="val 50000"/>
            </a:avLst>
          </a:prstGeom>
          <a:solidFill>
            <a:schemeClr val="accent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9" name="An advisor, on your terms tag"/>
          <p:cNvSpPr/>
          <p:nvPr/>
        </p:nvSpPr>
        <p:spPr>
          <a:xfrm>
            <a:off x="6553440" y="3310200"/>
            <a:ext cx="166860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ea typeface="Calibri"/>
              </a:rPr>
              <a:t>30-minute slots</a:t>
            </a:r>
            <a:endParaRPr lang="en-US" sz="1200" b="0" u="none" strike="noStrike">
              <a:solidFill>
                <a:srgbClr val="FFFFFF"/>
              </a:solidFill>
              <a:effectLst/>
              <a:uFillTx/>
              <a:latin typeface="Arial"/>
            </a:endParaRPr>
          </a:p>
        </p:txBody>
      </p:sp>
      <p:sp>
        <p:nvSpPr>
          <p:cNvPr id="270" name="Résumés are never stored card"/>
          <p:cNvSpPr/>
          <p:nvPr/>
        </p:nvSpPr>
        <p:spPr>
          <a:xfrm>
            <a:off x="609840" y="4023360"/>
            <a:ext cx="5394600" cy="2239920"/>
          </a:xfrm>
          <a:prstGeom prst="roundRect">
            <a:avLst>
              <a:gd name="adj" fmla="val 11429"/>
            </a:avLst>
          </a:prstGeom>
          <a:solidFill>
            <a:schemeClr val="bg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1" name="Résumés are never stored heading"/>
          <p:cNvSpPr/>
          <p:nvPr/>
        </p:nvSpPr>
        <p:spPr>
          <a:xfrm>
            <a:off x="975600" y="4251960"/>
            <a:ext cx="46630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chemeClr val="dk1"/>
                </a:solidFill>
                <a:effectLst/>
                <a:uFillTx/>
                <a:latin typeface="Cambria"/>
                <a:ea typeface="Cambria"/>
              </a:rPr>
              <a:t>Résumés are never stored</a:t>
            </a:r>
            <a:endParaRPr lang="en-US" sz="2400" b="0" u="none" strike="noStrike">
              <a:solidFill>
                <a:srgbClr val="FFFFFF"/>
              </a:solidFill>
              <a:effectLst/>
              <a:uFillTx/>
              <a:latin typeface="Arial"/>
            </a:endParaRPr>
          </a:p>
        </p:txBody>
      </p:sp>
      <p:sp>
        <p:nvSpPr>
          <p:cNvPr id="272" name="Résumés are never stored detail"/>
          <p:cNvSpPr/>
          <p:nvPr/>
        </p:nvSpPr>
        <p:spPr>
          <a:xfrm>
            <a:off x="975600" y="4800600"/>
            <a:ext cx="466308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00" b="0" u="none" strike="noStrike">
                <a:solidFill>
                  <a:schemeClr val="dk1"/>
                </a:solidFill>
                <a:effectLst/>
                <a:uFillTx/>
                <a:latin typeface="Cambria"/>
                <a:ea typeface="Calibri"/>
              </a:rPr>
              <a:t>Trust us to keep your information private. We keep only the score and the skills you confirm.</a:t>
            </a:r>
            <a:endParaRPr lang="en-US" sz="1600" b="0" u="none" strike="noStrike">
              <a:solidFill>
                <a:srgbClr val="FFFFFF"/>
              </a:solidFill>
              <a:effectLst/>
              <a:uFillTx/>
              <a:latin typeface="Arial"/>
            </a:endParaRPr>
          </a:p>
        </p:txBody>
      </p:sp>
      <p:sp>
        <p:nvSpPr>
          <p:cNvPr id="273" name="Résumés are never stored tag shape"/>
          <p:cNvSpPr/>
          <p:nvPr/>
        </p:nvSpPr>
        <p:spPr>
          <a:xfrm>
            <a:off x="975600" y="5733360"/>
            <a:ext cx="1320840" cy="347040"/>
          </a:xfrm>
          <a:prstGeom prst="roundRect">
            <a:avLst>
              <a:gd name="adj" fmla="val 50000"/>
            </a:avLst>
          </a:prstGeom>
          <a:solidFill>
            <a:schemeClr val="accent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4" name="Résumés are never stored tag"/>
          <p:cNvSpPr/>
          <p:nvPr/>
        </p:nvSpPr>
        <p:spPr>
          <a:xfrm>
            <a:off x="975600" y="5733360"/>
            <a:ext cx="13208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ea typeface="Calibri"/>
              </a:rPr>
              <a:t>Never saved</a:t>
            </a:r>
            <a:endParaRPr lang="en-US" sz="1200" b="0" u="none" strike="noStrike">
              <a:solidFill>
                <a:srgbClr val="FFFFFF"/>
              </a:solidFill>
              <a:effectLst/>
              <a:uFillTx/>
              <a:latin typeface="Arial"/>
            </a:endParaRPr>
          </a:p>
        </p:txBody>
      </p:sp>
      <p:sp>
        <p:nvSpPr>
          <p:cNvPr id="275" name="Fair by test card"/>
          <p:cNvSpPr/>
          <p:nvPr/>
        </p:nvSpPr>
        <p:spPr>
          <a:xfrm>
            <a:off x="6187680" y="4023360"/>
            <a:ext cx="5394600" cy="2239920"/>
          </a:xfrm>
          <a:prstGeom prst="roundRect">
            <a:avLst>
              <a:gd name="adj" fmla="val 11429"/>
            </a:avLst>
          </a:prstGeom>
          <a:solidFill>
            <a:schemeClr val="accent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6" name="Fair by test heading"/>
          <p:cNvSpPr/>
          <p:nvPr/>
        </p:nvSpPr>
        <p:spPr>
          <a:xfrm>
            <a:off x="6553440" y="4251960"/>
            <a:ext cx="46630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chemeClr val="dk1"/>
                </a:solidFill>
                <a:effectLst/>
                <a:uFillTx/>
                <a:latin typeface="Cambria"/>
                <a:ea typeface="Cambria"/>
              </a:rPr>
              <a:t>Fair by test</a:t>
            </a:r>
            <a:endParaRPr lang="en-US" sz="2400" b="0" u="none" strike="noStrike">
              <a:solidFill>
                <a:srgbClr val="FFFFFF"/>
              </a:solidFill>
              <a:effectLst/>
              <a:uFillTx/>
              <a:latin typeface="Arial"/>
            </a:endParaRPr>
          </a:p>
        </p:txBody>
      </p:sp>
      <p:sp>
        <p:nvSpPr>
          <p:cNvPr id="277" name="Fair by test detail"/>
          <p:cNvSpPr/>
          <p:nvPr/>
        </p:nvSpPr>
        <p:spPr>
          <a:xfrm>
            <a:off x="6553440" y="4800600"/>
            <a:ext cx="466308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mbria"/>
                <a:ea typeface="Calibri"/>
              </a:rPr>
              <a:t>Age, gender and background are not requested inputs. We match jobs to you based on skill compatibility alone.</a:t>
            </a:r>
            <a:endParaRPr lang="en-US" sz="1600" b="0" u="none" strike="noStrike">
              <a:solidFill>
                <a:srgbClr val="FFFFFF"/>
              </a:solidFill>
              <a:effectLst/>
              <a:uFillTx/>
              <a:latin typeface="Arial"/>
            </a:endParaRPr>
          </a:p>
        </p:txBody>
      </p:sp>
      <p:sp>
        <p:nvSpPr>
          <p:cNvPr id="278" name="Fair by test tag shape"/>
          <p:cNvSpPr/>
          <p:nvPr/>
        </p:nvSpPr>
        <p:spPr>
          <a:xfrm>
            <a:off x="6553440" y="5733360"/>
            <a:ext cx="2016000" cy="347040"/>
          </a:xfrm>
          <a:prstGeom prst="roundRect">
            <a:avLst>
              <a:gd name="adj" fmla="val 50000"/>
            </a:avLst>
          </a:prstGeom>
          <a:solidFill>
            <a:schemeClr val="tx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9" name="Fair by test tag"/>
          <p:cNvSpPr/>
          <p:nvPr/>
        </p:nvSpPr>
        <p:spPr>
          <a:xfrm>
            <a:off x="6553440" y="5733360"/>
            <a:ext cx="201600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ea typeface="Calibri"/>
              </a:rPr>
              <a:t>Tested on every run</a:t>
            </a:r>
            <a:endParaRPr lang="en-US" sz="1200" b="0" u="none" strike="noStrike">
              <a:solidFill>
                <a:srgbClr val="FFFFFF"/>
              </a:solidFill>
              <a:effectLst/>
              <a:uFillTx/>
              <a:latin typeface="Arial"/>
            </a:endParaRPr>
          </a:p>
        </p:txBody>
      </p:sp>
      <p:pic>
        <p:nvPicPr>
          <p:cNvPr id="280" name="Advisor mascot" descr="Jobbery cockatiel mascot"/>
          <p:cNvPicPr/>
          <p:nvPr/>
        </p:nvPicPr>
        <p:blipFill>
          <a:blip r:embed="rId1"/>
          <a:stretch/>
        </p:blipFill>
        <p:spPr>
          <a:xfrm>
            <a:off x="-95040" y="5481000"/>
            <a:ext cx="1226880" cy="119916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hasCustomPrompt="1"/>
          </p:nvPr>
        </p:nvSpPr>
        <p:spPr>
          <a:xfrm>
            <a:off x="609840" y="502920"/>
            <a:ext cx="10972440" cy="914040"/>
          </a:xfrm>
          <a:prstGeom prst="rect">
            <a:avLst/>
          </a:prstGeom>
          <a:noFill/>
          <a:ln w="0">
            <a:noFill/>
          </a:ln>
        </p:spPr>
        <p:txBody>
          <a:bodyPr lIns="0" tIns="0" rIns="0" bIns="0" anchor="t">
            <a:noAutofit/>
          </a:bodyPr>
          <a:p>
            <a:pPr indent="0" algn="l" defTabSz="914400">
              <a:lnSpc>
                <a:spcPct val="100000"/>
              </a:lnSpc>
              <a:buNone/>
              <a:tabLst>
                <a:tab pos="0" algn="l"/>
              </a:tabLst>
            </a:pPr>
            <a:r>
              <a:rPr lang="en-US" sz="3900" b="1" u="none" strike="noStrike">
                <a:solidFill>
                  <a:schemeClr val="dk1"/>
                </a:solidFill>
                <a:effectLst/>
                <a:uFillTx/>
                <a:latin typeface="Cambria"/>
                <a:ea typeface="Cambria"/>
              </a:rPr>
              <a:t>The link to UN’s Sustainable Development Goals</a:t>
            </a:r>
            <a:endParaRPr lang="en-US" sz="3900" b="0" u="none" strike="noStrike">
              <a:solidFill>
                <a:schemeClr val="dk1"/>
              </a:solidFill>
              <a:effectLst/>
              <a:uFillTx/>
              <a:latin typeface="Calibri"/>
            </a:endParaRPr>
          </a:p>
        </p:txBody>
      </p:sp>
      <p:sp>
        <p:nvSpPr>
          <p:cNvPr id="282" name="SDG 4 tile"/>
          <p:cNvSpPr/>
          <p:nvPr/>
        </p:nvSpPr>
        <p:spPr>
          <a:xfrm>
            <a:off x="554760" y="1417320"/>
            <a:ext cx="1919880" cy="1828440"/>
          </a:xfrm>
          <a:prstGeom prst="roundRect">
            <a:avLst>
              <a:gd name="adj" fmla="val 11000"/>
            </a:avLst>
          </a:prstGeom>
          <a:solidFill>
            <a:srgbClr val="C5192D"/>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3" name="SDG 4 number"/>
          <p:cNvSpPr/>
          <p:nvPr/>
        </p:nvSpPr>
        <p:spPr>
          <a:xfrm>
            <a:off x="737640" y="1508760"/>
            <a:ext cx="155412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500" b="1" u="none" strike="noStrike">
                <a:solidFill>
                  <a:srgbClr val="FFFFFF"/>
                </a:solidFill>
                <a:effectLst/>
                <a:uFillTx/>
                <a:latin typeface="Cambria"/>
                <a:ea typeface="Calibri"/>
              </a:rPr>
              <a:t>SDG 4</a:t>
            </a:r>
            <a:endParaRPr lang="en-US" sz="3500" b="0" u="none" strike="noStrike">
              <a:solidFill>
                <a:srgbClr val="000000"/>
              </a:solidFill>
              <a:effectLst/>
              <a:uFillTx/>
              <a:latin typeface="Arial"/>
            </a:endParaRPr>
          </a:p>
        </p:txBody>
      </p:sp>
      <p:sp>
        <p:nvSpPr>
          <p:cNvPr id="284" name="SDG 4 label"/>
          <p:cNvSpPr/>
          <p:nvPr/>
        </p:nvSpPr>
        <p:spPr>
          <a:xfrm>
            <a:off x="737640" y="2171880"/>
            <a:ext cx="169128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201"/>
              </a:spcAft>
              <a:tabLst>
                <a:tab pos="0" algn="l"/>
              </a:tabLst>
            </a:pPr>
            <a:r>
              <a:rPr lang="en-US" sz="1400" b="1" u="none" strike="noStrike">
                <a:solidFill>
                  <a:srgbClr val="FFFFFF"/>
                </a:solidFill>
                <a:effectLst/>
                <a:uFillTx/>
                <a:latin typeface="Cambria"/>
                <a:ea typeface="Calibri"/>
              </a:rPr>
              <a:t>Quality education</a:t>
            </a:r>
            <a:endParaRPr lang="en-US" sz="1400" b="0" u="none" strike="noStrike">
              <a:solidFill>
                <a:srgbClr val="000000"/>
              </a:solidFill>
              <a:effectLst/>
              <a:uFillTx/>
              <a:latin typeface="Arial"/>
            </a:endParaRPr>
          </a:p>
          <a:p>
            <a:pPr defTabSz="914400">
              <a:lnSpc>
                <a:spcPct val="100000"/>
              </a:lnSpc>
              <a:spcAft>
                <a:spcPts val="201"/>
              </a:spcAft>
              <a:tabLst>
                <a:tab pos="0" algn="l"/>
              </a:tabLst>
            </a:pPr>
            <a:r>
              <a:rPr lang="en-US" sz="1200" b="0" u="none" strike="noStrike">
                <a:solidFill>
                  <a:srgbClr val="FFFFFF"/>
                </a:solidFill>
                <a:effectLst/>
                <a:uFillTx/>
                <a:latin typeface="Cambria"/>
                <a:ea typeface="Calibri"/>
              </a:rPr>
              <a:t>4.4 Increase the number of people with relevant skills for financial success</a:t>
            </a:r>
            <a:endParaRPr lang="en-US" sz="1200" b="0" u="none" strike="noStrike">
              <a:solidFill>
                <a:srgbClr val="000000"/>
              </a:solidFill>
              <a:effectLst/>
              <a:uFillTx/>
              <a:latin typeface="Arial"/>
            </a:endParaRPr>
          </a:p>
        </p:txBody>
      </p:sp>
      <p:sp>
        <p:nvSpPr>
          <p:cNvPr id="285" name="SDG 8 tile"/>
          <p:cNvSpPr/>
          <p:nvPr/>
        </p:nvSpPr>
        <p:spPr>
          <a:xfrm>
            <a:off x="4597920" y="1387080"/>
            <a:ext cx="1919880" cy="1828440"/>
          </a:xfrm>
          <a:prstGeom prst="roundRect">
            <a:avLst>
              <a:gd name="adj" fmla="val 11000"/>
            </a:avLst>
          </a:prstGeom>
          <a:solidFill>
            <a:srgbClr val="A21942"/>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6" name="SDG 8 number"/>
          <p:cNvSpPr/>
          <p:nvPr/>
        </p:nvSpPr>
        <p:spPr>
          <a:xfrm>
            <a:off x="4780800" y="1478520"/>
            <a:ext cx="155412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500" b="1" u="none" strike="noStrike">
                <a:solidFill>
                  <a:srgbClr val="FFFFFF"/>
                </a:solidFill>
                <a:effectLst/>
                <a:uFillTx/>
                <a:latin typeface="Cambria"/>
                <a:ea typeface="Calibri"/>
              </a:rPr>
              <a:t>SDG 8</a:t>
            </a:r>
            <a:endParaRPr lang="en-US" sz="3500" b="0" u="none" strike="noStrike">
              <a:solidFill>
                <a:srgbClr val="000000"/>
              </a:solidFill>
              <a:effectLst/>
              <a:uFillTx/>
              <a:latin typeface="Arial"/>
            </a:endParaRPr>
          </a:p>
        </p:txBody>
      </p:sp>
      <p:sp>
        <p:nvSpPr>
          <p:cNvPr id="287" name="SDG 8 label"/>
          <p:cNvSpPr/>
          <p:nvPr/>
        </p:nvSpPr>
        <p:spPr>
          <a:xfrm>
            <a:off x="4768200" y="2173680"/>
            <a:ext cx="169128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201"/>
              </a:spcAft>
              <a:tabLst>
                <a:tab pos="0" algn="l"/>
              </a:tabLst>
            </a:pPr>
            <a:r>
              <a:rPr lang="en-US" sz="1400" b="1" u="none" strike="noStrike">
                <a:solidFill>
                  <a:srgbClr val="FFFFFF"/>
                </a:solidFill>
                <a:effectLst/>
                <a:uFillTx/>
                <a:latin typeface="Cambria"/>
                <a:ea typeface="Calibri"/>
              </a:rPr>
              <a:t>Decent work</a:t>
            </a:r>
            <a:endParaRPr lang="en-US" sz="1400" b="0" u="none" strike="noStrike">
              <a:solidFill>
                <a:srgbClr val="000000"/>
              </a:solidFill>
              <a:effectLst/>
              <a:uFillTx/>
              <a:latin typeface="Arial"/>
            </a:endParaRPr>
          </a:p>
          <a:p>
            <a:pPr defTabSz="914400">
              <a:lnSpc>
                <a:spcPct val="100000"/>
              </a:lnSpc>
              <a:spcAft>
                <a:spcPts val="201"/>
              </a:spcAft>
              <a:tabLst>
                <a:tab pos="0" algn="l"/>
              </a:tabLst>
            </a:pPr>
            <a:r>
              <a:rPr lang="en-US" sz="1200" b="0" u="none" strike="noStrike">
                <a:solidFill>
                  <a:srgbClr val="FFFFFF"/>
                </a:solidFill>
                <a:effectLst/>
                <a:uFillTx/>
                <a:latin typeface="Cambria"/>
                <a:ea typeface="Calibri"/>
              </a:rPr>
              <a:t>8.5 Full employment and decent work with equal pay</a:t>
            </a:r>
            <a:endParaRPr lang="en-US" sz="1200" b="0" u="none" strike="noStrike">
              <a:solidFill>
                <a:srgbClr val="000000"/>
              </a:solidFill>
              <a:effectLst/>
              <a:uFillTx/>
              <a:latin typeface="Arial"/>
            </a:endParaRPr>
          </a:p>
        </p:txBody>
      </p:sp>
      <p:sp>
        <p:nvSpPr>
          <p:cNvPr id="288" name="SDG 10 tile"/>
          <p:cNvSpPr/>
          <p:nvPr/>
        </p:nvSpPr>
        <p:spPr>
          <a:xfrm>
            <a:off x="6619680" y="1387080"/>
            <a:ext cx="1919880" cy="1828440"/>
          </a:xfrm>
          <a:prstGeom prst="roundRect">
            <a:avLst>
              <a:gd name="adj" fmla="val 11000"/>
            </a:avLst>
          </a:prstGeom>
          <a:solidFill>
            <a:srgbClr val="FD6925"/>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9" name="SDG 10 number"/>
          <p:cNvSpPr/>
          <p:nvPr/>
        </p:nvSpPr>
        <p:spPr>
          <a:xfrm>
            <a:off x="6802560" y="1478520"/>
            <a:ext cx="155412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500" b="1" u="none" strike="noStrike">
                <a:solidFill>
                  <a:srgbClr val="FFFFFF"/>
                </a:solidFill>
                <a:effectLst/>
                <a:uFillTx/>
                <a:latin typeface="Cambria"/>
                <a:ea typeface="Calibri"/>
              </a:rPr>
              <a:t>SDG 9</a:t>
            </a:r>
            <a:endParaRPr lang="en-US" sz="3500" b="0" u="none" strike="noStrike">
              <a:solidFill>
                <a:srgbClr val="000000"/>
              </a:solidFill>
              <a:effectLst/>
              <a:uFillTx/>
              <a:latin typeface="Arial"/>
            </a:endParaRPr>
          </a:p>
        </p:txBody>
      </p:sp>
      <p:sp>
        <p:nvSpPr>
          <p:cNvPr id="290" name="SDG 10 label"/>
          <p:cNvSpPr/>
          <p:nvPr/>
        </p:nvSpPr>
        <p:spPr>
          <a:xfrm>
            <a:off x="6802560" y="2151360"/>
            <a:ext cx="173700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201"/>
              </a:spcAft>
              <a:tabLst>
                <a:tab pos="0" algn="l"/>
              </a:tabLst>
            </a:pPr>
            <a:r>
              <a:rPr lang="en-US" sz="1400" b="1" u="none" strike="noStrike">
                <a:solidFill>
                  <a:srgbClr val="FFFFFF"/>
                </a:solidFill>
                <a:effectLst/>
                <a:uFillTx/>
                <a:latin typeface="Cambria"/>
                <a:ea typeface="Calibri"/>
              </a:rPr>
              <a:t>Industry, innovation and infrastructure</a:t>
            </a:r>
            <a:endParaRPr lang="en-US" sz="1400" b="0" u="none" strike="noStrike">
              <a:solidFill>
                <a:srgbClr val="000000"/>
              </a:solidFill>
              <a:effectLst/>
              <a:uFillTx/>
              <a:latin typeface="Arial"/>
            </a:endParaRPr>
          </a:p>
          <a:p>
            <a:pPr defTabSz="914400">
              <a:lnSpc>
                <a:spcPct val="100000"/>
              </a:lnSpc>
              <a:spcAft>
                <a:spcPts val="201"/>
              </a:spcAft>
              <a:tabLst>
                <a:tab pos="0" algn="l"/>
              </a:tabLst>
            </a:pPr>
            <a:r>
              <a:rPr lang="en-US" sz="1200" b="0" u="none" strike="noStrike">
                <a:solidFill>
                  <a:srgbClr val="FFFFFF"/>
                </a:solidFill>
                <a:effectLst/>
                <a:uFillTx/>
                <a:latin typeface="Cambria"/>
                <a:ea typeface="Calibri"/>
              </a:rPr>
              <a:t>9.2 Promote inclusive and sustainable industrialisation</a:t>
            </a:r>
            <a:endParaRPr lang="en-US" sz="1200" b="0" u="none" strike="noStrike">
              <a:solidFill>
                <a:srgbClr val="000000"/>
              </a:solidFill>
              <a:effectLst/>
              <a:uFillTx/>
              <a:latin typeface="Arial"/>
            </a:endParaRPr>
          </a:p>
        </p:txBody>
      </p:sp>
      <p:pic>
        <p:nvPicPr>
          <p:cNvPr id="291" name="SDG blocks mascot" descr="Cockatiel mascot on a stack of SDG blocks"/>
          <p:cNvPicPr/>
          <p:nvPr/>
        </p:nvPicPr>
        <p:blipFill>
          <a:blip r:embed="rId1"/>
          <a:stretch/>
        </p:blipFill>
        <p:spPr>
          <a:xfrm>
            <a:off x="10662840" y="1541520"/>
            <a:ext cx="1416960" cy="1534680"/>
          </a:xfrm>
          <a:prstGeom prst="rect">
            <a:avLst/>
          </a:prstGeom>
          <a:noFill/>
          <a:ln w="0">
            <a:noFill/>
          </a:ln>
        </p:spPr>
      </p:pic>
      <p:sp>
        <p:nvSpPr>
          <p:cNvPr id="292" name="Who benefits card"/>
          <p:cNvSpPr/>
          <p:nvPr/>
        </p:nvSpPr>
        <p:spPr>
          <a:xfrm>
            <a:off x="609840" y="3611880"/>
            <a:ext cx="3535200" cy="2697120"/>
          </a:xfrm>
          <a:prstGeom prst="roundRect">
            <a:avLst>
              <a:gd name="adj" fmla="val 8814"/>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3" name="Who benefits heading"/>
          <p:cNvSpPr/>
          <p:nvPr/>
        </p:nvSpPr>
        <p:spPr>
          <a:xfrm>
            <a:off x="884160" y="3794760"/>
            <a:ext cx="29865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0" u="none" strike="noStrike">
                <a:solidFill>
                  <a:schemeClr val="dk1"/>
                </a:solidFill>
                <a:effectLst/>
                <a:uFillTx/>
                <a:latin typeface="Cambria"/>
                <a:ea typeface="Cambria"/>
              </a:rPr>
              <a:t>Benefactors</a:t>
            </a:r>
            <a:endParaRPr lang="en-US" sz="2200" b="0" u="none" strike="noStrike">
              <a:solidFill>
                <a:srgbClr val="000000"/>
              </a:solidFill>
              <a:effectLst/>
              <a:uFillTx/>
              <a:latin typeface="Arial"/>
            </a:endParaRPr>
          </a:p>
        </p:txBody>
      </p:sp>
      <p:sp>
        <p:nvSpPr>
          <p:cNvPr id="294" name="Who benefits list"/>
          <p:cNvSpPr/>
          <p:nvPr/>
        </p:nvSpPr>
        <p:spPr>
          <a:xfrm>
            <a:off x="884160" y="4444200"/>
            <a:ext cx="2986560" cy="18284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799"/>
              </a:spcAft>
              <a:buClr>
                <a:srgbClr val="203B2B"/>
              </a:buClr>
              <a:buFont typeface="Symbol" charset="2"/>
              <a:buChar char=""/>
            </a:pPr>
            <a:r>
              <a:rPr lang="en-US" sz="1400" b="0" u="none" strike="noStrike">
                <a:solidFill>
                  <a:schemeClr val="dk1"/>
                </a:solidFill>
                <a:effectLst/>
                <a:uFillTx/>
                <a:latin typeface="Cambria"/>
                <a:ea typeface="Calibri"/>
              </a:rPr>
              <a:t>Fresh graduates</a:t>
            </a:r>
            <a:endParaRPr lang="en-US" sz="1400" b="0" u="none" strike="noStrike">
              <a:solidFill>
                <a:srgbClr val="000000"/>
              </a:solidFill>
              <a:effectLst/>
              <a:uFillTx/>
              <a:latin typeface="Arial"/>
            </a:endParaRPr>
          </a:p>
          <a:p>
            <a:pPr marL="203040" indent="-203040" defTabSz="914400">
              <a:lnSpc>
                <a:spcPct val="100000"/>
              </a:lnSpc>
              <a:spcAft>
                <a:spcPts val="799"/>
              </a:spcAft>
              <a:buClr>
                <a:srgbClr val="203B2B"/>
              </a:buClr>
              <a:buFont typeface="Symbol" charset="2"/>
              <a:buChar char=""/>
            </a:pPr>
            <a:r>
              <a:rPr lang="en-US" sz="1400" b="0" u="none" strike="noStrike">
                <a:solidFill>
                  <a:schemeClr val="dk1"/>
                </a:solidFill>
                <a:effectLst/>
                <a:uFillTx/>
                <a:latin typeface="Cambria"/>
                <a:ea typeface="Calibri"/>
              </a:rPr>
              <a:t>Employed and unemployed workers in the workforce</a:t>
            </a:r>
            <a:endParaRPr lang="en-US" sz="1400" b="0" u="none" strike="noStrike">
              <a:solidFill>
                <a:srgbClr val="000000"/>
              </a:solidFill>
              <a:effectLst/>
              <a:uFillTx/>
              <a:latin typeface="Arial"/>
            </a:endParaRPr>
          </a:p>
          <a:p>
            <a:pPr marL="203040" indent="-203040" defTabSz="914400">
              <a:lnSpc>
                <a:spcPct val="100000"/>
              </a:lnSpc>
              <a:spcAft>
                <a:spcPts val="799"/>
              </a:spcAft>
              <a:buClr>
                <a:srgbClr val="203B2B"/>
              </a:buClr>
              <a:buFont typeface="Symbol" charset="2"/>
              <a:buChar char=""/>
            </a:pPr>
            <a:r>
              <a:rPr lang="en-US" sz="1400" b="0" u="none" strike="noStrike">
                <a:solidFill>
                  <a:schemeClr val="dk1"/>
                </a:solidFill>
                <a:effectLst/>
                <a:uFillTx/>
                <a:latin typeface="Cambria"/>
                <a:ea typeface="Calibri"/>
              </a:rPr>
              <a:t>Companies who get to future-proof their employees and job postings</a:t>
            </a:r>
            <a:endParaRPr lang="en-US" sz="1400" b="0" u="none" strike="noStrike">
              <a:solidFill>
                <a:srgbClr val="000000"/>
              </a:solidFill>
              <a:effectLst/>
              <a:uFillTx/>
              <a:latin typeface="Arial"/>
            </a:endParaRPr>
          </a:p>
        </p:txBody>
      </p:sp>
      <p:sp>
        <p:nvSpPr>
          <p:cNvPr id="295" name="How we measure it card"/>
          <p:cNvSpPr/>
          <p:nvPr/>
        </p:nvSpPr>
        <p:spPr>
          <a:xfrm>
            <a:off x="4328640" y="3611880"/>
            <a:ext cx="3535200" cy="2697120"/>
          </a:xfrm>
          <a:prstGeom prst="roundRect">
            <a:avLst>
              <a:gd name="adj" fmla="val 8814"/>
            </a:avLst>
          </a:prstGeom>
          <a:solidFill>
            <a:schemeClr val="accent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How we measure it heading"/>
          <p:cNvSpPr/>
          <p:nvPr/>
        </p:nvSpPr>
        <p:spPr>
          <a:xfrm>
            <a:off x="4602960" y="3794760"/>
            <a:ext cx="29865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0" u="none" strike="noStrike">
                <a:solidFill>
                  <a:schemeClr val="dk1"/>
                </a:solidFill>
                <a:effectLst/>
                <a:uFillTx/>
                <a:latin typeface="Cambria"/>
                <a:ea typeface="Cambria"/>
              </a:rPr>
              <a:t>Measured metrics</a:t>
            </a:r>
            <a:endParaRPr lang="en-US" sz="2200" b="0" u="none" strike="noStrike">
              <a:solidFill>
                <a:srgbClr val="000000"/>
              </a:solidFill>
              <a:effectLst/>
              <a:uFillTx/>
              <a:latin typeface="Arial"/>
            </a:endParaRPr>
          </a:p>
        </p:txBody>
      </p:sp>
      <p:sp>
        <p:nvSpPr>
          <p:cNvPr id="297" name="How we measure it list"/>
          <p:cNvSpPr/>
          <p:nvPr/>
        </p:nvSpPr>
        <p:spPr>
          <a:xfrm>
            <a:off x="4602960" y="4109760"/>
            <a:ext cx="2986560" cy="18284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799"/>
              </a:spcAft>
              <a:buClr>
                <a:srgbClr val="203B2B"/>
              </a:buClr>
              <a:buFont typeface="Symbol" charset="2"/>
              <a:buChar char=""/>
            </a:pPr>
            <a:r>
              <a:rPr lang="en-US" sz="1400" b="0" u="none" strike="noStrike">
                <a:solidFill>
                  <a:schemeClr val="dk1"/>
                </a:solidFill>
                <a:effectLst/>
                <a:uFillTx/>
                <a:latin typeface="Cambria"/>
                <a:ea typeface="Calibri"/>
              </a:rPr>
              <a:t>Percentage (%) increase in website users</a:t>
            </a:r>
            <a:endParaRPr lang="en-US" sz="1400" b="0" u="none" strike="noStrike">
              <a:solidFill>
                <a:srgbClr val="000000"/>
              </a:solidFill>
              <a:effectLst/>
              <a:uFillTx/>
              <a:latin typeface="Arial"/>
            </a:endParaRPr>
          </a:p>
          <a:p>
            <a:pPr marL="203040" indent="-203040" defTabSz="914400">
              <a:lnSpc>
                <a:spcPct val="100000"/>
              </a:lnSpc>
              <a:spcAft>
                <a:spcPts val="799"/>
              </a:spcAft>
              <a:buClr>
                <a:srgbClr val="203B2B"/>
              </a:buClr>
              <a:buFont typeface="Symbol" charset="2"/>
              <a:buChar char=""/>
            </a:pPr>
            <a:r>
              <a:rPr lang="en-US" sz="1400" b="0" u="none" strike="noStrike">
                <a:solidFill>
                  <a:schemeClr val="dk1"/>
                </a:solidFill>
                <a:effectLst/>
                <a:uFillTx/>
                <a:latin typeface="Cambria"/>
                <a:ea typeface="Calibri"/>
              </a:rPr>
              <a:t>Percentage (%) of users still relying on the provided AI resources.</a:t>
            </a:r>
            <a:endParaRPr lang="en-US" sz="1400" b="0" u="none" strike="noStrike">
              <a:solidFill>
                <a:srgbClr val="000000"/>
              </a:solidFill>
              <a:effectLst/>
              <a:uFillTx/>
              <a:latin typeface="Arial"/>
            </a:endParaRPr>
          </a:p>
          <a:p>
            <a:pPr marL="203040" indent="-203040" defTabSz="914400">
              <a:lnSpc>
                <a:spcPct val="100000"/>
              </a:lnSpc>
              <a:spcAft>
                <a:spcPts val="799"/>
              </a:spcAft>
              <a:buClr>
                <a:srgbClr val="203B2B"/>
              </a:buClr>
              <a:buFont typeface="Symbol" charset="2"/>
              <a:buChar char=""/>
            </a:pPr>
            <a:r>
              <a:rPr lang="en-US" sz="1400" b="0" u="none" strike="noStrike">
                <a:solidFill>
                  <a:schemeClr val="dk1"/>
                </a:solidFill>
                <a:effectLst/>
                <a:uFillTx/>
                <a:latin typeface="Cambria"/>
                <a:ea typeface="Calibri"/>
              </a:rPr>
              <a:t>Percentage (%) of users who have completed the AI courses and passed the AI quizzes.</a:t>
            </a:r>
            <a:endParaRPr lang="en-US" sz="1400" b="0" u="none" strike="noStrike">
              <a:solidFill>
                <a:srgbClr val="000000"/>
              </a:solidFill>
              <a:effectLst/>
              <a:uFillTx/>
              <a:latin typeface="Arial"/>
            </a:endParaRPr>
          </a:p>
          <a:p>
            <a:pPr marL="203040" indent="-203040" defTabSz="914400">
              <a:lnSpc>
                <a:spcPct val="100000"/>
              </a:lnSpc>
              <a:spcAft>
                <a:spcPts val="799"/>
              </a:spcAft>
              <a:buClr>
                <a:srgbClr val="203B2B"/>
              </a:buClr>
              <a:buFont typeface="Symbol" charset="2"/>
              <a:buChar char=""/>
            </a:pPr>
            <a:r>
              <a:rPr lang="en-US" sz="1400" b="0" u="none" strike="noStrike">
                <a:solidFill>
                  <a:schemeClr val="dk1"/>
                </a:solidFill>
                <a:effectLst/>
                <a:uFillTx/>
                <a:latin typeface="Cambria"/>
                <a:ea typeface="Calibri"/>
              </a:rPr>
              <a:t>User testimonials</a:t>
            </a:r>
            <a:endParaRPr lang="en-US" sz="1400" b="0" u="none" strike="noStrike">
              <a:solidFill>
                <a:srgbClr val="000000"/>
              </a:solidFill>
              <a:effectLst/>
              <a:uFillTx/>
              <a:latin typeface="Arial"/>
            </a:endParaRPr>
          </a:p>
        </p:txBody>
      </p:sp>
      <p:sp>
        <p:nvSpPr>
          <p:cNvPr id="298" name="How it grows card"/>
          <p:cNvSpPr/>
          <p:nvPr/>
        </p:nvSpPr>
        <p:spPr>
          <a:xfrm>
            <a:off x="8047080" y="3611880"/>
            <a:ext cx="3535200" cy="2697120"/>
          </a:xfrm>
          <a:prstGeom prst="roundRect">
            <a:avLst>
              <a:gd name="adj" fmla="val 8814"/>
            </a:avLst>
          </a:prstGeom>
          <a:solidFill>
            <a:srgbClr val="FFFDF8"/>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9" name="How it grows heading"/>
          <p:cNvSpPr/>
          <p:nvPr/>
        </p:nvSpPr>
        <p:spPr>
          <a:xfrm>
            <a:off x="8321400" y="3794760"/>
            <a:ext cx="29865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0" u="none" strike="noStrike">
                <a:solidFill>
                  <a:schemeClr val="dk1"/>
                </a:solidFill>
                <a:effectLst/>
                <a:uFillTx/>
                <a:latin typeface="Cambria"/>
                <a:ea typeface="Cambria"/>
              </a:rPr>
              <a:t>Desired growth</a:t>
            </a:r>
            <a:endParaRPr lang="en-US" sz="2200" b="0" u="none" strike="noStrike">
              <a:solidFill>
                <a:srgbClr val="000000"/>
              </a:solidFill>
              <a:effectLst/>
              <a:uFillTx/>
              <a:latin typeface="Arial"/>
            </a:endParaRPr>
          </a:p>
        </p:txBody>
      </p:sp>
      <p:sp>
        <p:nvSpPr>
          <p:cNvPr id="300" name="How it grows list"/>
          <p:cNvSpPr/>
          <p:nvPr/>
        </p:nvSpPr>
        <p:spPr>
          <a:xfrm>
            <a:off x="8321400" y="4343400"/>
            <a:ext cx="2986560" cy="18284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799"/>
              </a:spcAft>
              <a:buClr>
                <a:srgbClr val="203B2B"/>
              </a:buClr>
              <a:buFont typeface="Symbol" charset="2"/>
              <a:buChar char=""/>
            </a:pPr>
            <a:r>
              <a:rPr lang="en-US" sz="1400" b="0" u="none" strike="noStrike">
                <a:solidFill>
                  <a:schemeClr val="dk1"/>
                </a:solidFill>
                <a:effectLst/>
                <a:uFillTx/>
                <a:latin typeface="Cambria"/>
                <a:ea typeface="Calibri"/>
              </a:rPr>
              <a:t>Percentage increase of website users over time</a:t>
            </a:r>
            <a:endParaRPr lang="en-US" sz="1400" b="0" u="none" strike="noStrike">
              <a:solidFill>
                <a:srgbClr val="000000"/>
              </a:solidFill>
              <a:effectLst/>
              <a:uFillTx/>
              <a:latin typeface="Arial"/>
            </a:endParaRPr>
          </a:p>
          <a:p>
            <a:pPr marL="203040" indent="-203040" defTabSz="914400">
              <a:lnSpc>
                <a:spcPct val="100000"/>
              </a:lnSpc>
              <a:spcAft>
                <a:spcPts val="799"/>
              </a:spcAft>
              <a:buClr>
                <a:srgbClr val="203B2B"/>
              </a:buClr>
              <a:buFont typeface="Symbol" charset="2"/>
              <a:buChar char=""/>
            </a:pPr>
            <a:r>
              <a:rPr lang="en-US" sz="1400" b="0" u="none" strike="noStrike">
                <a:solidFill>
                  <a:schemeClr val="dk1"/>
                </a:solidFill>
                <a:effectLst/>
                <a:uFillTx/>
                <a:latin typeface="Cambria"/>
                <a:ea typeface="Calibri"/>
              </a:rPr>
              <a:t>Long-term use of AI skills learned through use of the website</a:t>
            </a:r>
            <a:endParaRPr lang="en-US" sz="1400" b="0" u="none" strike="noStrike">
              <a:solidFill>
                <a:srgbClr val="000000"/>
              </a:solidFill>
              <a:effectLst/>
              <a:uFillTx/>
              <a:latin typeface="Arial"/>
            </a:endParaRPr>
          </a:p>
          <a:p>
            <a:pPr marL="203040" indent="-203040" defTabSz="914400">
              <a:lnSpc>
                <a:spcPct val="100000"/>
              </a:lnSpc>
              <a:spcAft>
                <a:spcPts val="799"/>
              </a:spcAft>
              <a:buClr>
                <a:srgbClr val="203B2B"/>
              </a:buClr>
              <a:buFont typeface="Symbol" charset="2"/>
              <a:buChar char=""/>
            </a:pPr>
            <a:r>
              <a:rPr lang="en-US" sz="1400" b="0" u="none" strike="noStrike">
                <a:solidFill>
                  <a:schemeClr val="dk1"/>
                </a:solidFill>
                <a:effectLst/>
                <a:uFillTx/>
                <a:latin typeface="Cambria"/>
                <a:ea typeface="Calibri"/>
              </a:rPr>
              <a:t>Employment of Jobbery users and large-scale deployment of website in public and private sectors</a:t>
            </a:r>
            <a:endParaRPr lang="en-US" sz="1400" b="0" u="none" strike="noStrike">
              <a:solidFill>
                <a:srgbClr val="000000"/>
              </a:solidFill>
              <a:effectLst/>
              <a:uFillTx/>
              <a:latin typeface="Arial"/>
            </a:endParaRPr>
          </a:p>
        </p:txBody>
      </p:sp>
      <p:sp>
        <p:nvSpPr>
          <p:cNvPr id="301" name="SDG 10 tile"/>
          <p:cNvSpPr/>
          <p:nvPr/>
        </p:nvSpPr>
        <p:spPr>
          <a:xfrm>
            <a:off x="8641080" y="1388880"/>
            <a:ext cx="1919880" cy="1828440"/>
          </a:xfrm>
          <a:prstGeom prst="roundRect">
            <a:avLst>
              <a:gd name="adj" fmla="val 11000"/>
            </a:avLst>
          </a:prstGeom>
          <a:solidFill>
            <a:srgbClr val="DD1367"/>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2" name="SDG 10 number"/>
          <p:cNvSpPr/>
          <p:nvPr/>
        </p:nvSpPr>
        <p:spPr>
          <a:xfrm>
            <a:off x="8823960" y="1480320"/>
            <a:ext cx="155412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500" b="1" u="none" strike="noStrike">
                <a:solidFill>
                  <a:srgbClr val="FFFFFF"/>
                </a:solidFill>
                <a:effectLst/>
                <a:uFillTx/>
                <a:latin typeface="Cambria"/>
                <a:ea typeface="Calibri"/>
              </a:rPr>
              <a:t>SDG 10</a:t>
            </a:r>
            <a:endParaRPr lang="en-US" sz="3500" b="0" u="none" strike="noStrike">
              <a:solidFill>
                <a:srgbClr val="000000"/>
              </a:solidFill>
              <a:effectLst/>
              <a:uFillTx/>
              <a:latin typeface="Arial"/>
            </a:endParaRPr>
          </a:p>
        </p:txBody>
      </p:sp>
      <p:sp>
        <p:nvSpPr>
          <p:cNvPr id="303" name="SDG 10 label"/>
          <p:cNvSpPr/>
          <p:nvPr/>
        </p:nvSpPr>
        <p:spPr>
          <a:xfrm>
            <a:off x="8823960" y="2175480"/>
            <a:ext cx="173700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201"/>
              </a:spcAft>
              <a:tabLst>
                <a:tab pos="0" algn="l"/>
              </a:tabLst>
            </a:pPr>
            <a:r>
              <a:rPr lang="en-US" sz="1400" b="1" u="none" strike="noStrike">
                <a:solidFill>
                  <a:srgbClr val="FFFFFF"/>
                </a:solidFill>
                <a:effectLst/>
                <a:uFillTx/>
                <a:latin typeface="Cambria"/>
                <a:ea typeface="Calibri"/>
              </a:rPr>
              <a:t>Reduced inequalities</a:t>
            </a:r>
            <a:endParaRPr lang="en-US" sz="1400" b="0" u="none" strike="noStrike">
              <a:solidFill>
                <a:srgbClr val="000000"/>
              </a:solidFill>
              <a:effectLst/>
              <a:uFillTx/>
              <a:latin typeface="Arial"/>
            </a:endParaRPr>
          </a:p>
          <a:p>
            <a:pPr defTabSz="914400">
              <a:lnSpc>
                <a:spcPct val="100000"/>
              </a:lnSpc>
              <a:spcAft>
                <a:spcPts val="201"/>
              </a:spcAft>
              <a:tabLst>
                <a:tab pos="0" algn="l"/>
              </a:tabLst>
            </a:pPr>
            <a:r>
              <a:rPr lang="en-US" sz="1200" b="0" u="none" strike="noStrike">
                <a:solidFill>
                  <a:srgbClr val="FFFFFF"/>
                </a:solidFill>
                <a:effectLst/>
                <a:uFillTx/>
                <a:latin typeface="Cambria"/>
                <a:ea typeface="Calibri"/>
              </a:rPr>
              <a:t>10.3 Ensure equal opportunities and end discrimination</a:t>
            </a:r>
            <a:endParaRPr lang="en-US" sz="1200" b="0" u="none" strike="noStrike">
              <a:solidFill>
                <a:srgbClr val="000000"/>
              </a:solidFill>
              <a:effectLst/>
              <a:uFillTx/>
              <a:latin typeface="Arial"/>
            </a:endParaRPr>
          </a:p>
        </p:txBody>
      </p:sp>
      <p:sp>
        <p:nvSpPr>
          <p:cNvPr id="304" name="SDG 4 tile"/>
          <p:cNvSpPr/>
          <p:nvPr/>
        </p:nvSpPr>
        <p:spPr>
          <a:xfrm>
            <a:off x="2576160" y="1394640"/>
            <a:ext cx="1919880" cy="1828440"/>
          </a:xfrm>
          <a:prstGeom prst="roundRect">
            <a:avLst>
              <a:gd name="adj" fmla="val 11000"/>
            </a:avLst>
          </a:prstGeom>
          <a:solidFill>
            <a:srgbClr val="FF3A21"/>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5" name="SDG 4 number"/>
          <p:cNvSpPr/>
          <p:nvPr/>
        </p:nvSpPr>
        <p:spPr>
          <a:xfrm>
            <a:off x="2759040" y="1486080"/>
            <a:ext cx="155412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500" b="1" u="none" strike="noStrike">
                <a:solidFill>
                  <a:srgbClr val="FFFFFF"/>
                </a:solidFill>
                <a:effectLst/>
                <a:uFillTx/>
                <a:latin typeface="Cambria"/>
                <a:ea typeface="Calibri"/>
              </a:rPr>
              <a:t>SDG 5</a:t>
            </a:r>
            <a:endParaRPr lang="en-US" sz="3500" b="0" u="none" strike="noStrike">
              <a:solidFill>
                <a:srgbClr val="000000"/>
              </a:solidFill>
              <a:effectLst/>
              <a:uFillTx/>
              <a:latin typeface="Arial"/>
            </a:endParaRPr>
          </a:p>
        </p:txBody>
      </p:sp>
      <p:sp>
        <p:nvSpPr>
          <p:cNvPr id="306" name="SDG 4 label"/>
          <p:cNvSpPr/>
          <p:nvPr/>
        </p:nvSpPr>
        <p:spPr>
          <a:xfrm>
            <a:off x="2759040" y="2171880"/>
            <a:ext cx="169128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201"/>
              </a:spcAft>
            </a:pPr>
            <a:r>
              <a:rPr lang="en-US" sz="1400" b="1" u="none" strike="noStrike">
                <a:solidFill>
                  <a:srgbClr val="FFFFFF"/>
                </a:solidFill>
                <a:effectLst/>
                <a:uFillTx/>
                <a:latin typeface="Cambria"/>
                <a:ea typeface="Calibri"/>
              </a:rPr>
              <a:t>Gender equality</a:t>
            </a:r>
            <a:endParaRPr lang="en-US" sz="1400" b="0" u="none" strike="noStrike">
              <a:solidFill>
                <a:srgbClr val="000000"/>
              </a:solidFill>
              <a:effectLst/>
              <a:uFillTx/>
              <a:latin typeface="Arial"/>
            </a:endParaRPr>
          </a:p>
          <a:p>
            <a:pPr defTabSz="914400">
              <a:lnSpc>
                <a:spcPct val="100000"/>
              </a:lnSpc>
            </a:pPr>
            <a:r>
              <a:rPr lang="en-US" sz="1200" b="0" u="none" strike="noStrike">
                <a:solidFill>
                  <a:srgbClr val="FFFFFF"/>
                </a:solidFill>
                <a:effectLst/>
                <a:uFillTx/>
                <a:latin typeface="Cambria"/>
                <a:ea typeface="Calibri"/>
              </a:rPr>
              <a:t>5.7 Equal rights to economic resources, property ownership, and financial services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title" hasCustomPrompt="1"/>
          </p:nvPr>
        </p:nvSpPr>
        <p:spPr>
          <a:xfrm>
            <a:off x="6095880" y="2071080"/>
            <a:ext cx="4857480" cy="2715840"/>
          </a:xfrm>
          <a:prstGeom prst="rect">
            <a:avLst/>
          </a:prstGeom>
          <a:noFill/>
          <a:ln w="0">
            <a:noFill/>
          </a:ln>
        </p:spPr>
        <p:txBody>
          <a:bodyPr lIns="0" tIns="0" rIns="0" bIns="0" anchor="t">
            <a:noAutofit/>
          </a:bodyPr>
          <a:p>
            <a:pPr indent="0" algn="l" defTabSz="914400">
              <a:lnSpc>
                <a:spcPct val="100000"/>
              </a:lnSpc>
              <a:buNone/>
              <a:tabLst>
                <a:tab pos="0" algn="l"/>
              </a:tabLst>
            </a:pPr>
            <a:r>
              <a:rPr lang="en-US" sz="10000" b="1" u="none" strike="noStrike">
                <a:solidFill>
                  <a:schemeClr val="dk1"/>
                </a:solidFill>
                <a:effectLst/>
                <a:uFillTx/>
                <a:latin typeface="Cambria"/>
                <a:ea typeface="Cambria"/>
              </a:rPr>
              <a:t>Thank </a:t>
            </a:r>
            <a:br>
              <a:rPr sz="10000"/>
            </a:br>
            <a:r>
              <a:rPr lang="en-US" sz="10000" b="1" u="none" strike="noStrike">
                <a:solidFill>
                  <a:schemeClr val="dk1"/>
                </a:solidFill>
                <a:effectLst/>
                <a:uFillTx/>
                <a:latin typeface="Cambria"/>
                <a:ea typeface="Cambria"/>
              </a:rPr>
              <a:t>You</a:t>
            </a:r>
            <a:endParaRPr lang="en-US" sz="10000" b="0" u="none" strike="noStrike">
              <a:solidFill>
                <a:schemeClr val="dk1"/>
              </a:solidFill>
              <a:effectLst/>
              <a:uFillTx/>
              <a:latin typeface="Calibri"/>
            </a:endParaRPr>
          </a:p>
        </p:txBody>
      </p:sp>
      <p:pic>
        <p:nvPicPr>
          <p:cNvPr id="308" name="SDG blocks mascot" descr="Cockatiel mascot on a stack of SDG blocks"/>
          <p:cNvPicPr/>
          <p:nvPr/>
        </p:nvPicPr>
        <p:blipFill>
          <a:blip r:embed="rId1"/>
          <a:stretch/>
        </p:blipFill>
        <p:spPr>
          <a:xfrm>
            <a:off x="1556280" y="1338840"/>
            <a:ext cx="3859560" cy="41799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Jobbery">
  <a:themeElements>
    <a:clrScheme name="Jobbery">
      <a:dk1>
        <a:srgbClr val="203B2B"/>
      </a:dk1>
      <a:lt1>
        <a:srgbClr val="FFF7ED"/>
      </a:lt1>
      <a:dk2>
        <a:srgbClr val="305D40"/>
      </a:dk2>
      <a:lt2>
        <a:srgbClr val="EDF4EC"/>
      </a:lt2>
      <a:accent1>
        <a:srgbClr val="305D40"/>
      </a:accent1>
      <a:accent2>
        <a:srgbClr val="F8C982"/>
      </a:accent2>
      <a:accent3>
        <a:srgbClr val="6FA66A"/>
      </a:accent3>
      <a:accent4>
        <a:srgbClr val="CBE4C6"/>
      </a:accent4>
      <a:accent5>
        <a:srgbClr val="C9741A"/>
      </a:accent5>
      <a:accent6>
        <a:srgbClr val="FFF0D8"/>
      </a:accent6>
      <a:hlink>
        <a:srgbClr val="305D40"/>
      </a:hlink>
      <a:folHlink>
        <a:srgbClr val="547451"/>
      </a:folHlink>
    </a:clrScheme>
    <a:fontScheme name="Jobbery">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Jobbery">
  <a:themeElements>
    <a:clrScheme name="Jobbery">
      <a:dk1>
        <a:srgbClr val="203B2B"/>
      </a:dk1>
      <a:lt1>
        <a:srgbClr val="FFF7ED"/>
      </a:lt1>
      <a:dk2>
        <a:srgbClr val="305D40"/>
      </a:dk2>
      <a:lt2>
        <a:srgbClr val="EDF4EC"/>
      </a:lt2>
      <a:accent1>
        <a:srgbClr val="305D40"/>
      </a:accent1>
      <a:accent2>
        <a:srgbClr val="F8C982"/>
      </a:accent2>
      <a:accent3>
        <a:srgbClr val="6FA66A"/>
      </a:accent3>
      <a:accent4>
        <a:srgbClr val="CBE4C6"/>
      </a:accent4>
      <a:accent5>
        <a:srgbClr val="C9741A"/>
      </a:accent5>
      <a:accent6>
        <a:srgbClr val="FFF0D8"/>
      </a:accent6>
      <a:hlink>
        <a:srgbClr val="305D40"/>
      </a:hlink>
      <a:folHlink>
        <a:srgbClr val="547451"/>
      </a:folHlink>
    </a:clrScheme>
    <a:fontScheme name="Jobbery">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1357</TotalTime>
  <Application>LibreOffice/26.2.5.2$Linux_X86_64 LibreOffice_project/cd7284b4cbbfeb507e630c1aac019f4157393acb</Application>
  <AppVersion>15.0000</AppVersion>
  <Words>2602</Words>
  <Paragraphs>260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2026-10-23T09:22:15Z</dcterms:created>
  <dc:creator>Team #slaynergy</dc:creator>
  <dc:description/>
  <dc:language>en-US</dc:language>
  <cp:lastModifiedBy/>
  <dcterms:modified xsi:type="dcterms:W3CDTF">2026-10-24T22:05:10Z</dcterms:modified>
  <cp:revision>4</cp:revision>
  <dc:subject>SDC Hackathon 2026, Domain 1: Aiversecity Future-Ready Workforce</dc:subject>
  <dc:title>Jobbery pitch deck</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Widescreen</vt:lpwstr>
  </property>
  <property fmtid="{D5CDD505-2E9C-101B-9397-08002B2CF9AE}" pid="4" name="Slides">
    <vt:i4>22</vt:i4>
  </property>
</Properties>
</file>